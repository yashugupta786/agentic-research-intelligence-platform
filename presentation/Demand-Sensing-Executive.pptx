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b33e87544c428b" /><Relationship Type="http://schemas.openxmlformats.org/officeDocument/2006/relationships/extended-properties" Target="/docProps/app.xml" Id="Rf2eb5512548443f0" /><Relationship Type="http://schemas.openxmlformats.org/officeDocument/2006/relationships/officeDocument" Target="/ppt/presentation.xml" Id="R8558db49eee54952" /></Relationships>
</file>

<file path=ppt/presentation.xml><?xml version="1.0" encoding="utf-8"?>
<p:presentation xmlns:p="http://schemas.openxmlformats.org/presentationml/2006/main">
  <p:sldMasterIdLst>
    <p:sldMasterId xmlns:r="http://schemas.openxmlformats.org/officeDocument/2006/relationships" id="2147483648" r:id="R15849dfa38814017"/>
  </p:sldMasterIdLst>
  <p:notesMasterIdLst>
    <p:notesMasterId xmlns:r="http://schemas.openxmlformats.org/officeDocument/2006/relationships" r:id="Ra1f75ffc3c144b6c"/>
  </p:notesMasterIdLst>
  <p:sldIdLst>
    <p:sldId xmlns:r="http://schemas.openxmlformats.org/officeDocument/2006/relationships" id="256" r:id="Racc7a128fb1b43a6"/>
    <p:sldId xmlns:r="http://schemas.openxmlformats.org/officeDocument/2006/relationships" id="257" r:id="R93a0faf7e13249de"/>
    <p:sldId xmlns:r="http://schemas.openxmlformats.org/officeDocument/2006/relationships" id="258" r:id="Re80eeb77acd14aba"/>
    <p:sldId xmlns:r="http://schemas.openxmlformats.org/officeDocument/2006/relationships" id="259" r:id="Rb8ff7fd7be12474b"/>
    <p:sldId xmlns:r="http://schemas.openxmlformats.org/officeDocument/2006/relationships" id="260" r:id="R3a8572cfbb654634"/>
    <p:sldId xmlns:r="http://schemas.openxmlformats.org/officeDocument/2006/relationships" id="261" r:id="R351bc15837a94b06"/>
    <p:sldId xmlns:r="http://schemas.openxmlformats.org/officeDocument/2006/relationships" id="262" r:id="R48f94f12fec8470c"/>
    <p:sldId xmlns:r="http://schemas.openxmlformats.org/officeDocument/2006/relationships" id="263" r:id="Re1519fdbd8494545"/>
    <p:sldId xmlns:r="http://schemas.openxmlformats.org/officeDocument/2006/relationships" id="264" r:id="Rcbb953620e1d4a47"/>
    <p:sldId xmlns:r="http://schemas.openxmlformats.org/officeDocument/2006/relationships" id="265" r:id="R6f9ad0dbc6df4c5d"/>
    <p:sldId xmlns:r="http://schemas.openxmlformats.org/officeDocument/2006/relationships" id="266" r:id="Rb8f52d626d364904"/>
    <p:sldId xmlns:r="http://schemas.openxmlformats.org/officeDocument/2006/relationships" id="267" r:id="Rf0e8fa70d91948f2"/>
    <p:sldId xmlns:r="http://schemas.openxmlformats.org/officeDocument/2006/relationships" id="268" r:id="R424337d7f55b4f63"/>
    <p:sldId xmlns:r="http://schemas.openxmlformats.org/officeDocument/2006/relationships" id="269" r:id="R51f0184956694109"/>
    <p:sldId xmlns:r="http://schemas.openxmlformats.org/officeDocument/2006/relationships" id="270" r:id="R72a75b8d3c444927"/>
    <p:sldId xmlns:r="http://schemas.openxmlformats.org/officeDocument/2006/relationships" id="271" r:id="Raed17dfbf33d43d5"/>
    <p:sldId xmlns:r="http://schemas.openxmlformats.org/officeDocument/2006/relationships" id="272" r:id="Rcc9050308ea44f88"/>
    <p:sldId xmlns:r="http://schemas.openxmlformats.org/officeDocument/2006/relationships" id="273" r:id="R93f4f81df9fc4bbf"/>
    <p:sldId xmlns:r="http://schemas.openxmlformats.org/officeDocument/2006/relationships" id="274" r:id="R9b51742ad8dd4a63"/>
    <p:sldId xmlns:r="http://schemas.openxmlformats.org/officeDocument/2006/relationships" id="275" r:id="R362356ddd77c45ee"/>
    <p:sldId xmlns:r="http://schemas.openxmlformats.org/officeDocument/2006/relationships" id="276" r:id="R8b43b005500b49e1"/>
    <p:sldId xmlns:r="http://schemas.openxmlformats.org/officeDocument/2006/relationships" id="277" r:id="R2e382eead6284a0c"/>
    <p:sldId xmlns:r="http://schemas.openxmlformats.org/officeDocument/2006/relationships" id="278" r:id="Rc00b742c892d464e"/>
    <p:sldId xmlns:r="http://schemas.openxmlformats.org/officeDocument/2006/relationships" id="279" r:id="R6c7b1c6781eb45ff"/>
    <p:sldId xmlns:r="http://schemas.openxmlformats.org/officeDocument/2006/relationships" id="280" r:id="R4a04ab20a5ea4da5"/>
    <p:sldId xmlns:r="http://schemas.openxmlformats.org/officeDocument/2006/relationships" id="281" r:id="R3f65a6be37f44dd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c7d7e608d24532" /><Relationship Type="http://schemas.openxmlformats.org/officeDocument/2006/relationships/slideMaster" Target="/ppt/slideMasters/slideMaster1.xml" Id="R15849dfa38814017" /><Relationship Type="http://schemas.openxmlformats.org/officeDocument/2006/relationships/notesMaster" Target="/ppt/notesMasters/notesMaster1.xml" Id="Ra1f75ffc3c144b6c" /><Relationship Type="http://schemas.openxmlformats.org/officeDocument/2006/relationships/presProps" Target="/ppt/presProps.xml" Id="R413ccb31feb94a76" /><Relationship Type="http://schemas.openxmlformats.org/officeDocument/2006/relationships/tableStyles" Target="/ppt/tableStyles.xml" Id="Rb3084deb828044a9" /><Relationship Type="http://schemas.openxmlformats.org/officeDocument/2006/relationships/slide" Target="/ppt/slides/slide1.xml" Id="Racc7a128fb1b43a6" /><Relationship Type="http://schemas.openxmlformats.org/officeDocument/2006/relationships/slide" Target="/ppt/slides/slide2.xml" Id="R93a0faf7e13249de" /><Relationship Type="http://schemas.openxmlformats.org/officeDocument/2006/relationships/slide" Target="/ppt/slides/slide3.xml" Id="Re80eeb77acd14aba" /><Relationship Type="http://schemas.openxmlformats.org/officeDocument/2006/relationships/slide" Target="/ppt/slides/slide4.xml" Id="Rb8ff7fd7be12474b" /><Relationship Type="http://schemas.openxmlformats.org/officeDocument/2006/relationships/slide" Target="/ppt/slides/slide5.xml" Id="R3a8572cfbb654634" /><Relationship Type="http://schemas.openxmlformats.org/officeDocument/2006/relationships/slide" Target="/ppt/slides/slide6.xml" Id="R351bc15837a94b06" /><Relationship Type="http://schemas.openxmlformats.org/officeDocument/2006/relationships/slide" Target="/ppt/slides/slide7.xml" Id="R48f94f12fec8470c" /><Relationship Type="http://schemas.openxmlformats.org/officeDocument/2006/relationships/slide" Target="/ppt/slides/slide8.xml" Id="Re1519fdbd8494545" /><Relationship Type="http://schemas.openxmlformats.org/officeDocument/2006/relationships/slide" Target="/ppt/slides/slide9.xml" Id="Rcbb953620e1d4a47" /><Relationship Type="http://schemas.openxmlformats.org/officeDocument/2006/relationships/slide" Target="/ppt/slides/slide10.xml" Id="R6f9ad0dbc6df4c5d" /><Relationship Type="http://schemas.openxmlformats.org/officeDocument/2006/relationships/slide" Target="/ppt/slides/slide11.xml" Id="Rb8f52d626d364904" /><Relationship Type="http://schemas.openxmlformats.org/officeDocument/2006/relationships/slide" Target="/ppt/slides/slide12.xml" Id="Rf0e8fa70d91948f2" /><Relationship Type="http://schemas.openxmlformats.org/officeDocument/2006/relationships/slide" Target="/ppt/slides/slide13.xml" Id="R424337d7f55b4f63" /><Relationship Type="http://schemas.openxmlformats.org/officeDocument/2006/relationships/slide" Target="/ppt/slides/slide14.xml" Id="R51f0184956694109" /><Relationship Type="http://schemas.openxmlformats.org/officeDocument/2006/relationships/slide" Target="/ppt/slides/slide15.xml" Id="R72a75b8d3c444927" /><Relationship Type="http://schemas.openxmlformats.org/officeDocument/2006/relationships/slide" Target="/ppt/slides/slide16.xml" Id="Raed17dfbf33d43d5" /><Relationship Type="http://schemas.openxmlformats.org/officeDocument/2006/relationships/slide" Target="/ppt/slides/slide17.xml" Id="Rcc9050308ea44f88" /><Relationship Type="http://schemas.openxmlformats.org/officeDocument/2006/relationships/slide" Target="/ppt/slides/slide18.xml" Id="R93f4f81df9fc4bbf" /><Relationship Type="http://schemas.openxmlformats.org/officeDocument/2006/relationships/slide" Target="/ppt/slides/slide19.xml" Id="R9b51742ad8dd4a63" /><Relationship Type="http://schemas.openxmlformats.org/officeDocument/2006/relationships/slide" Target="/ppt/slides/slide20.xml" Id="R362356ddd77c45ee" /><Relationship Type="http://schemas.openxmlformats.org/officeDocument/2006/relationships/slide" Target="/ppt/slides/slide21.xml" Id="R8b43b005500b49e1" /><Relationship Type="http://schemas.openxmlformats.org/officeDocument/2006/relationships/slide" Target="/ppt/slides/slide22.xml" Id="R2e382eead6284a0c" /><Relationship Type="http://schemas.openxmlformats.org/officeDocument/2006/relationships/slide" Target="/ppt/slides/slide23.xml" Id="Rc00b742c892d464e" /><Relationship Type="http://schemas.openxmlformats.org/officeDocument/2006/relationships/slide" Target="/ppt/slides/slide24.xml" Id="R6c7b1c6781eb45ff" /><Relationship Type="http://schemas.openxmlformats.org/officeDocument/2006/relationships/slide" Target="/ppt/slides/slide25.xml" Id="R4a04ab20a5ea4da5" /><Relationship Type="http://schemas.openxmlformats.org/officeDocument/2006/relationships/slide" Target="/ppt/slides/slide26.xml" Id="R3f65a6be37f44d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924474d06c46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106ea56fb14563" /><Relationship Type="http://schemas.openxmlformats.org/officeDocument/2006/relationships/notesMaster" Target="/ppt/notesMasters/notesMaster1.xml" Id="Rd314966ee63044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86ebff2c0b47e8" /><Relationship Type="http://schemas.openxmlformats.org/officeDocument/2006/relationships/notesMaster" Target="/ppt/notesMasters/notesMaster1.xml" Id="R39196289c3444b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e9a47614184e09" /><Relationship Type="http://schemas.openxmlformats.org/officeDocument/2006/relationships/notesMaster" Target="/ppt/notesMasters/notesMaster1.xml" Id="R00b72ce4a9b443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e79499187e4406" /><Relationship Type="http://schemas.openxmlformats.org/officeDocument/2006/relationships/notesMaster" Target="/ppt/notesMasters/notesMaster1.xml" Id="R7ab248fd405b49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55e2b830364749" /><Relationship Type="http://schemas.openxmlformats.org/officeDocument/2006/relationships/notesMaster" Target="/ppt/notesMasters/notesMaster1.xml" Id="R046101902f3049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dbddce1ee841cb" /><Relationship Type="http://schemas.openxmlformats.org/officeDocument/2006/relationships/notesMaster" Target="/ppt/notesMasters/notesMaster1.xml" Id="R76b5bf0f4a4949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8380f5b84742c4" /><Relationship Type="http://schemas.openxmlformats.org/officeDocument/2006/relationships/notesMaster" Target="/ppt/notesMasters/notesMaster1.xml" Id="Rd5f32aeb040b4a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2bf517269b4ee6" /><Relationship Type="http://schemas.openxmlformats.org/officeDocument/2006/relationships/notesMaster" Target="/ppt/notesMasters/notesMaster1.xml" Id="Rd56ba9d405aa49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872468538a4aed" /><Relationship Type="http://schemas.openxmlformats.org/officeDocument/2006/relationships/notesMaster" Target="/ppt/notesMasters/notesMaster1.xml" Id="Rff47e4839db449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4cea3d5c544a0b" /><Relationship Type="http://schemas.openxmlformats.org/officeDocument/2006/relationships/notesMaster" Target="/ppt/notesMasters/notesMaster1.xml" Id="R94b9fbe62731440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a495d27bc7a4079" /><Relationship Type="http://schemas.openxmlformats.org/officeDocument/2006/relationships/notesMaster" Target="/ppt/notesMasters/notesMaster1.xml" Id="R3707a37e87c24c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c52a3c7ce14fe8" /><Relationship Type="http://schemas.openxmlformats.org/officeDocument/2006/relationships/notesMaster" Target="/ppt/notesMasters/notesMaster1.xml" Id="R8bcc4142213446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9eb4ac1c6d4e75" /><Relationship Type="http://schemas.openxmlformats.org/officeDocument/2006/relationships/notesMaster" Target="/ppt/notesMasters/notesMaster1.xml" Id="Rce5e379dfefa49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ac6a78d7204336" /><Relationship Type="http://schemas.openxmlformats.org/officeDocument/2006/relationships/notesMaster" Target="/ppt/notesMasters/notesMaster1.xml" Id="R7a49fe71300a4e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9c888c98bd4bd6" /><Relationship Type="http://schemas.openxmlformats.org/officeDocument/2006/relationships/notesMaster" Target="/ppt/notesMasters/notesMaster1.xml" Id="Rb2e4d723d97f435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387aa4b143438d" /><Relationship Type="http://schemas.openxmlformats.org/officeDocument/2006/relationships/notesMaster" Target="/ppt/notesMasters/notesMaster1.xml" Id="R21ec1742a7884f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7a4a03146fd456b" /><Relationship Type="http://schemas.openxmlformats.org/officeDocument/2006/relationships/notesMaster" Target="/ppt/notesMasters/notesMaster1.xml" Id="R26427236fb604c3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0db56b873b24e78" /><Relationship Type="http://schemas.openxmlformats.org/officeDocument/2006/relationships/notesMaster" Target="/ppt/notesMasters/notesMaster1.xml" Id="R699fbda00029428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8847f9107f24213" /><Relationship Type="http://schemas.openxmlformats.org/officeDocument/2006/relationships/notesMaster" Target="/ppt/notesMasters/notesMaster1.xml" Id="R3d63be903bb1406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83d0ace1a8e4f59" /><Relationship Type="http://schemas.openxmlformats.org/officeDocument/2006/relationships/notesMaster" Target="/ppt/notesMasters/notesMaster1.xml" Id="Rc447a034966f483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dd0bd27f66b4adb" /><Relationship Type="http://schemas.openxmlformats.org/officeDocument/2006/relationships/notesMaster" Target="/ppt/notesMasters/notesMaster1.xml" Id="Reac572a0c8394dc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25c433d01654ce4" /><Relationship Type="http://schemas.openxmlformats.org/officeDocument/2006/relationships/notesMaster" Target="/ppt/notesMasters/notesMaster1.xml" Id="Rc8fdb196935041b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8adc8c814084246" /><Relationship Type="http://schemas.openxmlformats.org/officeDocument/2006/relationships/notesMaster" Target="/ppt/notesMasters/notesMaster1.xml" Id="R561087d88ee04d9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bbce295859a4c71" /><Relationship Type="http://schemas.openxmlformats.org/officeDocument/2006/relationships/notesMaster" Target="/ppt/notesMasters/notesMaster1.xml" Id="Re2fd46bf43da4ab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973468ef71b4c62" /><Relationship Type="http://schemas.openxmlformats.org/officeDocument/2006/relationships/notesMaster" Target="/ppt/notesMasters/notesMaster1.xml" Id="Rc3bddf8717794d3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5ce834d82b54f04" /><Relationship Type="http://schemas.openxmlformats.org/officeDocument/2006/relationships/notesMaster" Target="/ppt/notesMasters/notesMaster1.xml" Id="R6cf29db236694b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by Yashu Gupta. Introduce the business question: which research should a team commission, refresh or maintain? The prototype integrates public signals with a simulated internal library. The case-study brief explicitly permits a simulated library and flexible technology choices. Implementation sources: backend/app/agents/graph.py.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leaders face two distinct jobs. Market scan compares external attention with internal coverage. Library QA answers a specific question using internal passages and citations. The output supports an analyst's decision. Business impact and time saved have not yet been measured. Implementation sources: backend/app/agents/nodes.py, backend/app/services/rag.py.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Case_Study_Lead DS.docx, frontend/src/pages/Console.tsx, frontend/src/pages/GraphExplorer.tsx.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sends question, selected intent and refresh flag to FastAPI. The live UI uses GET /api/ask/stream and server-sent events. POST /api/ask serves blocking clients. HTTP validation checks question length. A worker executes LangGraph. Shared state carries inputs and node updates. Tools perform search, model calls, vector retrieval and graph construction. SQLite retains source data, scores and complete run snapshots. These are local services, not a production distributed architecture. Implementation sources: backend/app/api/agent.py, backend/app/api/schemas.py, backend/app/agents/graph.py, backend/app/services/run_history.py.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ordered LangGraph workflow. The nodes have distinct responsibilities, but they are not nine independent autonomous models. The Planner uses code when the UI forces Market scan and an LLM in Auto mode. Scout calls search without an LLM. Topic Analyst and Librarian use models. Attention and gap scoring use Python. Graph construction uses NetworkX and embedding-based adjacency. Synthesis and critic use separate model calls. Implementation sources: backend/app/agents/graph.py, backend/app/agents/nodes.py.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Ingestion stores documents and chunks in SQLite. Chunking uses about 130 words with 25-word overlap and includes the title. Embeddings use the configured model, with 768 dimensions by default. FAISS stores normalized vectors and maps positions to document and chunk IDs. Setup does not run the nine market-scan agents and does not train Gemini. Inference embeds the question or topic and reuses the index. Archive content can be stored but is excluded from coverage and library QA. Implementation sources: backend/app/services/ingestion.py, backend/app/services/vectorstore.py, backend/app/config.py.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Forced Market scan normalizes a recognizable market subject without changing state.question. It creates the subject, emerging trends, and regulation governance queries. Auto mode uses the planning model instead. Scout requests eight results per query by default, with a 45-day search parameter in the scan path, then deduplicates URLs. Search-provider dates can be incomplete or outside the requested window. Run 9 used cached Tavily results: 8+8+8 raw hits, 23 unique URLs and 20 outlets. Topic extraction uses titles, snippets and metadata, not full fetched article HTML. Implementation sources: backend/app/agents/nodes.py, backend/app/services/external_signals.py, SQLite run 9.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input: 12 articles each produce 2 topic phrases, yielding 24 mentions. Extraction runs in batches of 6, producing 1–3 themes plus entities and a driver per article. Lexical normalization can reduce 24 mentions to 16 distinct strings. These counts are illustrative, not promises. The code maintains surface_counter, surface_articles and surface_original. Normalized embeddings join greedy centroid clusters at threshold 0.93. A second LLM returns canonical labels, descriptions, categories and member_groups. It can merge input groups. Mapping member groups back to phrases then article indexes yields topic evidence, entities, drivers and distinct URL counts. Articles still remain in shared state. Implementation sources: backend/app/services/topics.py.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example used throughout scoring: 5 distinct articles, 4 distinct domains, newest article age 4 days. Breadth=min(1,0.7*4/6+0.3*5/12)=0.591667. Recency=exp(-4/30)=0.875173. Attention=0.7*breadth+0.3*recency=0.676719, about 0.68. The 30 days is the exponential decay time constant, not the half-life. Half-life is approximately 20.8 days. Unknown dates get no recency credit. Source count is distinct domains and mention count is distinct article URLs per canonical topic. Implementation sources: backend/app/services/topics.py: score_momentum.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every canonical topic the query is topic label plus description. FAISS returns up to 50 passage candidates with default top_k=5. The code excludes Syndicated Archive, keeps the best passage per document, filters similarity at 0.62 and retains at most 10 documents for judgment. The judge receives topic label and description plus document ID, title, practice area, type, similarity and the first 420 characters of that best passage. It returns covers, partial, tangential or unrelated and a reason per document. The code accepts covers/partial, sorts by verdict weight then similarity, and keeps at most five. It does not pass all 50 chunks to the judge. Implementation sources: backend/app/services/coverage.py.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topic: Clinical AI Governance. RN-9001 is a teaching document with direct coverage but age 500 days. RN-9002 is about diagnostic accuracy and RN-9003 about ambient documentation. Treat those two as tangential to this particular governance question. They contribute zero despite plausible vector similarity. Verdict weights: covers=1, partial=0.5, tangential/unrelated=0. Freshness is 1 until day120, linearly decreases to0 at day450. Usable weight=w*(0.25+0.75*f). RN-9001 usable weight=0.25. Coverage=.6*(.25/5)+.4*.25=.13. staleness_days is the age of the newest accepted document, here500. Implementation sources: backend/app/services/coverage.py.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Using the same teaching values: attention .676719 and coverage .13. Gap=.676719*(1-.13)=.588746, shown .59. Priority is critical above .45. Refresh classification takes precedence when attention&gt;=.50, accepted document count&gt;0, newest accepted document age&gt;300 and coverage&lt;.70. The example meets all four, so refresh existing research rather than commissioning a duplicate. These are prototype rules requiring calibration. Graph Curator runs before Gap Analyst but graph node counts are not inputs to the score. Implementation sources: backend/app/services/coverage.py: classify and score_gap, backend/app/agents/nodes.py.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adds entity mentions from TopicCandidate objects and accepted internal research from coverage. Relationships include topic mentions entity, topic covered_by document, document published_in_area practice area, and topic adjacent_to topic using cosine threshold0.62. The main map omits practice-area nodes for clarity, starts with one topic and limits entities. A covered_by link can be partial or stale and its displayed edge weight is similarity, not coverage probability. It is not a GraphRAG retrieval path in this MVP. The snapshot belongs to the saved run. Implementation sources: backend/app/services/knowledge_graph.py, frontend/src/pages/GraphExplorer.tsx.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Synthesizer receives computed gaps and topic analytics. Code determines recommendations and the model writes a summary. A fallback computed narrative is available if the model is unavailable. Critic compares the narrative with supplied analytics and returns a consistency verdict, confidence and issues. This is not a fact check of source articles or an independently calibrated confidence probability. Library QA skips additional synthesis/critic model calls because Librarian already produced the answer and groundedness review. Implementation sources: backend/app/agents/nodes.py: synthesizer_node and critic_node.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client question is the retrieval query. Default k=6, initial candidate search k*4 with min_score .42. Archive is excluded and at most two chunks per document survive. Model writes from passages with [RN-####] citations. Invalid citation IDs are removed. Independent groundedness assessment estimates supported/total claims and lists unsupported claims. Empty retrieval triggers abstention. Retrieval without supporting content should be stated as insufficient. No Tavily search or attention/gap scoring is necessary. Implementation sources: backend/app/services/rag.py, backend/app/agents/nodes.py, backend/app/config.py.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SQLite run9: question AI in healthcare, saved2026-09-17, latency63965ms, cached Tavily evidence,23articles20outlets,53raw topic mentions,9canonical topics,55graphnodes160edges. Nine agents completed and critique_issues/errors are empty. This is one observed run and not a latency benchmark or quality evaluation. Replay loads result_json fromSQLite and performs no search/model calls. Legacy history can contain only summary/trace and cannot reproduce data never stored. Implementation sources: SQLite runs.id=9, backend/app/services/run_history.py.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operational metrics already captured from validation not yet completed. Latency/calls/tokens are observable per run, though process-wide telemetry slicing is not safe under concurrent requests. Model groundedness and consistency scores are estimates, not validated accuracy. Proposed evaluation: analyst-labelled questions, recall@k and citation precision, relevance verdict agreement, gap recommendation usefulness, analyst time saved, p50/p95 latency and cost under repeated runs. Set acceptance targets after a baseline. No invented KPI values. Implementation sources: backend/app/core/telemetry.py, backend/app/services/rag.py, backend/app/services/coverage.py.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backend/app/agents/graph.py, backend/app/services/vectorstore.py, backend/app/services/knowledge_graph.py, backend/app/data/db.py.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order: validate usefulness before adding architectural complexity. First create labelled evaluation sets and calibrate thresholds. Then strengthen evidence with real temporal baselines, richer article text, hybrid retrieval and reranking. Before broader use add auth, access-aware retrieval, request-scoped telemetry, durable queues, cancellation/resume and monitored provider budgets. Move to shared vector/graph services only when measured scale warrants it. These are future work, not deployed capabilities. Implementation sources: README.md, backend/app/agents/graph.py, backend/app/services/coverage.py.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business result. The MVP ties a question to external evidence, canonical topics, internal coverage, a graph and proposed research actions. Library QA provides cited answers through its own route. Recommend a controlled analyst evaluation before claiming measurable impact. The remaining appendix provides exact contracts and calculation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backend/app/agents/nodes.py, backend/app/services/topics.py.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backend/app/agents/nodes.py, backend/app/services/coverage.py.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small example is illustrative. Article0 extracts AI Governance and Agentic AI. Article1 extracts ai governance. Article2 extracts AI Governance and Clinical Oversight. Normalization yields ai governance three times, agentic ai once and clinical oversight once. surface_counter counts extracted mentions per normalized phrase, surface_articles records article indexes, surface_original retains a display phrase. Final topic mention_count counts unique URLs after mapping, not repeated phrases. Implementation sources: backend/app/services/topics.py: discover_topics.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Normalized embeddings make a dot product equal cosine similarity. For each phrase vector, the greedy algorithm compares it with current cluster centroids. It joins the best cluster when score&gt;=.93 or starts a new cluster. After a join it averages member vectors and renormalizes the centroid. This is order-dependent and is not an all-pairs comparison or guaranteed topic count. Canonicalization receives group IDs, phrases and frequency information and returns member_groups. These group IDs let code map back to phrase indexes and article indexes. The model may merge several input groups into a final topic. Implementation sources: backend/app/services/topics.py: semantic_clusters, canonicalise, discover_topics.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Verdict and reason come from the LLM. Coverage score and age come from Python. Freshness=1 for age&lt;=120,0 for age&gt;=450,otherwise1-(age-120)/330. Usable weight=verdict_weight*(.25+.75*freshness). Coverage=.6*min(1,sum(usable)/5)+.4*max(usable). Age uses calendar-day differences with future dates clamped to0. Missing or malformed dates map to999. No accepted documents returns coverage0,doc_count0,staleness999. This sentinel means unknown/no dated accepted evidence, not an actual age measurement. Proxy verdict is partial only at similarity&gt;=.74,otherwise unrelated. Proxy-only coverage cannot exceed.50 with five fresh partial matches. Implementation sources: backend/app/services/coverage.py.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backend/app/agents/nodes.py, backend/app/services/coverage.py, backend/app/services/run_history.py, backend/app/api/agent.py. Case-study source: Case_Study_Lead DS.docx. Values described as illustrative are teaching assumptions, not recorded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409b6c33144c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7edec2b4c24b40" /><Relationship Type="http://schemas.openxmlformats.org/officeDocument/2006/relationships/slideLayout" Target="/ppt/slideLayouts/slideLayout1.xml" Id="R6cd2fda11e2c46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d2fda11e2c46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8b42f1e3c24e10" /><Relationship Type="http://schemas.openxmlformats.org/officeDocument/2006/relationships/notesSlide" Target="/ppt/notesSlides/notesSlide1.xml" Id="R24fa03cbca714c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23cd8fb95a48b1" /><Relationship Type="http://schemas.openxmlformats.org/officeDocument/2006/relationships/notesSlide" Target="/ppt/notesSlides/notesSlide2.xml" Id="R07208cdd07d946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6e67a541fd437a" /><Relationship Type="http://schemas.openxmlformats.org/officeDocument/2006/relationships/notesSlide" Target="/ppt/notesSlides/notesSlide3.xml" Id="R46a9185fc1304e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a4acd5e78c4e81" /><Relationship Type="http://schemas.openxmlformats.org/officeDocument/2006/relationships/notesSlide" Target="/ppt/notesSlides/notesSlide4.xml" Id="R743ef9c46dd748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24fe0ea19d441e" /><Relationship Type="http://schemas.openxmlformats.org/officeDocument/2006/relationships/notesSlide" Target="/ppt/notesSlides/notesSlide5.xml" Id="R00d50a38ba2c43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50540caeb04f0e" /><Relationship Type="http://schemas.openxmlformats.org/officeDocument/2006/relationships/notesSlide" Target="/ppt/notesSlides/notesSlide6.xml" Id="Rc3f701b8d87d4f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7bb27fe7d64da2" /><Relationship Type="http://schemas.openxmlformats.org/officeDocument/2006/relationships/notesSlide" Target="/ppt/notesSlides/notesSlide7.xml" Id="Rf637a352ac0e44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22d32aa1af54ae5" /><Relationship Type="http://schemas.openxmlformats.org/officeDocument/2006/relationships/notesSlide" Target="/ppt/notesSlides/notesSlide8.xml" Id="R9832a2ea608e49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663ecca4234432" /><Relationship Type="http://schemas.openxmlformats.org/officeDocument/2006/relationships/notesSlide" Target="/ppt/notesSlides/notesSlide9.xml" Id="R45b0bd5e973f4d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f40b0945087458a" /><Relationship Type="http://schemas.openxmlformats.org/officeDocument/2006/relationships/notesSlide" Target="/ppt/notesSlides/notesSlide10.xml" Id="Rf55bba1b009e41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5414fcbb1114e0f" /><Relationship Type="http://schemas.openxmlformats.org/officeDocument/2006/relationships/notesSlide" Target="/ppt/notesSlides/notesSlide11.xml" Id="R077f74f195bd41c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91416f69be247e2" /><Relationship Type="http://schemas.openxmlformats.org/officeDocument/2006/relationships/notesSlide" Target="/ppt/notesSlides/notesSlide12.xml" Id="R2b18bfdf97364cb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9267908e7ac433b" /><Relationship Type="http://schemas.openxmlformats.org/officeDocument/2006/relationships/notesSlide" Target="/ppt/notesSlides/notesSlide13.xml" Id="Rebe9e7634e8e428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1ccabba48d3461c" /><Relationship Type="http://schemas.openxmlformats.org/officeDocument/2006/relationships/notesSlide" Target="/ppt/notesSlides/notesSlide14.xml" Id="Reee895f6ffbf45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ce9fc777c724fd9" /><Relationship Type="http://schemas.openxmlformats.org/officeDocument/2006/relationships/notesSlide" Target="/ppt/notesSlides/notesSlide15.xml" Id="R2b5d9ca99e0549d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a6a2fd669024130" /><Relationship Type="http://schemas.openxmlformats.org/officeDocument/2006/relationships/notesSlide" Target="/ppt/notesSlides/notesSlide16.xml" Id="R029072790045472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faf1985fe044e82" /><Relationship Type="http://schemas.openxmlformats.org/officeDocument/2006/relationships/notesSlide" Target="/ppt/notesSlides/notesSlide17.xml" Id="Rc34e69319449404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f573a6144c7461a" /><Relationship Type="http://schemas.openxmlformats.org/officeDocument/2006/relationships/notesSlide" Target="/ppt/notesSlides/notesSlide18.xml" Id="Rd416f085e86f47b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c6fb12a1ce4415f" /><Relationship Type="http://schemas.openxmlformats.org/officeDocument/2006/relationships/notesSlide" Target="/ppt/notesSlides/notesSlide19.xml" Id="Rd70361c1bd91434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f38dd4cdfff4e08" /><Relationship Type="http://schemas.openxmlformats.org/officeDocument/2006/relationships/notesSlide" Target="/ppt/notesSlides/notesSlide20.xml" Id="R823cd9e9859b457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8e8b57ac8374582" /><Relationship Type="http://schemas.openxmlformats.org/officeDocument/2006/relationships/notesSlide" Target="/ppt/notesSlides/notesSlide21.xml" Id="Re99d2aaf09cd485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312bf56f3b04718" /><Relationship Type="http://schemas.openxmlformats.org/officeDocument/2006/relationships/notesSlide" Target="/ppt/notesSlides/notesSlide22.xml" Id="R380d3d1a59614a0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2edd4ac27d74c7b" /><Relationship Type="http://schemas.openxmlformats.org/officeDocument/2006/relationships/notesSlide" Target="/ppt/notesSlides/notesSlide23.xml" Id="Re8943d12235c451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6130aaf27af41ac" /><Relationship Type="http://schemas.openxmlformats.org/officeDocument/2006/relationships/notesSlide" Target="/ppt/notesSlides/notesSlide24.xml" Id="R442d151c2369433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c1e950a09bb4769" /><Relationship Type="http://schemas.openxmlformats.org/officeDocument/2006/relationships/notesSlide" Target="/ppt/notesSlides/notesSlide25.xml" Id="R7aa9bb638041427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9b59608053b4e18" /><Relationship Type="http://schemas.openxmlformats.org/officeDocument/2006/relationships/notesSlide" Target="/ppt/notesSlides/notesSlide26.xml" Id="Rb6ec2f8b534a4683" /></Relationships>
</file>

<file path=ppt/slides/slide1.xml><?xml version="1.0" encoding="utf-8"?>
<p:sld xmlns:p="http://schemas.openxmlformats.org/presentationml/2006/main">
  <p:cSld>
    <p:bg>
      <p:bgPr>
        <a:solidFill xmlns:a="http://schemas.openxmlformats.org/drawingml/2006/main">
          <a:srgbClr val="0B2238"/>
        </a:solidFill>
      </p:bgPr>
    </p:bg>
    <p:spTree>
      <p:nvGrpSpPr>
        <p:cNvPr id="1" name=""/>
        <p:cNvGrpSpPr/>
        <p:nvPr/>
      </p:nvGrpSpPr>
      <p:grpSpPr>
        <a:xfrm xmlns:a="http://schemas.openxmlformats.org/drawingml/2006/main"/>
      </p:grpSpPr>
      <p:sp>
        <p:nvSpPr>
          <p:cNvPr id="9" name="RESEARCH PLANNING CASE STUDY">
            <a:extLst xmlns:a="http://schemas.openxmlformats.org/drawingml/2006/main">
              <a:ext uri="{FF2B5EF4-FFF2-40B4-BE49-F238E27FC236}">
                <a16:creationId xmlns:a16="http://schemas.microsoft.com/office/drawing/2014/main" id="{D63DF704-E579-4CBF-8446-F1768006538D}"/>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71D5C0"/>
                </a:solidFill>
                <a:latin typeface="Segoe UI"/>
                <a:ea typeface="Segoe UI"/>
                <a:cs typeface="Segoe UI"/>
              </a:defRPr>
            </a:pPr>
            <a:r>
              <a:rPr sz="1200" b="1">
                <a:solidFill>
                  <a:srgbClr val="71D5C0"/>
                </a:solidFill>
                <a:latin typeface="Segoe UI"/>
                <a:ea typeface="Segoe UI"/>
                <a:cs typeface="Segoe UI"/>
              </a:rPr>
              <a:t>RESEARCH PLANNING CASE STUDY</a:t>
            </a:r>
          </a:p>
        </p:txBody>
      </p:sp>
      <p:sp>
        <p:nvSpPr>
          <p:cNvPr id="2" name="Demand Sensing&#10;Intelligence">
            <a:extLst xmlns:a="http://schemas.openxmlformats.org/drawingml/2006/main">
              <a:ext uri="{FF2B5EF4-FFF2-40B4-BE49-F238E27FC236}">
                <a16:creationId xmlns:a16="http://schemas.microsoft.com/office/drawing/2014/main" id="{E6699094-6B8F-4288-8AF5-506D39C6D5C6}"/>
              </a:ext>
            </a:extLst>
          </p:cNvPr>
          <p:cNvSpPr>
            <a:spLocks xmlns:a="http://schemas.openxmlformats.org/drawingml/2006/main" noGrp="1"/>
          </p:cNvSpPr>
          <p:nvPr/>
        </p:nvSpPr>
        <p:spPr>
          <a:xfrm xmlns:a="http://schemas.openxmlformats.org/drawingml/2006/main">
            <a:off x="762000" y="895350"/>
            <a:ext cx="1371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700" b="1">
                <a:solidFill>
                  <a:srgbClr val="FFFFFF"/>
                </a:solidFill>
                <a:latin typeface="Segoe UI"/>
                <a:ea typeface="Segoe UI"/>
                <a:cs typeface="Segoe UI"/>
              </a:defRPr>
            </a:pPr>
            <a:r>
              <a:rPr sz="5700" b="1">
                <a:solidFill>
                  <a:srgbClr val="FFFFFF"/>
                </a:solidFill>
                <a:latin typeface="Segoe UI"/>
                <a:ea typeface="Segoe UI"/>
                <a:cs typeface="Segoe UI"/>
              </a:rPr>
              <a:t>Demand Sensing</a:t>
            </a:r>
          </a:p>
          <a:p xmlns:a="http://schemas.openxmlformats.org/drawingml/2006/main">
            <a:pPr>
              <a:defRPr sz="5700" b="1">
                <a:solidFill>
                  <a:srgbClr val="FFFFFF"/>
                </a:solidFill>
                <a:latin typeface="Segoe UI"/>
                <a:ea typeface="Segoe UI"/>
                <a:cs typeface="Segoe UI"/>
              </a:defRPr>
            </a:pPr>
            <a:r>
              <a:rPr sz="5700" b="1">
                <a:solidFill>
                  <a:srgbClr val="FFFFFF"/>
                </a:solidFill>
                <a:latin typeface="Segoe UI"/>
                <a:ea typeface="Segoe UI"/>
                <a:cs typeface="Segoe UI"/>
              </a:rPr>
              <a:t>Intelligence</a:t>
            </a:r>
          </a:p>
        </p:txBody>
      </p:sp>
      <p:sp>
        <p:nvSpPr>
          <p:cNvPr id="3" name="">
            <a:extLst xmlns:a="http://schemas.openxmlformats.org/drawingml/2006/main">
              <a:ext uri="{FF2B5EF4-FFF2-40B4-BE49-F238E27FC236}">
                <a16:creationId xmlns:a16="http://schemas.microsoft.com/office/drawing/2014/main" id="{DF228086-5C84-422B-927B-CA797426A69C}"/>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365066"/>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A518AB76-4AF4-443C-B060-21556E63B28E}"/>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AFC1D0"/>
                </a:solidFill>
                <a:latin typeface="Segoe UI"/>
                <a:ea typeface="Segoe UI"/>
                <a:cs typeface="Segoe UI"/>
              </a:defRPr>
            </a:pPr>
            <a:r>
              <a:rPr sz="1125" b="0">
                <a:solidFill>
                  <a:srgbClr val="AFC1D0"/>
                </a:solidFill>
                <a:latin typeface="Segoe UI"/>
                <a:ea typeface="Segoe UI"/>
                <a:cs typeface="Segoe UI"/>
              </a:rPr>
              <a:t>Demand Sensing Intelligence</a:t>
            </a:r>
          </a:p>
        </p:txBody>
      </p:sp>
      <p:sp>
        <p:nvSpPr>
          <p:cNvPr id="5" name="01">
            <a:extLst xmlns:a="http://schemas.openxmlformats.org/drawingml/2006/main">
              <a:ext uri="{FF2B5EF4-FFF2-40B4-BE49-F238E27FC236}">
                <a16:creationId xmlns:a16="http://schemas.microsoft.com/office/drawing/2014/main" id="{6FB76E4A-631F-4FE5-9EBB-E4A2EB99B28A}"/>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71D5C0"/>
                </a:solidFill>
                <a:latin typeface="Segoe UI"/>
                <a:ea typeface="Segoe UI"/>
                <a:cs typeface="Segoe UI"/>
              </a:defRPr>
            </a:pPr>
            <a:r>
              <a:rPr sz="1500" b="1">
                <a:solidFill>
                  <a:srgbClr val="71D5C0"/>
                </a:solidFill>
                <a:latin typeface="Segoe UI"/>
                <a:ea typeface="Segoe UI"/>
                <a:cs typeface="Segoe UI"/>
              </a:rPr>
              <a:t>01</a:t>
            </a:r>
          </a:p>
        </p:txBody>
      </p:sp>
      <p:sp>
        <p:nvSpPr>
          <p:cNvPr id="6" name="Research priorities supported by market signals&#10;and int">
            <a:extLst xmlns:a="http://schemas.openxmlformats.org/drawingml/2006/main">
              <a:ext uri="{FF2B5EF4-FFF2-40B4-BE49-F238E27FC236}">
                <a16:creationId xmlns:a16="http://schemas.microsoft.com/office/drawing/2014/main" id="{43298C7C-92CA-4E78-8DF5-55B7DFC2CBFD}"/>
              </a:ext>
            </a:extLst>
          </p:cNvPr>
          <p:cNvSpPr>
            <a:spLocks xmlns:a="http://schemas.openxmlformats.org/drawingml/2006/main" noGrp="1"/>
          </p:cNvSpPr>
          <p:nvPr/>
        </p:nvSpPr>
        <p:spPr>
          <a:xfrm xmlns:a="http://schemas.openxmlformats.org/drawingml/2006/main">
            <a:off x="762000" y="3524250"/>
            <a:ext cx="1209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0">
                <a:solidFill>
                  <a:srgbClr val="BDD0DE"/>
                </a:solidFill>
                <a:latin typeface="Segoe UI"/>
                <a:ea typeface="Segoe UI"/>
                <a:cs typeface="Segoe UI"/>
              </a:defRPr>
            </a:pPr>
            <a:r>
              <a:rPr sz="3000" b="0">
                <a:solidFill>
                  <a:srgbClr val="BDD0DE"/>
                </a:solidFill>
                <a:latin typeface="Segoe UI"/>
                <a:ea typeface="Segoe UI"/>
                <a:cs typeface="Segoe UI"/>
              </a:rPr>
              <a:t>Research priorities supported by market signals</a:t>
            </a:r>
          </a:p>
          <a:p xmlns:a="http://schemas.openxmlformats.org/drawingml/2006/main">
            <a:pPr>
              <a:defRPr sz="3000" b="0">
                <a:solidFill>
                  <a:srgbClr val="BDD0DE"/>
                </a:solidFill>
                <a:latin typeface="Segoe UI"/>
                <a:ea typeface="Segoe UI"/>
                <a:cs typeface="Segoe UI"/>
              </a:defRPr>
            </a:pPr>
            <a:r>
              <a:rPr sz="3000" b="0">
                <a:solidFill>
                  <a:srgbClr val="BDD0DE"/>
                </a:solidFill>
                <a:latin typeface="Segoe UI"/>
                <a:ea typeface="Segoe UI"/>
                <a:cs typeface="Segoe UI"/>
              </a:rPr>
              <a:t>and internal evidence</a:t>
            </a:r>
          </a:p>
        </p:txBody>
      </p:sp>
      <p:sp>
        <p:nvSpPr>
          <p:cNvPr id="7" name="Yashu Gupta">
            <a:extLst xmlns:a="http://schemas.openxmlformats.org/drawingml/2006/main">
              <a:ext uri="{FF2B5EF4-FFF2-40B4-BE49-F238E27FC236}">
                <a16:creationId xmlns:a16="http://schemas.microsoft.com/office/drawing/2014/main" id="{A4588931-74CB-4F0F-9472-D6619B52EC09}"/>
              </a:ext>
            </a:extLst>
          </p:cNvPr>
          <p:cNvSpPr>
            <a:spLocks xmlns:a="http://schemas.openxmlformats.org/drawingml/2006/main" noGrp="1"/>
          </p:cNvSpPr>
          <p:nvPr/>
        </p:nvSpPr>
        <p:spPr>
          <a:xfrm xmlns:a="http://schemas.openxmlformats.org/drawingml/2006/main">
            <a:off x="762000" y="606742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FFFFFF"/>
                </a:solidFill>
                <a:latin typeface="Segoe UI"/>
                <a:ea typeface="Segoe UI"/>
                <a:cs typeface="Segoe UI"/>
              </a:defRPr>
            </a:pPr>
            <a:r>
              <a:rPr sz="2325" b="1">
                <a:solidFill>
                  <a:srgbClr val="FFFFFF"/>
                </a:solidFill>
                <a:latin typeface="Segoe UI"/>
                <a:ea typeface="Segoe UI"/>
                <a:cs typeface="Segoe UI"/>
              </a:rPr>
              <a:t>Yashu Gupta</a:t>
            </a:r>
          </a:p>
        </p:txBody>
      </p:sp>
      <p:sp>
        <p:nvSpPr>
          <p:cNvPr id="8" name="Agentic AI   /   RAG   /   Knowledge graph">
            <a:extLst xmlns:a="http://schemas.openxmlformats.org/drawingml/2006/main">
              <a:ext uri="{FF2B5EF4-FFF2-40B4-BE49-F238E27FC236}">
                <a16:creationId xmlns:a16="http://schemas.microsoft.com/office/drawing/2014/main" id="{22BE3342-B0B9-4E53-9976-BAF1D67E239A}"/>
              </a:ext>
            </a:extLst>
          </p:cNvPr>
          <p:cNvSpPr>
            <a:spLocks xmlns:a="http://schemas.openxmlformats.org/drawingml/2006/main" noGrp="1"/>
          </p:cNvSpPr>
          <p:nvPr/>
        </p:nvSpPr>
        <p:spPr>
          <a:xfrm xmlns:a="http://schemas.openxmlformats.org/drawingml/2006/main">
            <a:off x="762000" y="6724650"/>
            <a:ext cx="1285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71D5C0"/>
                </a:solidFill>
                <a:latin typeface="Segoe UI"/>
                <a:ea typeface="Segoe UI"/>
                <a:cs typeface="Segoe UI"/>
              </a:defRPr>
            </a:pPr>
            <a:r>
              <a:rPr sz="1800" b="0">
                <a:solidFill>
                  <a:srgbClr val="71D5C0"/>
                </a:solidFill>
                <a:latin typeface="Segoe UI"/>
                <a:ea typeface="Segoe UI"/>
                <a:cs typeface="Segoe UI"/>
              </a:rPr>
              <a:t>Agentic AI   /   RAG   /   Knowledge graph</a:t>
            </a:r>
          </a:p>
        </p:txBody>
      </p:sp>
    </p:spTree>
    <p:extLst>
      <p:ext uri="{BB962C8B-B14F-4D97-AF65-F5344CB8AC3E}">
        <p14:creationId xmlns:p14="http://schemas.microsoft.com/office/powerpoint/2010/main" val="18781885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USINESS VALUE">
            <a:extLst xmlns:a="http://schemas.openxmlformats.org/drawingml/2006/main">
              <a:ext uri="{FF2B5EF4-FFF2-40B4-BE49-F238E27FC236}">
                <a16:creationId xmlns:a16="http://schemas.microsoft.com/office/drawing/2014/main" id="{B410A14C-95EA-4140-996E-686BA16E0D0E}"/>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BUSINESS VALUE</a:t>
            </a:r>
          </a:p>
        </p:txBody>
      </p:sp>
      <p:sp>
        <p:nvSpPr>
          <p:cNvPr id="2" name="The decision: where should research invest next?">
            <a:extLst xmlns:a="http://schemas.openxmlformats.org/drawingml/2006/main">
              <a:ext uri="{FF2B5EF4-FFF2-40B4-BE49-F238E27FC236}">
                <a16:creationId xmlns:a16="http://schemas.microsoft.com/office/drawing/2014/main" id="{1D5294F6-F387-4B1B-A4AD-ACBFE60BF7CC}"/>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The decision: where should research invest next?</a:t>
            </a:r>
          </a:p>
        </p:txBody>
      </p:sp>
      <p:sp>
        <p:nvSpPr>
          <p:cNvPr id="3" name="">
            <a:extLst xmlns:a="http://schemas.openxmlformats.org/drawingml/2006/main">
              <a:ext uri="{FF2B5EF4-FFF2-40B4-BE49-F238E27FC236}">
                <a16:creationId xmlns:a16="http://schemas.microsoft.com/office/drawing/2014/main" id="{4D011946-04F1-4F50-9A3B-522D27E84DF7}"/>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FDBB3E84-535E-4AFF-AE9C-E524508ED5D2}"/>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02">
            <a:extLst xmlns:a="http://schemas.openxmlformats.org/drawingml/2006/main">
              <a:ext uri="{FF2B5EF4-FFF2-40B4-BE49-F238E27FC236}">
                <a16:creationId xmlns:a16="http://schemas.microsoft.com/office/drawing/2014/main" id="{75105135-04F3-4460-BBDF-FED433C6C3A5}"/>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02</a:t>
            </a:r>
          </a:p>
        </p:txBody>
      </p:sp>
      <p:sp>
        <p:nvSpPr>
          <p:cNvPr id="6" name="A research team needs to distinguish a new opportunity ">
            <a:extLst xmlns:a="http://schemas.openxmlformats.org/drawingml/2006/main">
              <a:ext uri="{FF2B5EF4-FFF2-40B4-BE49-F238E27FC236}">
                <a16:creationId xmlns:a16="http://schemas.microsoft.com/office/drawing/2014/main" id="{B33A0C71-3CA5-4E67-82D8-ED30D2685A02}"/>
              </a:ext>
            </a:extLst>
          </p:cNvPr>
          <p:cNvSpPr>
            <a:spLocks xmlns:a="http://schemas.openxmlformats.org/drawingml/2006/main" noGrp="1"/>
          </p:cNvSpPr>
          <p:nvPr/>
        </p:nvSpPr>
        <p:spPr>
          <a:xfrm xmlns:a="http://schemas.openxmlformats.org/drawingml/2006/main">
            <a:off x="762000" y="1981200"/>
            <a:ext cx="1333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536C80"/>
                </a:solidFill>
                <a:latin typeface="Segoe UI"/>
                <a:ea typeface="Segoe UI"/>
                <a:cs typeface="Segoe UI"/>
              </a:defRPr>
            </a:pPr>
            <a:r>
              <a:rPr sz="2025" b="0">
                <a:solidFill>
                  <a:srgbClr val="536C80"/>
                </a:solidFill>
                <a:latin typeface="Segoe UI"/>
                <a:ea typeface="Segoe UI"/>
                <a:cs typeface="Segoe UI"/>
              </a:rPr>
              <a:t>A research team needs to distinguish a new opportunity from an existing answer.</a:t>
            </a:r>
          </a:p>
        </p:txBody>
      </p:sp>
      <p:sp>
        <p:nvSpPr>
          <p:cNvPr id="7" name="Research planning">
            <a:extLst xmlns:a="http://schemas.openxmlformats.org/drawingml/2006/main">
              <a:ext uri="{FF2B5EF4-FFF2-40B4-BE49-F238E27FC236}">
                <a16:creationId xmlns:a16="http://schemas.microsoft.com/office/drawing/2014/main" id="{BF405128-51F2-436A-9CF9-202B195EC562}"/>
              </a:ext>
            </a:extLst>
          </p:cNvPr>
          <p:cNvSpPr>
            <a:spLocks xmlns:a="http://schemas.openxmlformats.org/drawingml/2006/main" noGrp="1"/>
          </p:cNvSpPr>
          <p:nvPr/>
        </p:nvSpPr>
        <p:spPr>
          <a:xfrm xmlns:a="http://schemas.openxmlformats.org/drawingml/2006/main">
            <a:off x="762000" y="314325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Research planning</a:t>
            </a:r>
          </a:p>
        </p:txBody>
      </p:sp>
      <p:sp>
        <p:nvSpPr>
          <p:cNvPr id="8" name="Market question&#10;External signals and internal coverage&#10;">
            <a:extLst xmlns:a="http://schemas.openxmlformats.org/drawingml/2006/main">
              <a:ext uri="{FF2B5EF4-FFF2-40B4-BE49-F238E27FC236}">
                <a16:creationId xmlns:a16="http://schemas.microsoft.com/office/drawing/2014/main" id="{811A8278-4F94-48C8-84C1-34E22751AB04}"/>
              </a:ext>
            </a:extLst>
          </p:cNvPr>
          <p:cNvSpPr>
            <a:spLocks xmlns:a="http://schemas.openxmlformats.org/drawingml/2006/main" noGrp="1"/>
          </p:cNvSpPr>
          <p:nvPr/>
        </p:nvSpPr>
        <p:spPr>
          <a:xfrm xmlns:a="http://schemas.openxmlformats.org/drawingml/2006/main">
            <a:off x="762000" y="3752850"/>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Market question</a:t>
            </a:r>
          </a:p>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External signals and internal coverage</a:t>
            </a:r>
          </a:p>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Ranked research actions</a:t>
            </a:r>
          </a:p>
        </p:txBody>
      </p:sp>
      <p:sp>
        <p:nvSpPr>
          <p:cNvPr id="9" name="Client question answering">
            <a:extLst xmlns:a="http://schemas.openxmlformats.org/drawingml/2006/main">
              <a:ext uri="{FF2B5EF4-FFF2-40B4-BE49-F238E27FC236}">
                <a16:creationId xmlns:a16="http://schemas.microsoft.com/office/drawing/2014/main" id="{03913FF4-1453-4ED0-9C9C-43917ADE7D20}"/>
              </a:ext>
            </a:extLst>
          </p:cNvPr>
          <p:cNvSpPr>
            <a:spLocks xmlns:a="http://schemas.openxmlformats.org/drawingml/2006/main" noGrp="1"/>
          </p:cNvSpPr>
          <p:nvPr/>
        </p:nvSpPr>
        <p:spPr>
          <a:xfrm xmlns:a="http://schemas.openxmlformats.org/drawingml/2006/main">
            <a:off x="8096250" y="314325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Client question answering</a:t>
            </a:r>
          </a:p>
        </p:txBody>
      </p:sp>
      <p:sp>
        <p:nvSpPr>
          <p:cNvPr id="10" name="Client question&#10;Relevant internal passages&#10;Cited answer">
            <a:extLst xmlns:a="http://schemas.openxmlformats.org/drawingml/2006/main">
              <a:ext uri="{FF2B5EF4-FFF2-40B4-BE49-F238E27FC236}">
                <a16:creationId xmlns:a16="http://schemas.microsoft.com/office/drawing/2014/main" id="{7A7D1DBE-74BB-432E-B250-9F0F9CE8A23C}"/>
              </a:ext>
            </a:extLst>
          </p:cNvPr>
          <p:cNvSpPr>
            <a:spLocks xmlns:a="http://schemas.openxmlformats.org/drawingml/2006/main" noGrp="1"/>
          </p:cNvSpPr>
          <p:nvPr/>
        </p:nvSpPr>
        <p:spPr>
          <a:xfrm xmlns:a="http://schemas.openxmlformats.org/drawingml/2006/main">
            <a:off x="8096250" y="3752850"/>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Client question</a:t>
            </a:r>
          </a:p>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Relevant internal passages</a:t>
            </a:r>
          </a:p>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Cited answer and support assessment</a:t>
            </a:r>
          </a:p>
        </p:txBody>
      </p:sp>
      <p:sp>
        <p:nvSpPr>
          <p:cNvPr id="11" name="">
            <a:extLst xmlns:a="http://schemas.openxmlformats.org/drawingml/2006/main">
              <a:ext uri="{FF2B5EF4-FFF2-40B4-BE49-F238E27FC236}">
                <a16:creationId xmlns:a16="http://schemas.microsoft.com/office/drawing/2014/main" id="{0E5AA0E6-9C6D-4DCB-B344-34AAD9859286}"/>
              </a:ext>
            </a:extLst>
          </p:cNvPr>
          <p:cNvSpPr>
            <a:spLocks xmlns:a="http://schemas.openxmlformats.org/drawingml/2006/main" noGrp="1"/>
          </p:cNvSpPr>
          <p:nvPr/>
        </p:nvSpPr>
        <p:spPr>
          <a:xfrm xmlns:a="http://schemas.openxmlformats.org/drawingml/2006/main">
            <a:off x="762000" y="58293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12" name="Human decision">
            <a:extLst xmlns:a="http://schemas.openxmlformats.org/drawingml/2006/main">
              <a:ext uri="{FF2B5EF4-FFF2-40B4-BE49-F238E27FC236}">
                <a16:creationId xmlns:a16="http://schemas.microsoft.com/office/drawing/2014/main" id="{084975EF-9994-4AB1-8B4B-6FA2F44C1BCF}"/>
              </a:ext>
            </a:extLst>
          </p:cNvPr>
          <p:cNvSpPr>
            <a:spLocks xmlns:a="http://schemas.openxmlformats.org/drawingml/2006/main" noGrp="1"/>
          </p:cNvSpPr>
          <p:nvPr/>
        </p:nvSpPr>
        <p:spPr>
          <a:xfrm xmlns:a="http://schemas.openxmlformats.org/drawingml/2006/main">
            <a:off x="762000" y="6200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007D82"/>
                </a:solidFill>
                <a:latin typeface="Segoe UI"/>
                <a:ea typeface="Segoe UI"/>
                <a:cs typeface="Segoe UI"/>
              </a:defRPr>
            </a:pPr>
            <a:r>
              <a:rPr sz="2325" b="1">
                <a:solidFill>
                  <a:srgbClr val="007D82"/>
                </a:solidFill>
                <a:latin typeface="Segoe UI"/>
                <a:ea typeface="Segoe UI"/>
                <a:cs typeface="Segoe UI"/>
              </a:rPr>
              <a:t>Human decision</a:t>
            </a:r>
          </a:p>
        </p:txBody>
      </p:sp>
      <p:sp>
        <p:nvSpPr>
          <p:cNvPr id="13" name="Commission research, refresh an existing note, maintain">
            <a:extLst xmlns:a="http://schemas.openxmlformats.org/drawingml/2006/main">
              <a:ext uri="{FF2B5EF4-FFF2-40B4-BE49-F238E27FC236}">
                <a16:creationId xmlns:a16="http://schemas.microsoft.com/office/drawing/2014/main" id="{18BF9767-978F-4CE5-8FFD-1B005E69EBB1}"/>
              </a:ext>
            </a:extLst>
          </p:cNvPr>
          <p:cNvSpPr>
            <a:spLocks xmlns:a="http://schemas.openxmlformats.org/drawingml/2006/main" noGrp="1"/>
          </p:cNvSpPr>
          <p:nvPr/>
        </p:nvSpPr>
        <p:spPr>
          <a:xfrm xmlns:a="http://schemas.openxmlformats.org/drawingml/2006/main">
            <a:off x="4238625" y="61531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102C43"/>
                </a:solidFill>
                <a:latin typeface="Segoe UI"/>
                <a:ea typeface="Segoe UI"/>
                <a:cs typeface="Segoe UI"/>
              </a:defRPr>
            </a:pPr>
            <a:r>
              <a:rPr sz="2325" b="0">
                <a:solidFill>
                  <a:srgbClr val="102C43"/>
                </a:solidFill>
                <a:latin typeface="Segoe UI"/>
                <a:ea typeface="Segoe UI"/>
                <a:cs typeface="Segoe UI"/>
              </a:rPr>
              <a:t>Commission research, refresh an existing note, maintain coverage, or monitor.</a:t>
            </a:r>
          </a:p>
        </p:txBody>
      </p:sp>
    </p:spTree>
    <p:extLst>
      <p:ext uri="{BB962C8B-B14F-4D97-AF65-F5344CB8AC3E}">
        <p14:creationId xmlns:p14="http://schemas.microsoft.com/office/powerpoint/2010/main" val="9075872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ASE-STUDY SCOPE">
            <a:extLst xmlns:a="http://schemas.openxmlformats.org/drawingml/2006/main">
              <a:ext uri="{FF2B5EF4-FFF2-40B4-BE49-F238E27FC236}">
                <a16:creationId xmlns:a16="http://schemas.microsoft.com/office/drawing/2014/main" id="{0B94FD85-6B3E-4135-A7A3-F43C7925AB58}"/>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CASE-STUDY SCOPE</a:t>
            </a:r>
          </a:p>
        </p:txBody>
      </p:sp>
      <p:sp>
        <p:nvSpPr>
          <p:cNvPr id="2" name="Five requirements, with visible evidence">
            <a:extLst xmlns:a="http://schemas.openxmlformats.org/drawingml/2006/main">
              <a:ext uri="{FF2B5EF4-FFF2-40B4-BE49-F238E27FC236}">
                <a16:creationId xmlns:a16="http://schemas.microsoft.com/office/drawing/2014/main" id="{ED52F3C3-85F4-4D96-AA02-8ABF9D768295}"/>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Five requirements, with visible evidence</a:t>
            </a:r>
          </a:p>
        </p:txBody>
      </p:sp>
      <p:sp>
        <p:nvSpPr>
          <p:cNvPr id="3" name="">
            <a:extLst xmlns:a="http://schemas.openxmlformats.org/drawingml/2006/main">
              <a:ext uri="{FF2B5EF4-FFF2-40B4-BE49-F238E27FC236}">
                <a16:creationId xmlns:a16="http://schemas.microsoft.com/office/drawing/2014/main" id="{40F67554-6037-4E54-B469-1E28E7A118C2}"/>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0E713643-CE0B-4DCA-866D-18FB37B199EF}"/>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03">
            <a:extLst xmlns:a="http://schemas.openxmlformats.org/drawingml/2006/main">
              <a:ext uri="{FF2B5EF4-FFF2-40B4-BE49-F238E27FC236}">
                <a16:creationId xmlns:a16="http://schemas.microsoft.com/office/drawing/2014/main" id="{A3A58ADE-31FA-4E9A-A602-4B366EDF1011}"/>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03</a:t>
            </a:r>
          </a:p>
        </p:txBody>
      </p:sp>
      <p:graphicFrame>
        <p:nvGraphicFramePr>
          <p:cNvPr id="13" name=""/>
          <p:cNvGraphicFramePr/>
          <p:nvPr/>
        </p:nvGraphicFramePr>
        <p:xfrm>
          <a:off xmlns:a="http://schemas.openxmlformats.org/drawingml/2006/main" x="762000" y="2333625"/>
          <a:ext xmlns:a="http://schemas.openxmlformats.org/drawingml/2006/main" cx="13716000" cy="4572000"/>
        </p:xfrm>
        <a:graphic xmlns:a="http://schemas.openxmlformats.org/drawingml/2006/main">
          <a:graphicData uri="http://schemas.openxmlformats.org/drawingml/2006/table">
            <a:tbl>
              <a:tblPr/>
              <a:tblGrid>
                <a:gridCol w="2952750"/>
                <a:gridCol w="4905375"/>
                <a:gridCol w="5857875"/>
              </a:tblGrid>
              <a:tr h="762000">
                <a:tc>
                  <a:txBody>
                    <a:bodyPr lIns="152400" tIns="114300" rIns="152400" bIns="95250">
                      <a:noAutofit/>
                    </a:bodyPr>
                    <a:lstStyle/>
                    <a:p>
                      <a:r>
                        <a:rPr sz="1725" b="1">
                          <a:solidFill>
                            <a:srgbClr val="FFFFFF"/>
                          </a:solidFill>
                          <a:latin typeface="Segoe UI"/>
                          <a:ea typeface="Segoe UI"/>
                          <a:cs typeface="Segoe UI"/>
                        </a:rPr>
                        <a:t>Requirement</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Implementation</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Evidence in the product</a:t>
                      </a:r>
                    </a:p>
                  </a:txBody>
                  <a:tcPr marL="91440" marR="91440" marT="45720" marB="45720">
                    <a:solidFill>
                      <a:srgbClr val="0B2238"/>
                    </a:solidFill>
                  </a:tcPr>
                </a:tc>
              </a:tr>
              <a:tr h="762000">
                <a:tc>
                  <a:txBody>
                    <a:bodyPr lIns="152400" tIns="114300" rIns="152400" bIns="95250">
                      <a:noAutofit/>
                    </a:bodyPr>
                    <a:lstStyle/>
                    <a:p>
                      <a:r>
                        <a:rPr sz="1800" b="1">
                          <a:solidFill>
                            <a:srgbClr val="102C43"/>
                          </a:solidFill>
                          <a:latin typeface="Segoe UI"/>
                          <a:ea typeface="Segoe UI"/>
                          <a:cs typeface="Segoe UI"/>
                        </a:rPr>
                        <a:t>A. Emerging topics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News search and topic consolidation</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Canonical themes with article provenance</a:t>
                      </a:r>
                    </a:p>
                  </a:txBody>
                  <a:tcPr marL="91440" marR="91440" marT="45720" marB="45720">
                    <a:solidFill>
                      <a:srgbClr val="F5F8FB"/>
                    </a:solidFill>
                  </a:tcPr>
                </a:tc>
              </a:tr>
              <a:tr h="762000">
                <a:tc>
                  <a:txBody>
                    <a:bodyPr lIns="152400" tIns="114300" rIns="152400" bIns="95250">
                      <a:noAutofit/>
                    </a:bodyPr>
                    <a:lstStyle/>
                    <a:p>
                      <a:r>
                        <a:rPr sz="1800" b="1">
                          <a:solidFill>
                            <a:srgbClr val="102C43"/>
                          </a:solidFill>
                          <a:latin typeface="Segoe UI"/>
                          <a:ea typeface="Segoe UI"/>
                          <a:cs typeface="Segoe UI"/>
                        </a:rPr>
                        <a:t>B. Cited RAG answers</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Internal retrieval and support review</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Answer, document IDs and retained passages</a:t>
                      </a:r>
                    </a:p>
                  </a:txBody>
                  <a:tcPr marL="91440" marR="91440" marT="45720" marB="45720">
                    <a:solidFill>
                      <a:srgbClr val="FFFFFF"/>
                    </a:solidFill>
                  </a:tcPr>
                </a:tc>
              </a:tr>
              <a:tr h="762000">
                <a:tc>
                  <a:txBody>
                    <a:bodyPr lIns="152400" tIns="114300" rIns="152400" bIns="95250">
                      <a:noAutofit/>
                    </a:bodyPr>
                    <a:lstStyle/>
                    <a:p>
                      <a:r>
                        <a:rPr sz="1800" b="1">
                          <a:solidFill>
                            <a:srgbClr val="102C43"/>
                          </a:solidFill>
                          <a:latin typeface="Segoe UI"/>
                          <a:ea typeface="Segoe UI"/>
                          <a:cs typeface="Segoe UI"/>
                        </a:rPr>
                        <a:t>C. Coverage gaps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Attention compared with usable coverage</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Ranked gaps and proposed actions</a:t>
                      </a:r>
                    </a:p>
                  </a:txBody>
                  <a:tcPr marL="91440" marR="91440" marT="45720" marB="45720">
                    <a:solidFill>
                      <a:srgbClr val="F5F8FB"/>
                    </a:solidFill>
                  </a:tcPr>
                </a:tc>
              </a:tr>
              <a:tr h="762000">
                <a:tc>
                  <a:txBody>
                    <a:bodyPr lIns="152400" tIns="114300" rIns="152400" bIns="95250">
                      <a:noAutofit/>
                    </a:bodyPr>
                    <a:lstStyle/>
                    <a:p>
                      <a:r>
                        <a:rPr sz="1800" b="1">
                          <a:solidFill>
                            <a:srgbClr val="102C43"/>
                          </a:solidFill>
                          <a:latin typeface="Segoe UI"/>
                          <a:ea typeface="Segoe UI"/>
                          <a:cs typeface="Segoe UI"/>
                        </a:rPr>
                        <a:t>D. Knowledge graph</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Topics, entities and accepted documents</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Map scoped to the selected scan</a:t>
                      </a:r>
                    </a:p>
                  </a:txBody>
                  <a:tcPr marL="91440" marR="91440" marT="45720" marB="45720">
                    <a:solidFill>
                      <a:srgbClr val="FFFFFF"/>
                    </a:solidFill>
                  </a:tcPr>
                </a:tc>
              </a:tr>
              <a:tr h="762000">
                <a:tc>
                  <a:txBody>
                    <a:bodyPr lIns="152400" tIns="114300" rIns="152400" bIns="95250">
                      <a:noAutofit/>
                    </a:bodyPr>
                    <a:lstStyle/>
                    <a:p>
                      <a:r>
                        <a:rPr sz="1800" b="1">
                          <a:solidFill>
                            <a:srgbClr val="102C43"/>
                          </a:solidFill>
                          <a:latin typeface="Segoe UI"/>
                          <a:ea typeface="Segoe UI"/>
                          <a:cs typeface="Segoe UI"/>
                        </a:rPr>
                        <a:t>E. Agentic orchestration</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Conditional LangGraph workflow</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Agent trace and recorded outputs</a:t>
                      </a:r>
                    </a:p>
                  </a:txBody>
                  <a:tcPr marL="91440" marR="91440" marT="45720" marB="45720">
                    <a:solidFill>
                      <a:srgbClr val="F5F8FB"/>
                    </a:solidFill>
                  </a:tcPr>
                </a:tc>
              </a:tr>
            </a:tbl>
          </a:graphicData>
        </a:graphic>
      </p:graphicFrame>
      <p:sp>
        <p:nvSpPr>
          <p:cNvPr id="7" name="MVP scope: sampled news attention and a simulated inter">
            <a:extLst xmlns:a="http://schemas.openxmlformats.org/drawingml/2006/main">
              <a:ext uri="{FF2B5EF4-FFF2-40B4-BE49-F238E27FC236}">
                <a16:creationId xmlns:a16="http://schemas.microsoft.com/office/drawing/2014/main" id="{AA992435-B335-4C93-BA57-E4B7A8D2E1B7}"/>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MVP scope: sampled news attention and a simulated internal library. Historical surge detection remains future work.</a:t>
            </a:r>
          </a:p>
        </p:txBody>
      </p:sp>
    </p:spTree>
    <p:extLst>
      <p:ext uri="{BB962C8B-B14F-4D97-AF65-F5344CB8AC3E}">
        <p14:creationId xmlns:p14="http://schemas.microsoft.com/office/powerpoint/2010/main" val="3234730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SYSTEM DESIGN">
            <a:extLst xmlns:a="http://schemas.openxmlformats.org/drawingml/2006/main">
              <a:ext uri="{FF2B5EF4-FFF2-40B4-BE49-F238E27FC236}">
                <a16:creationId xmlns:a16="http://schemas.microsoft.com/office/drawing/2014/main" id="{735EA2F7-F121-43E0-A496-E70E06AFB457}"/>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SYSTEM DESIGN</a:t>
            </a:r>
          </a:p>
        </p:txBody>
      </p:sp>
      <p:sp>
        <p:nvSpPr>
          <p:cNvPr id="2" name="Application architecture">
            <a:extLst xmlns:a="http://schemas.openxmlformats.org/drawingml/2006/main">
              <a:ext uri="{FF2B5EF4-FFF2-40B4-BE49-F238E27FC236}">
                <a16:creationId xmlns:a16="http://schemas.microsoft.com/office/drawing/2014/main" id="{67FBD9BF-363E-4AB6-8133-57737504BEC2}"/>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Application architecture</a:t>
            </a:r>
          </a:p>
        </p:txBody>
      </p:sp>
      <p:sp>
        <p:nvSpPr>
          <p:cNvPr id="3" name="">
            <a:extLst xmlns:a="http://schemas.openxmlformats.org/drawingml/2006/main">
              <a:ext uri="{FF2B5EF4-FFF2-40B4-BE49-F238E27FC236}">
                <a16:creationId xmlns:a16="http://schemas.microsoft.com/office/drawing/2014/main" id="{16A40C6F-94D4-455B-BED3-B1694569D4D9}"/>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96845521-4C1D-4E67-887D-4D6D1A46831F}"/>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04">
            <a:extLst xmlns:a="http://schemas.openxmlformats.org/drawingml/2006/main">
              <a:ext uri="{FF2B5EF4-FFF2-40B4-BE49-F238E27FC236}">
                <a16:creationId xmlns:a16="http://schemas.microsoft.com/office/drawing/2014/main" id="{1EB03671-7889-4D37-AFEE-670C4B0141CF}"/>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04</a:t>
            </a:r>
          </a:p>
        </p:txBody>
      </p:sp>
      <p:sp>
        <p:nvSpPr>
          <p:cNvPr id="6" name="">
            <a:extLst xmlns:a="http://schemas.openxmlformats.org/drawingml/2006/main">
              <a:ext uri="{FF2B5EF4-FFF2-40B4-BE49-F238E27FC236}">
                <a16:creationId xmlns:a16="http://schemas.microsoft.com/office/drawing/2014/main" id="{696F0A40-0F5E-48FC-A899-FA50496E2F91}"/>
              </a:ext>
            </a:extLst>
          </p:cNvPr>
          <p:cNvSpPr>
            <a:spLocks xmlns:a="http://schemas.openxmlformats.org/drawingml/2006/main" noGrp="1"/>
          </p:cNvSpPr>
          <p:nvPr/>
        </p:nvSpPr>
        <p:spPr>
          <a:xfrm xmlns:a="http://schemas.openxmlformats.org/drawingml/2006/main">
            <a:off x="762000" y="2381250"/>
            <a:ext cx="3143250" cy="19050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7" name="01">
            <a:extLst xmlns:a="http://schemas.openxmlformats.org/drawingml/2006/main">
              <a:ext uri="{FF2B5EF4-FFF2-40B4-BE49-F238E27FC236}">
                <a16:creationId xmlns:a16="http://schemas.microsoft.com/office/drawing/2014/main" id="{D110225F-1A50-40AF-A988-86315A582FE4}"/>
              </a:ext>
            </a:extLst>
          </p:cNvPr>
          <p:cNvSpPr>
            <a:spLocks xmlns:a="http://schemas.openxmlformats.org/drawingml/2006/main" noGrp="1"/>
          </p:cNvSpPr>
          <p:nvPr/>
        </p:nvSpPr>
        <p:spPr>
          <a:xfrm xmlns:a="http://schemas.openxmlformats.org/drawingml/2006/main">
            <a:off x="952500" y="25717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01</a:t>
            </a:r>
          </a:p>
        </p:txBody>
      </p:sp>
      <p:sp>
        <p:nvSpPr>
          <p:cNvPr id="8" name="React + Vite">
            <a:extLst xmlns:a="http://schemas.openxmlformats.org/drawingml/2006/main">
              <a:ext uri="{FF2B5EF4-FFF2-40B4-BE49-F238E27FC236}">
                <a16:creationId xmlns:a16="http://schemas.microsoft.com/office/drawing/2014/main" id="{9727DF91-CCA2-49AC-B21F-FF9BF646057C}"/>
              </a:ext>
            </a:extLst>
          </p:cNvPr>
          <p:cNvSpPr>
            <a:spLocks xmlns:a="http://schemas.openxmlformats.org/drawingml/2006/main" noGrp="1"/>
          </p:cNvSpPr>
          <p:nvPr/>
        </p:nvSpPr>
        <p:spPr>
          <a:xfrm xmlns:a="http://schemas.openxmlformats.org/drawingml/2006/main">
            <a:off x="952500" y="2952750"/>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React + Vite</a:t>
            </a:r>
          </a:p>
        </p:txBody>
      </p:sp>
      <p:sp>
        <p:nvSpPr>
          <p:cNvPr id="9" name="Question, mode and refresh">
            <a:extLst xmlns:a="http://schemas.openxmlformats.org/drawingml/2006/main">
              <a:ext uri="{FF2B5EF4-FFF2-40B4-BE49-F238E27FC236}">
                <a16:creationId xmlns:a16="http://schemas.microsoft.com/office/drawing/2014/main" id="{2393607A-F624-46D8-BD1D-FBC5756F3F11}"/>
              </a:ext>
            </a:extLst>
          </p:cNvPr>
          <p:cNvSpPr>
            <a:spLocks xmlns:a="http://schemas.openxmlformats.org/drawingml/2006/main" noGrp="1"/>
          </p:cNvSpPr>
          <p:nvPr/>
        </p:nvSpPr>
        <p:spPr>
          <a:xfrm xmlns:a="http://schemas.openxmlformats.org/drawingml/2006/main">
            <a:off x="952500" y="3562350"/>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Question, mode and refresh</a:t>
            </a:r>
          </a:p>
        </p:txBody>
      </p:sp>
      <p:sp>
        <p:nvSpPr>
          <p:cNvPr id="10" name="">
            <a:extLst xmlns:a="http://schemas.openxmlformats.org/drawingml/2006/main">
              <a:ext uri="{FF2B5EF4-FFF2-40B4-BE49-F238E27FC236}">
                <a16:creationId xmlns:a16="http://schemas.microsoft.com/office/drawing/2014/main" id="{45C16227-69F7-4B0F-9139-5219AA65C1F3}"/>
              </a:ext>
            </a:extLst>
          </p:cNvPr>
          <p:cNvSpPr>
            <a:spLocks xmlns:a="http://schemas.openxmlformats.org/drawingml/2006/main" noGrp="1"/>
          </p:cNvSpPr>
          <p:nvPr/>
        </p:nvSpPr>
        <p:spPr>
          <a:xfrm xmlns:a="http://schemas.openxmlformats.org/drawingml/2006/main">
            <a:off x="4286250" y="2381250"/>
            <a:ext cx="3143250" cy="19050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1" name="02">
            <a:extLst xmlns:a="http://schemas.openxmlformats.org/drawingml/2006/main">
              <a:ext uri="{FF2B5EF4-FFF2-40B4-BE49-F238E27FC236}">
                <a16:creationId xmlns:a16="http://schemas.microsoft.com/office/drawing/2014/main" id="{0B91DB2B-D083-4604-939C-A2D183FBA5C5}"/>
              </a:ext>
            </a:extLst>
          </p:cNvPr>
          <p:cNvSpPr>
            <a:spLocks xmlns:a="http://schemas.openxmlformats.org/drawingml/2006/main" noGrp="1"/>
          </p:cNvSpPr>
          <p:nvPr/>
        </p:nvSpPr>
        <p:spPr>
          <a:xfrm xmlns:a="http://schemas.openxmlformats.org/drawingml/2006/main">
            <a:off x="4476750" y="25717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02</a:t>
            </a:r>
          </a:p>
        </p:txBody>
      </p:sp>
      <p:sp>
        <p:nvSpPr>
          <p:cNvPr id="12" name="FastAPI">
            <a:extLst xmlns:a="http://schemas.openxmlformats.org/drawingml/2006/main">
              <a:ext uri="{FF2B5EF4-FFF2-40B4-BE49-F238E27FC236}">
                <a16:creationId xmlns:a16="http://schemas.microsoft.com/office/drawing/2014/main" id="{A32CB997-4B74-4D70-95D9-3CED02B06AB6}"/>
              </a:ext>
            </a:extLst>
          </p:cNvPr>
          <p:cNvSpPr>
            <a:spLocks xmlns:a="http://schemas.openxmlformats.org/drawingml/2006/main" noGrp="1"/>
          </p:cNvSpPr>
          <p:nvPr/>
        </p:nvSpPr>
        <p:spPr>
          <a:xfrm xmlns:a="http://schemas.openxmlformats.org/drawingml/2006/main">
            <a:off x="4476750" y="2952750"/>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FastAPI</a:t>
            </a:r>
          </a:p>
        </p:txBody>
      </p:sp>
      <p:sp>
        <p:nvSpPr>
          <p:cNvPr id="13" name="Validate HTTP request">
            <a:extLst xmlns:a="http://schemas.openxmlformats.org/drawingml/2006/main">
              <a:ext uri="{FF2B5EF4-FFF2-40B4-BE49-F238E27FC236}">
                <a16:creationId xmlns:a16="http://schemas.microsoft.com/office/drawing/2014/main" id="{21C0027B-D444-4182-A5C0-B0F2F0EEF4E6}"/>
              </a:ext>
            </a:extLst>
          </p:cNvPr>
          <p:cNvSpPr>
            <a:spLocks xmlns:a="http://schemas.openxmlformats.org/drawingml/2006/main" noGrp="1"/>
          </p:cNvSpPr>
          <p:nvPr/>
        </p:nvSpPr>
        <p:spPr>
          <a:xfrm xmlns:a="http://schemas.openxmlformats.org/drawingml/2006/main">
            <a:off x="4476750" y="3562350"/>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Validate HTTP request</a:t>
            </a:r>
          </a:p>
        </p:txBody>
      </p:sp>
      <p:cxnSp>
        <p:nvCxnSpPr>
          <p:cNvPr id="56" name=""/>
          <p:cNvCxnSpPr>
            <a:stCxn xmlns:a="http://schemas.openxmlformats.org/drawingml/2006/main" id="6" idx="3"/>
            <a:endCxn xmlns:a="http://schemas.openxmlformats.org/drawingml/2006/main" id="10" idx="1"/>
          </p:cNvCxnSpPr>
          <p:nvPr/>
        </p:nvCxnSpPr>
        <p:spPr>
          <a:xfrm xmlns:a="http://schemas.openxmlformats.org/drawingml/2006/main">
            <a:off x="3905250" y="3333750"/>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5" name="">
            <a:extLst xmlns:a="http://schemas.openxmlformats.org/drawingml/2006/main">
              <a:ext uri="{FF2B5EF4-FFF2-40B4-BE49-F238E27FC236}">
                <a16:creationId xmlns:a16="http://schemas.microsoft.com/office/drawing/2014/main" id="{9A7DE9D3-BD5A-4C3B-A7BA-2EA1C4F6D1A4}"/>
              </a:ext>
            </a:extLst>
          </p:cNvPr>
          <p:cNvSpPr>
            <a:spLocks xmlns:a="http://schemas.openxmlformats.org/drawingml/2006/main" noGrp="1"/>
          </p:cNvSpPr>
          <p:nvPr/>
        </p:nvSpPr>
        <p:spPr>
          <a:xfrm xmlns:a="http://schemas.openxmlformats.org/drawingml/2006/main">
            <a:off x="7810500" y="2381250"/>
            <a:ext cx="3143250" cy="19050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6" name="03">
            <a:extLst xmlns:a="http://schemas.openxmlformats.org/drawingml/2006/main">
              <a:ext uri="{FF2B5EF4-FFF2-40B4-BE49-F238E27FC236}">
                <a16:creationId xmlns:a16="http://schemas.microsoft.com/office/drawing/2014/main" id="{3F97F74E-89E1-4114-8FAB-640096516BB2}"/>
              </a:ext>
            </a:extLst>
          </p:cNvPr>
          <p:cNvSpPr>
            <a:spLocks xmlns:a="http://schemas.openxmlformats.org/drawingml/2006/main" noGrp="1"/>
          </p:cNvSpPr>
          <p:nvPr/>
        </p:nvSpPr>
        <p:spPr>
          <a:xfrm xmlns:a="http://schemas.openxmlformats.org/drawingml/2006/main">
            <a:off x="8001000" y="25717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03</a:t>
            </a:r>
          </a:p>
        </p:txBody>
      </p:sp>
      <p:sp>
        <p:nvSpPr>
          <p:cNvPr id="17" name="LangGraph">
            <a:extLst xmlns:a="http://schemas.openxmlformats.org/drawingml/2006/main">
              <a:ext uri="{FF2B5EF4-FFF2-40B4-BE49-F238E27FC236}">
                <a16:creationId xmlns:a16="http://schemas.microsoft.com/office/drawing/2014/main" id="{AD39DE2E-D596-49E5-8F24-60636C410D01}"/>
              </a:ext>
            </a:extLst>
          </p:cNvPr>
          <p:cNvSpPr>
            <a:spLocks xmlns:a="http://schemas.openxmlformats.org/drawingml/2006/main" noGrp="1"/>
          </p:cNvSpPr>
          <p:nvPr/>
        </p:nvSpPr>
        <p:spPr>
          <a:xfrm xmlns:a="http://schemas.openxmlformats.org/drawingml/2006/main">
            <a:off x="8001000" y="2952750"/>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LangGraph</a:t>
            </a:r>
          </a:p>
        </p:txBody>
      </p:sp>
      <p:sp>
        <p:nvSpPr>
          <p:cNvPr id="18" name="Route and execute agents">
            <a:extLst xmlns:a="http://schemas.openxmlformats.org/drawingml/2006/main">
              <a:ext uri="{FF2B5EF4-FFF2-40B4-BE49-F238E27FC236}">
                <a16:creationId xmlns:a16="http://schemas.microsoft.com/office/drawing/2014/main" id="{58413253-3E26-444A-A961-3612CB65852C}"/>
              </a:ext>
            </a:extLst>
          </p:cNvPr>
          <p:cNvSpPr>
            <a:spLocks xmlns:a="http://schemas.openxmlformats.org/drawingml/2006/main" noGrp="1"/>
          </p:cNvSpPr>
          <p:nvPr/>
        </p:nvSpPr>
        <p:spPr>
          <a:xfrm xmlns:a="http://schemas.openxmlformats.org/drawingml/2006/main">
            <a:off x="8001000" y="3562350"/>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Route and execute agents</a:t>
            </a:r>
          </a:p>
        </p:txBody>
      </p:sp>
      <p:cxnSp>
        <p:nvCxnSpPr>
          <p:cNvPr id="61" name=""/>
          <p:cNvCxnSpPr>
            <a:stCxn xmlns:a="http://schemas.openxmlformats.org/drawingml/2006/main" id="10" idx="3"/>
            <a:endCxn xmlns:a="http://schemas.openxmlformats.org/drawingml/2006/main" id="15" idx="1"/>
          </p:cNvCxnSpPr>
          <p:nvPr/>
        </p:nvCxnSpPr>
        <p:spPr>
          <a:xfrm xmlns:a="http://schemas.openxmlformats.org/drawingml/2006/main">
            <a:off x="7429500" y="3333750"/>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0" name="">
            <a:extLst xmlns:a="http://schemas.openxmlformats.org/drawingml/2006/main">
              <a:ext uri="{FF2B5EF4-FFF2-40B4-BE49-F238E27FC236}">
                <a16:creationId xmlns:a16="http://schemas.microsoft.com/office/drawing/2014/main" id="{61DE1174-49D8-436A-B28E-ECC2D767FD72}"/>
              </a:ext>
            </a:extLst>
          </p:cNvPr>
          <p:cNvSpPr>
            <a:spLocks xmlns:a="http://schemas.openxmlformats.org/drawingml/2006/main" noGrp="1"/>
          </p:cNvSpPr>
          <p:nvPr/>
        </p:nvSpPr>
        <p:spPr>
          <a:xfrm xmlns:a="http://schemas.openxmlformats.org/drawingml/2006/main">
            <a:off x="11334750" y="2381250"/>
            <a:ext cx="3143250" cy="19050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21" name="04">
            <a:extLst xmlns:a="http://schemas.openxmlformats.org/drawingml/2006/main">
              <a:ext uri="{FF2B5EF4-FFF2-40B4-BE49-F238E27FC236}">
                <a16:creationId xmlns:a16="http://schemas.microsoft.com/office/drawing/2014/main" id="{C0A19AE2-49F5-43DB-9F16-45556DC423DE}"/>
              </a:ext>
            </a:extLst>
          </p:cNvPr>
          <p:cNvSpPr>
            <a:spLocks xmlns:a="http://schemas.openxmlformats.org/drawingml/2006/main" noGrp="1"/>
          </p:cNvSpPr>
          <p:nvPr/>
        </p:nvSpPr>
        <p:spPr>
          <a:xfrm xmlns:a="http://schemas.openxmlformats.org/drawingml/2006/main">
            <a:off x="11525250" y="25717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04</a:t>
            </a:r>
          </a:p>
        </p:txBody>
      </p:sp>
      <p:sp>
        <p:nvSpPr>
          <p:cNvPr id="22" name="Research result">
            <a:extLst xmlns:a="http://schemas.openxmlformats.org/drawingml/2006/main">
              <a:ext uri="{FF2B5EF4-FFF2-40B4-BE49-F238E27FC236}">
                <a16:creationId xmlns:a16="http://schemas.microsoft.com/office/drawing/2014/main" id="{07C6E207-BF30-4C13-9D4E-42AD2B84D166}"/>
              </a:ext>
            </a:extLst>
          </p:cNvPr>
          <p:cNvSpPr>
            <a:spLocks xmlns:a="http://schemas.openxmlformats.org/drawingml/2006/main" noGrp="1"/>
          </p:cNvSpPr>
          <p:nvPr/>
        </p:nvSpPr>
        <p:spPr>
          <a:xfrm xmlns:a="http://schemas.openxmlformats.org/drawingml/2006/main">
            <a:off x="11525250" y="2952750"/>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Research result</a:t>
            </a:r>
          </a:p>
        </p:txBody>
      </p:sp>
      <p:sp>
        <p:nvSpPr>
          <p:cNvPr id="23" name="Scores, evidence and actions">
            <a:extLst xmlns:a="http://schemas.openxmlformats.org/drawingml/2006/main">
              <a:ext uri="{FF2B5EF4-FFF2-40B4-BE49-F238E27FC236}">
                <a16:creationId xmlns:a16="http://schemas.microsoft.com/office/drawing/2014/main" id="{687E742C-F5B1-4C21-9E9F-05D01FA75A53}"/>
              </a:ext>
            </a:extLst>
          </p:cNvPr>
          <p:cNvSpPr>
            <a:spLocks xmlns:a="http://schemas.openxmlformats.org/drawingml/2006/main" noGrp="1"/>
          </p:cNvSpPr>
          <p:nvPr/>
        </p:nvSpPr>
        <p:spPr>
          <a:xfrm xmlns:a="http://schemas.openxmlformats.org/drawingml/2006/main">
            <a:off x="11525250" y="3562350"/>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Scores, evidence and actions</a:t>
            </a:r>
          </a:p>
        </p:txBody>
      </p:sp>
      <p:cxnSp>
        <p:nvCxnSpPr>
          <p:cNvPr id="66" name=""/>
          <p:cNvCxnSpPr>
            <a:stCxn xmlns:a="http://schemas.openxmlformats.org/drawingml/2006/main" id="15" idx="3"/>
            <a:endCxn xmlns:a="http://schemas.openxmlformats.org/drawingml/2006/main" id="20" idx="1"/>
          </p:cNvCxnSpPr>
          <p:nvPr/>
        </p:nvCxnSpPr>
        <p:spPr>
          <a:xfrm xmlns:a="http://schemas.openxmlformats.org/drawingml/2006/main">
            <a:off x="10953750" y="3333750"/>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5" name="SSE streams actual agent events back to the browser">
            <a:extLst xmlns:a="http://schemas.openxmlformats.org/drawingml/2006/main">
              <a:ext uri="{FF2B5EF4-FFF2-40B4-BE49-F238E27FC236}">
                <a16:creationId xmlns:a16="http://schemas.microsoft.com/office/drawing/2014/main" id="{2FC6B7B3-075C-4170-945A-CFC73A403311}"/>
              </a:ext>
            </a:extLst>
          </p:cNvPr>
          <p:cNvSpPr>
            <a:spLocks xmlns:a="http://schemas.openxmlformats.org/drawingml/2006/main" noGrp="1"/>
          </p:cNvSpPr>
          <p:nvPr/>
        </p:nvSpPr>
        <p:spPr>
          <a:xfrm xmlns:a="http://schemas.openxmlformats.org/drawingml/2006/main">
            <a:off x="3857625" y="45720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007D82"/>
                </a:solidFill>
                <a:latin typeface="Segoe UI"/>
                <a:ea typeface="Segoe UI"/>
                <a:cs typeface="Segoe UI"/>
              </a:defRPr>
            </a:pPr>
            <a:r>
              <a:rPr sz="1875" b="1">
                <a:solidFill>
                  <a:srgbClr val="007D82"/>
                </a:solidFill>
                <a:latin typeface="Segoe UI"/>
                <a:ea typeface="Segoe UI"/>
                <a:cs typeface="Segoe UI"/>
              </a:rPr>
              <a:t>SSE streams actual agent events back to the browser</a:t>
            </a:r>
          </a:p>
        </p:txBody>
      </p:sp>
      <p:sp>
        <p:nvSpPr>
          <p:cNvPr id="26" name="">
            <a:extLst xmlns:a="http://schemas.openxmlformats.org/drawingml/2006/main">
              <a:ext uri="{FF2B5EF4-FFF2-40B4-BE49-F238E27FC236}">
                <a16:creationId xmlns:a16="http://schemas.microsoft.com/office/drawing/2014/main" id="{274D6D42-26ED-4178-9F3C-72E930A5BC1C}"/>
              </a:ext>
            </a:extLst>
          </p:cNvPr>
          <p:cNvSpPr>
            <a:spLocks xmlns:a="http://schemas.openxmlformats.org/drawingml/2006/main" noGrp="1"/>
          </p:cNvSpPr>
          <p:nvPr/>
        </p:nvSpPr>
        <p:spPr>
          <a:xfrm xmlns:a="http://schemas.openxmlformats.org/drawingml/2006/main">
            <a:off x="762000" y="5334000"/>
            <a:ext cx="3143250" cy="17145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27" name="01">
            <a:extLst xmlns:a="http://schemas.openxmlformats.org/drawingml/2006/main">
              <a:ext uri="{FF2B5EF4-FFF2-40B4-BE49-F238E27FC236}">
                <a16:creationId xmlns:a16="http://schemas.microsoft.com/office/drawing/2014/main" id="{99FADF44-4ABF-4222-B38B-104B74E8E560}"/>
              </a:ext>
            </a:extLst>
          </p:cNvPr>
          <p:cNvSpPr>
            <a:spLocks xmlns:a="http://schemas.openxmlformats.org/drawingml/2006/main" noGrp="1"/>
          </p:cNvSpPr>
          <p:nvPr/>
        </p:nvSpPr>
        <p:spPr>
          <a:xfrm xmlns:a="http://schemas.openxmlformats.org/drawingml/2006/main">
            <a:off x="952500" y="552450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01</a:t>
            </a:r>
          </a:p>
        </p:txBody>
      </p:sp>
      <p:sp>
        <p:nvSpPr>
          <p:cNvPr id="28" name="External search">
            <a:extLst xmlns:a="http://schemas.openxmlformats.org/drawingml/2006/main">
              <a:ext uri="{FF2B5EF4-FFF2-40B4-BE49-F238E27FC236}">
                <a16:creationId xmlns:a16="http://schemas.microsoft.com/office/drawing/2014/main" id="{53A898F0-1FDC-4ADD-BD8A-6449505F8DEE}"/>
              </a:ext>
            </a:extLst>
          </p:cNvPr>
          <p:cNvSpPr>
            <a:spLocks xmlns:a="http://schemas.openxmlformats.org/drawingml/2006/main" noGrp="1"/>
          </p:cNvSpPr>
          <p:nvPr/>
        </p:nvSpPr>
        <p:spPr>
          <a:xfrm xmlns:a="http://schemas.openxmlformats.org/drawingml/2006/main">
            <a:off x="952500" y="5905500"/>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External search</a:t>
            </a:r>
          </a:p>
        </p:txBody>
      </p:sp>
      <p:sp>
        <p:nvSpPr>
          <p:cNvPr id="29" name="Tavily and cached results">
            <a:extLst xmlns:a="http://schemas.openxmlformats.org/drawingml/2006/main">
              <a:ext uri="{FF2B5EF4-FFF2-40B4-BE49-F238E27FC236}">
                <a16:creationId xmlns:a16="http://schemas.microsoft.com/office/drawing/2014/main" id="{3734F246-D8D8-4DD6-906E-9C80D259002B}"/>
              </a:ext>
            </a:extLst>
          </p:cNvPr>
          <p:cNvSpPr>
            <a:spLocks xmlns:a="http://schemas.openxmlformats.org/drawingml/2006/main" noGrp="1"/>
          </p:cNvSpPr>
          <p:nvPr/>
        </p:nvSpPr>
        <p:spPr>
          <a:xfrm xmlns:a="http://schemas.openxmlformats.org/drawingml/2006/main">
            <a:off x="952500" y="65151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Tavily and cached results</a:t>
            </a:r>
          </a:p>
        </p:txBody>
      </p:sp>
      <p:sp>
        <p:nvSpPr>
          <p:cNvPr id="30" name="">
            <a:extLst xmlns:a="http://schemas.openxmlformats.org/drawingml/2006/main">
              <a:ext uri="{FF2B5EF4-FFF2-40B4-BE49-F238E27FC236}">
                <a16:creationId xmlns:a16="http://schemas.microsoft.com/office/drawing/2014/main" id="{502A9810-9AAF-46CC-974C-160C06883DD5}"/>
              </a:ext>
            </a:extLst>
          </p:cNvPr>
          <p:cNvSpPr>
            <a:spLocks xmlns:a="http://schemas.openxmlformats.org/drawingml/2006/main" noGrp="1"/>
          </p:cNvSpPr>
          <p:nvPr/>
        </p:nvSpPr>
        <p:spPr>
          <a:xfrm xmlns:a="http://schemas.openxmlformats.org/drawingml/2006/main">
            <a:off x="4286250" y="5334000"/>
            <a:ext cx="3143250" cy="17145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31" name="02">
            <a:extLst xmlns:a="http://schemas.openxmlformats.org/drawingml/2006/main">
              <a:ext uri="{FF2B5EF4-FFF2-40B4-BE49-F238E27FC236}">
                <a16:creationId xmlns:a16="http://schemas.microsoft.com/office/drawing/2014/main" id="{A55A8EEC-DAC6-4BE4-9DE5-84792C077994}"/>
              </a:ext>
            </a:extLst>
          </p:cNvPr>
          <p:cNvSpPr>
            <a:spLocks xmlns:a="http://schemas.openxmlformats.org/drawingml/2006/main" noGrp="1"/>
          </p:cNvSpPr>
          <p:nvPr/>
        </p:nvSpPr>
        <p:spPr>
          <a:xfrm xmlns:a="http://schemas.openxmlformats.org/drawingml/2006/main">
            <a:off x="4476750" y="552450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02</a:t>
            </a:r>
          </a:p>
        </p:txBody>
      </p:sp>
      <p:sp>
        <p:nvSpPr>
          <p:cNvPr id="32" name="Model services">
            <a:extLst xmlns:a="http://schemas.openxmlformats.org/drawingml/2006/main">
              <a:ext uri="{FF2B5EF4-FFF2-40B4-BE49-F238E27FC236}">
                <a16:creationId xmlns:a16="http://schemas.microsoft.com/office/drawing/2014/main" id="{B9D0C220-1C65-438E-B790-564DEEDEEF7A}"/>
              </a:ext>
            </a:extLst>
          </p:cNvPr>
          <p:cNvSpPr>
            <a:spLocks xmlns:a="http://schemas.openxmlformats.org/drawingml/2006/main" noGrp="1"/>
          </p:cNvSpPr>
          <p:nvPr/>
        </p:nvSpPr>
        <p:spPr>
          <a:xfrm xmlns:a="http://schemas.openxmlformats.org/drawingml/2006/main">
            <a:off x="4476750" y="5905500"/>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Model services</a:t>
            </a:r>
          </a:p>
        </p:txBody>
      </p:sp>
      <p:sp>
        <p:nvSpPr>
          <p:cNvPr id="33" name="Gemini extraction and review">
            <a:extLst xmlns:a="http://schemas.openxmlformats.org/drawingml/2006/main">
              <a:ext uri="{FF2B5EF4-FFF2-40B4-BE49-F238E27FC236}">
                <a16:creationId xmlns:a16="http://schemas.microsoft.com/office/drawing/2014/main" id="{C33B72E8-C898-4D64-84E1-EF38A909122D}"/>
              </a:ext>
            </a:extLst>
          </p:cNvPr>
          <p:cNvSpPr>
            <a:spLocks xmlns:a="http://schemas.openxmlformats.org/drawingml/2006/main" noGrp="1"/>
          </p:cNvSpPr>
          <p:nvPr/>
        </p:nvSpPr>
        <p:spPr>
          <a:xfrm xmlns:a="http://schemas.openxmlformats.org/drawingml/2006/main">
            <a:off x="4476750" y="65151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Gemini extraction and review</a:t>
            </a:r>
          </a:p>
        </p:txBody>
      </p:sp>
      <p:sp>
        <p:nvSpPr>
          <p:cNvPr id="34" name="">
            <a:extLst xmlns:a="http://schemas.openxmlformats.org/drawingml/2006/main">
              <a:ext uri="{FF2B5EF4-FFF2-40B4-BE49-F238E27FC236}">
                <a16:creationId xmlns:a16="http://schemas.microsoft.com/office/drawing/2014/main" id="{2DE77EA1-775B-471B-93C0-B0D33DA6388F}"/>
              </a:ext>
            </a:extLst>
          </p:cNvPr>
          <p:cNvSpPr>
            <a:spLocks xmlns:a="http://schemas.openxmlformats.org/drawingml/2006/main" noGrp="1"/>
          </p:cNvSpPr>
          <p:nvPr/>
        </p:nvSpPr>
        <p:spPr>
          <a:xfrm xmlns:a="http://schemas.openxmlformats.org/drawingml/2006/main">
            <a:off x="7810500" y="5334000"/>
            <a:ext cx="3143250" cy="17145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35" name="03">
            <a:extLst xmlns:a="http://schemas.openxmlformats.org/drawingml/2006/main">
              <a:ext uri="{FF2B5EF4-FFF2-40B4-BE49-F238E27FC236}">
                <a16:creationId xmlns:a16="http://schemas.microsoft.com/office/drawing/2014/main" id="{BBFCC3AE-0C19-4D5F-B5B7-97D2BC6EC7C7}"/>
              </a:ext>
            </a:extLst>
          </p:cNvPr>
          <p:cNvSpPr>
            <a:spLocks xmlns:a="http://schemas.openxmlformats.org/drawingml/2006/main" noGrp="1"/>
          </p:cNvSpPr>
          <p:nvPr/>
        </p:nvSpPr>
        <p:spPr>
          <a:xfrm xmlns:a="http://schemas.openxmlformats.org/drawingml/2006/main">
            <a:off x="8001000" y="552450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03</a:t>
            </a:r>
          </a:p>
        </p:txBody>
      </p:sp>
      <p:sp>
        <p:nvSpPr>
          <p:cNvPr id="36" name="Internal retrieval">
            <a:extLst xmlns:a="http://schemas.openxmlformats.org/drawingml/2006/main">
              <a:ext uri="{FF2B5EF4-FFF2-40B4-BE49-F238E27FC236}">
                <a16:creationId xmlns:a16="http://schemas.microsoft.com/office/drawing/2014/main" id="{6A4A36A3-405C-42D1-910A-9831C862B455}"/>
              </a:ext>
            </a:extLst>
          </p:cNvPr>
          <p:cNvSpPr>
            <a:spLocks xmlns:a="http://schemas.openxmlformats.org/drawingml/2006/main" noGrp="1"/>
          </p:cNvSpPr>
          <p:nvPr/>
        </p:nvSpPr>
        <p:spPr>
          <a:xfrm xmlns:a="http://schemas.openxmlformats.org/drawingml/2006/main">
            <a:off x="8001000" y="5905500"/>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Internal retrieval</a:t>
            </a:r>
          </a:p>
        </p:txBody>
      </p:sp>
      <p:sp>
        <p:nvSpPr>
          <p:cNvPr id="37" name="FAISS vectors and ID map">
            <a:extLst xmlns:a="http://schemas.openxmlformats.org/drawingml/2006/main">
              <a:ext uri="{FF2B5EF4-FFF2-40B4-BE49-F238E27FC236}">
                <a16:creationId xmlns:a16="http://schemas.microsoft.com/office/drawing/2014/main" id="{9516AD31-5842-4648-B1E1-E03DAFB99569}"/>
              </a:ext>
            </a:extLst>
          </p:cNvPr>
          <p:cNvSpPr>
            <a:spLocks xmlns:a="http://schemas.openxmlformats.org/drawingml/2006/main" noGrp="1"/>
          </p:cNvSpPr>
          <p:nvPr/>
        </p:nvSpPr>
        <p:spPr>
          <a:xfrm xmlns:a="http://schemas.openxmlformats.org/drawingml/2006/main">
            <a:off x="8001000" y="65151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FAISS vectors and ID map</a:t>
            </a:r>
          </a:p>
        </p:txBody>
      </p:sp>
      <p:sp>
        <p:nvSpPr>
          <p:cNvPr id="38" name="">
            <a:extLst xmlns:a="http://schemas.openxmlformats.org/drawingml/2006/main">
              <a:ext uri="{FF2B5EF4-FFF2-40B4-BE49-F238E27FC236}">
                <a16:creationId xmlns:a16="http://schemas.microsoft.com/office/drawing/2014/main" id="{DC0A57DC-0F9F-49A7-8C75-D9AED8CFDEAA}"/>
              </a:ext>
            </a:extLst>
          </p:cNvPr>
          <p:cNvSpPr>
            <a:spLocks xmlns:a="http://schemas.openxmlformats.org/drawingml/2006/main" noGrp="1"/>
          </p:cNvSpPr>
          <p:nvPr/>
        </p:nvSpPr>
        <p:spPr>
          <a:xfrm xmlns:a="http://schemas.openxmlformats.org/drawingml/2006/main">
            <a:off x="11334750" y="5334000"/>
            <a:ext cx="3143250" cy="17145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39" name="04">
            <a:extLst xmlns:a="http://schemas.openxmlformats.org/drawingml/2006/main">
              <a:ext uri="{FF2B5EF4-FFF2-40B4-BE49-F238E27FC236}">
                <a16:creationId xmlns:a16="http://schemas.microsoft.com/office/drawing/2014/main" id="{672B062C-69DD-45AB-AF42-F2F7B9A3EBA5}"/>
              </a:ext>
            </a:extLst>
          </p:cNvPr>
          <p:cNvSpPr>
            <a:spLocks xmlns:a="http://schemas.openxmlformats.org/drawingml/2006/main" noGrp="1"/>
          </p:cNvSpPr>
          <p:nvPr/>
        </p:nvSpPr>
        <p:spPr>
          <a:xfrm xmlns:a="http://schemas.openxmlformats.org/drawingml/2006/main">
            <a:off x="11525250" y="552450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04</a:t>
            </a:r>
          </a:p>
        </p:txBody>
      </p:sp>
      <p:sp>
        <p:nvSpPr>
          <p:cNvPr id="40" name="Persistence">
            <a:extLst xmlns:a="http://schemas.openxmlformats.org/drawingml/2006/main">
              <a:ext uri="{FF2B5EF4-FFF2-40B4-BE49-F238E27FC236}">
                <a16:creationId xmlns:a16="http://schemas.microsoft.com/office/drawing/2014/main" id="{6DB9F4DF-979F-46D0-B3E5-3246FA2CC8DE}"/>
              </a:ext>
            </a:extLst>
          </p:cNvPr>
          <p:cNvSpPr>
            <a:spLocks xmlns:a="http://schemas.openxmlformats.org/drawingml/2006/main" noGrp="1"/>
          </p:cNvSpPr>
          <p:nvPr/>
        </p:nvSpPr>
        <p:spPr>
          <a:xfrm xmlns:a="http://schemas.openxmlformats.org/drawingml/2006/main">
            <a:off x="11525250" y="5905500"/>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Persistence</a:t>
            </a:r>
          </a:p>
        </p:txBody>
      </p:sp>
      <p:sp>
        <p:nvSpPr>
          <p:cNvPr id="41" name="SQLite and NetworkX">
            <a:extLst xmlns:a="http://schemas.openxmlformats.org/drawingml/2006/main">
              <a:ext uri="{FF2B5EF4-FFF2-40B4-BE49-F238E27FC236}">
                <a16:creationId xmlns:a16="http://schemas.microsoft.com/office/drawing/2014/main" id="{ADFD878B-EFFF-44F6-A669-CD5DD033B101}"/>
              </a:ext>
            </a:extLst>
          </p:cNvPr>
          <p:cNvSpPr>
            <a:spLocks xmlns:a="http://schemas.openxmlformats.org/drawingml/2006/main" noGrp="1"/>
          </p:cNvSpPr>
          <p:nvPr/>
        </p:nvSpPr>
        <p:spPr>
          <a:xfrm xmlns:a="http://schemas.openxmlformats.org/drawingml/2006/main">
            <a:off x="11525250" y="65151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SQLite and NetworkX</a:t>
            </a:r>
          </a:p>
        </p:txBody>
      </p:sp>
      <p:sp>
        <p:nvSpPr>
          <p:cNvPr id="42" name="Shared state preserves the original question, articles,">
            <a:extLst xmlns:a="http://schemas.openxmlformats.org/drawingml/2006/main">
              <a:ext uri="{FF2B5EF4-FFF2-40B4-BE49-F238E27FC236}">
                <a16:creationId xmlns:a16="http://schemas.microsoft.com/office/drawing/2014/main" id="{DA9CA644-9CF7-4C4E-89FC-0C3ADD2ED629}"/>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Shared state preserves the original question, articles, topics, coverage and trace across the workflow.</a:t>
            </a:r>
          </a:p>
        </p:txBody>
      </p:sp>
    </p:spTree>
    <p:extLst>
      <p:ext uri="{BB962C8B-B14F-4D97-AF65-F5344CB8AC3E}">
        <p14:creationId xmlns:p14="http://schemas.microsoft.com/office/powerpoint/2010/main" val="11432839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MARKET SCAN">
            <a:extLst xmlns:a="http://schemas.openxmlformats.org/drawingml/2006/main">
              <a:ext uri="{FF2B5EF4-FFF2-40B4-BE49-F238E27FC236}">
                <a16:creationId xmlns:a16="http://schemas.microsoft.com/office/drawing/2014/main" id="{9ABF800B-C202-486C-B563-AC44D8FD2B79}"/>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MARKET SCAN</a:t>
            </a:r>
          </a:p>
        </p:txBody>
      </p:sp>
      <p:sp>
        <p:nvSpPr>
          <p:cNvPr id="2" name="Nine specialists share one research state">
            <a:extLst xmlns:a="http://schemas.openxmlformats.org/drawingml/2006/main">
              <a:ext uri="{FF2B5EF4-FFF2-40B4-BE49-F238E27FC236}">
                <a16:creationId xmlns:a16="http://schemas.microsoft.com/office/drawing/2014/main" id="{EB3E3202-3E8B-4B8A-8527-E2EED8B2C25F}"/>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Nine specialists share one research state</a:t>
            </a:r>
          </a:p>
        </p:txBody>
      </p:sp>
      <p:sp>
        <p:nvSpPr>
          <p:cNvPr id="3" name="">
            <a:extLst xmlns:a="http://schemas.openxmlformats.org/drawingml/2006/main">
              <a:ext uri="{FF2B5EF4-FFF2-40B4-BE49-F238E27FC236}">
                <a16:creationId xmlns:a16="http://schemas.microsoft.com/office/drawing/2014/main" id="{9E99AC3C-6014-4E94-A32E-6CE05062BD77}"/>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3A2EBA5B-1476-4986-9D52-9D195B0E1B2B}"/>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05">
            <a:extLst xmlns:a="http://schemas.openxmlformats.org/drawingml/2006/main">
              <a:ext uri="{FF2B5EF4-FFF2-40B4-BE49-F238E27FC236}">
                <a16:creationId xmlns:a16="http://schemas.microsoft.com/office/drawing/2014/main" id="{D3BF49B1-A99E-41F6-8E13-E2E0803C4C96}"/>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05</a:t>
            </a:r>
          </a:p>
        </p:txBody>
      </p:sp>
      <p:sp>
        <p:nvSpPr>
          <p:cNvPr id="6" name="">
            <a:extLst xmlns:a="http://schemas.openxmlformats.org/drawingml/2006/main">
              <a:ext uri="{FF2B5EF4-FFF2-40B4-BE49-F238E27FC236}">
                <a16:creationId xmlns:a16="http://schemas.microsoft.com/office/drawing/2014/main" id="{B914A05D-8DC1-4858-B201-735C1D037DD7}"/>
              </a:ext>
            </a:extLst>
          </p:cNvPr>
          <p:cNvSpPr>
            <a:spLocks xmlns:a="http://schemas.openxmlformats.org/drawingml/2006/main" noGrp="1"/>
          </p:cNvSpPr>
          <p:nvPr/>
        </p:nvSpPr>
        <p:spPr>
          <a:xfrm xmlns:a="http://schemas.openxmlformats.org/drawingml/2006/main">
            <a:off x="762000" y="2286000"/>
            <a:ext cx="4191000" cy="11906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7" name="01 Planner">
            <a:extLst xmlns:a="http://schemas.openxmlformats.org/drawingml/2006/main">
              <a:ext uri="{FF2B5EF4-FFF2-40B4-BE49-F238E27FC236}">
                <a16:creationId xmlns:a16="http://schemas.microsoft.com/office/drawing/2014/main" id="{2687B474-D116-4BC1-96C7-2E252A716E24}"/>
              </a:ext>
            </a:extLst>
          </p:cNvPr>
          <p:cNvSpPr>
            <a:spLocks xmlns:a="http://schemas.openxmlformats.org/drawingml/2006/main" noGrp="1"/>
          </p:cNvSpPr>
          <p:nvPr/>
        </p:nvSpPr>
        <p:spPr>
          <a:xfrm xmlns:a="http://schemas.openxmlformats.org/drawingml/2006/main">
            <a:off x="952500" y="24955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01 Planner</a:t>
            </a:r>
          </a:p>
        </p:txBody>
      </p:sp>
      <p:sp>
        <p:nvSpPr>
          <p:cNvPr id="8" name="Intent and search queries">
            <a:extLst xmlns:a="http://schemas.openxmlformats.org/drawingml/2006/main">
              <a:ext uri="{FF2B5EF4-FFF2-40B4-BE49-F238E27FC236}">
                <a16:creationId xmlns:a16="http://schemas.microsoft.com/office/drawing/2014/main" id="{37C84F25-18BC-444F-B580-E1D1E9D547A8}"/>
              </a:ext>
            </a:extLst>
          </p:cNvPr>
          <p:cNvSpPr>
            <a:spLocks xmlns:a="http://schemas.openxmlformats.org/drawingml/2006/main" noGrp="1"/>
          </p:cNvSpPr>
          <p:nvPr/>
        </p:nvSpPr>
        <p:spPr>
          <a:xfrm xmlns:a="http://schemas.openxmlformats.org/drawingml/2006/main">
            <a:off x="952500" y="29527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C80"/>
                </a:solidFill>
                <a:latin typeface="Segoe UI"/>
                <a:ea typeface="Segoe UI"/>
                <a:cs typeface="Segoe UI"/>
              </a:defRPr>
            </a:pPr>
            <a:r>
              <a:rPr sz="1800" b="0">
                <a:solidFill>
                  <a:srgbClr val="536C80"/>
                </a:solidFill>
                <a:latin typeface="Segoe UI"/>
                <a:ea typeface="Segoe UI"/>
                <a:cs typeface="Segoe UI"/>
              </a:rPr>
              <a:t>Intent and search queries</a:t>
            </a:r>
          </a:p>
        </p:txBody>
      </p:sp>
      <p:sp>
        <p:nvSpPr>
          <p:cNvPr id="9" name="">
            <a:extLst xmlns:a="http://schemas.openxmlformats.org/drawingml/2006/main">
              <a:ext uri="{FF2B5EF4-FFF2-40B4-BE49-F238E27FC236}">
                <a16:creationId xmlns:a16="http://schemas.microsoft.com/office/drawing/2014/main" id="{072800C4-4C6B-40C9-8CD7-52B24334F732}"/>
              </a:ext>
            </a:extLst>
          </p:cNvPr>
          <p:cNvSpPr>
            <a:spLocks xmlns:a="http://schemas.openxmlformats.org/drawingml/2006/main" noGrp="1"/>
          </p:cNvSpPr>
          <p:nvPr/>
        </p:nvSpPr>
        <p:spPr>
          <a:xfrm xmlns:a="http://schemas.openxmlformats.org/drawingml/2006/main">
            <a:off x="5524500" y="2286000"/>
            <a:ext cx="4191000" cy="11906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0" name="02 Signal Scout">
            <a:extLst xmlns:a="http://schemas.openxmlformats.org/drawingml/2006/main">
              <a:ext uri="{FF2B5EF4-FFF2-40B4-BE49-F238E27FC236}">
                <a16:creationId xmlns:a16="http://schemas.microsoft.com/office/drawing/2014/main" id="{930B156B-2C54-4258-80F2-2AEB9DE60E87}"/>
              </a:ext>
            </a:extLst>
          </p:cNvPr>
          <p:cNvSpPr>
            <a:spLocks xmlns:a="http://schemas.openxmlformats.org/drawingml/2006/main" noGrp="1"/>
          </p:cNvSpPr>
          <p:nvPr/>
        </p:nvSpPr>
        <p:spPr>
          <a:xfrm xmlns:a="http://schemas.openxmlformats.org/drawingml/2006/main">
            <a:off x="5715000" y="24955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02 Signal Scout</a:t>
            </a:r>
          </a:p>
        </p:txBody>
      </p:sp>
      <p:sp>
        <p:nvSpPr>
          <p:cNvPr id="11" name="Unique articles">
            <a:extLst xmlns:a="http://schemas.openxmlformats.org/drawingml/2006/main">
              <a:ext uri="{FF2B5EF4-FFF2-40B4-BE49-F238E27FC236}">
                <a16:creationId xmlns:a16="http://schemas.microsoft.com/office/drawing/2014/main" id="{37E1AAC4-D621-4BB1-AD12-0B04E63FEF6C}"/>
              </a:ext>
            </a:extLst>
          </p:cNvPr>
          <p:cNvSpPr>
            <a:spLocks xmlns:a="http://schemas.openxmlformats.org/drawingml/2006/main" noGrp="1"/>
          </p:cNvSpPr>
          <p:nvPr/>
        </p:nvSpPr>
        <p:spPr>
          <a:xfrm xmlns:a="http://schemas.openxmlformats.org/drawingml/2006/main">
            <a:off x="5715000" y="29527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C80"/>
                </a:solidFill>
                <a:latin typeface="Segoe UI"/>
                <a:ea typeface="Segoe UI"/>
                <a:cs typeface="Segoe UI"/>
              </a:defRPr>
            </a:pPr>
            <a:r>
              <a:rPr sz="1800" b="0">
                <a:solidFill>
                  <a:srgbClr val="536C80"/>
                </a:solidFill>
                <a:latin typeface="Segoe UI"/>
                <a:ea typeface="Segoe UI"/>
                <a:cs typeface="Segoe UI"/>
              </a:rPr>
              <a:t>Unique articles</a:t>
            </a:r>
          </a:p>
        </p:txBody>
      </p:sp>
      <p:cxnSp>
        <p:nvCxnSpPr>
          <p:cNvPr id="53" name=""/>
          <p:cNvCxnSpPr>
            <a:stCxn xmlns:a="http://schemas.openxmlformats.org/drawingml/2006/main" id="6" idx="3"/>
            <a:endCxn xmlns:a="http://schemas.openxmlformats.org/drawingml/2006/main" id="9" idx="1"/>
          </p:cNvCxnSpPr>
          <p:nvPr/>
        </p:nvCxnSpPr>
        <p:spPr>
          <a:xfrm xmlns:a="http://schemas.openxmlformats.org/drawingml/2006/main">
            <a:off x="4953000" y="2881313"/>
            <a:ext cx="5715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3" name="">
            <a:extLst xmlns:a="http://schemas.openxmlformats.org/drawingml/2006/main">
              <a:ext uri="{FF2B5EF4-FFF2-40B4-BE49-F238E27FC236}">
                <a16:creationId xmlns:a16="http://schemas.microsoft.com/office/drawing/2014/main" id="{190B1FF9-0429-4C43-9BA9-3EFC3BD251CB}"/>
              </a:ext>
            </a:extLst>
          </p:cNvPr>
          <p:cNvSpPr>
            <a:spLocks xmlns:a="http://schemas.openxmlformats.org/drawingml/2006/main" noGrp="1"/>
          </p:cNvSpPr>
          <p:nvPr/>
        </p:nvSpPr>
        <p:spPr>
          <a:xfrm xmlns:a="http://schemas.openxmlformats.org/drawingml/2006/main">
            <a:off x="10287000" y="2286000"/>
            <a:ext cx="4191000" cy="11906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4" name="03 Topic Analyst">
            <a:extLst xmlns:a="http://schemas.openxmlformats.org/drawingml/2006/main">
              <a:ext uri="{FF2B5EF4-FFF2-40B4-BE49-F238E27FC236}">
                <a16:creationId xmlns:a16="http://schemas.microsoft.com/office/drawing/2014/main" id="{811CE1BD-DAC8-4EC2-8525-0BCC6BC0FAE0}"/>
              </a:ext>
            </a:extLst>
          </p:cNvPr>
          <p:cNvSpPr>
            <a:spLocks xmlns:a="http://schemas.openxmlformats.org/drawingml/2006/main" noGrp="1"/>
          </p:cNvSpPr>
          <p:nvPr/>
        </p:nvSpPr>
        <p:spPr>
          <a:xfrm xmlns:a="http://schemas.openxmlformats.org/drawingml/2006/main">
            <a:off x="10477500" y="24955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03 Topic Analyst</a:t>
            </a:r>
          </a:p>
        </p:txBody>
      </p:sp>
      <p:sp>
        <p:nvSpPr>
          <p:cNvPr id="15" name="Canonical topics">
            <a:extLst xmlns:a="http://schemas.openxmlformats.org/drawingml/2006/main">
              <a:ext uri="{FF2B5EF4-FFF2-40B4-BE49-F238E27FC236}">
                <a16:creationId xmlns:a16="http://schemas.microsoft.com/office/drawing/2014/main" id="{B8E81916-C558-4537-B15F-F05772138269}"/>
              </a:ext>
            </a:extLst>
          </p:cNvPr>
          <p:cNvSpPr>
            <a:spLocks xmlns:a="http://schemas.openxmlformats.org/drawingml/2006/main" noGrp="1"/>
          </p:cNvSpPr>
          <p:nvPr/>
        </p:nvSpPr>
        <p:spPr>
          <a:xfrm xmlns:a="http://schemas.openxmlformats.org/drawingml/2006/main">
            <a:off x="10477500" y="29527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C80"/>
                </a:solidFill>
                <a:latin typeface="Segoe UI"/>
                <a:ea typeface="Segoe UI"/>
                <a:cs typeface="Segoe UI"/>
              </a:defRPr>
            </a:pPr>
            <a:r>
              <a:rPr sz="1800" b="0">
                <a:solidFill>
                  <a:srgbClr val="536C80"/>
                </a:solidFill>
                <a:latin typeface="Segoe UI"/>
                <a:ea typeface="Segoe UI"/>
                <a:cs typeface="Segoe UI"/>
              </a:rPr>
              <a:t>Canonical topics</a:t>
            </a:r>
          </a:p>
        </p:txBody>
      </p:sp>
      <p:cxnSp>
        <p:nvCxnSpPr>
          <p:cNvPr id="57" name=""/>
          <p:cNvCxnSpPr>
            <a:stCxn xmlns:a="http://schemas.openxmlformats.org/drawingml/2006/main" id="9" idx="3"/>
            <a:endCxn xmlns:a="http://schemas.openxmlformats.org/drawingml/2006/main" id="13" idx="1"/>
          </p:cNvCxnSpPr>
          <p:nvPr/>
        </p:nvCxnSpPr>
        <p:spPr>
          <a:xfrm xmlns:a="http://schemas.openxmlformats.org/drawingml/2006/main">
            <a:off x="9715500" y="2881313"/>
            <a:ext cx="5715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7" name="">
            <a:extLst xmlns:a="http://schemas.openxmlformats.org/drawingml/2006/main">
              <a:ext uri="{FF2B5EF4-FFF2-40B4-BE49-F238E27FC236}">
                <a16:creationId xmlns:a16="http://schemas.microsoft.com/office/drawing/2014/main" id="{ADF15F21-BAF5-40E1-8274-F4A8A90B8505}"/>
              </a:ext>
            </a:extLst>
          </p:cNvPr>
          <p:cNvSpPr>
            <a:spLocks xmlns:a="http://schemas.openxmlformats.org/drawingml/2006/main" noGrp="1"/>
          </p:cNvSpPr>
          <p:nvPr/>
        </p:nvSpPr>
        <p:spPr>
          <a:xfrm xmlns:a="http://schemas.openxmlformats.org/drawingml/2006/main">
            <a:off x="10287000" y="3829050"/>
            <a:ext cx="4191000" cy="11906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8" name="04 Attention Analyst">
            <a:extLst xmlns:a="http://schemas.openxmlformats.org/drawingml/2006/main">
              <a:ext uri="{FF2B5EF4-FFF2-40B4-BE49-F238E27FC236}">
                <a16:creationId xmlns:a16="http://schemas.microsoft.com/office/drawing/2014/main" id="{820E288D-AE54-4CFC-9FA0-623FED4A6C16}"/>
              </a:ext>
            </a:extLst>
          </p:cNvPr>
          <p:cNvSpPr>
            <a:spLocks xmlns:a="http://schemas.openxmlformats.org/drawingml/2006/main" noGrp="1"/>
          </p:cNvSpPr>
          <p:nvPr/>
        </p:nvSpPr>
        <p:spPr>
          <a:xfrm xmlns:a="http://schemas.openxmlformats.org/drawingml/2006/main">
            <a:off x="10477500" y="40386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04 Attention Analyst</a:t>
            </a:r>
          </a:p>
        </p:txBody>
      </p:sp>
      <p:sp>
        <p:nvSpPr>
          <p:cNvPr id="19" name="News attention score">
            <a:extLst xmlns:a="http://schemas.openxmlformats.org/drawingml/2006/main">
              <a:ext uri="{FF2B5EF4-FFF2-40B4-BE49-F238E27FC236}">
                <a16:creationId xmlns:a16="http://schemas.microsoft.com/office/drawing/2014/main" id="{321653F4-DE2A-4E72-AE76-4A38DAAD700A}"/>
              </a:ext>
            </a:extLst>
          </p:cNvPr>
          <p:cNvSpPr>
            <a:spLocks xmlns:a="http://schemas.openxmlformats.org/drawingml/2006/main" noGrp="1"/>
          </p:cNvSpPr>
          <p:nvPr/>
        </p:nvSpPr>
        <p:spPr>
          <a:xfrm xmlns:a="http://schemas.openxmlformats.org/drawingml/2006/main">
            <a:off x="10477500" y="44958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C80"/>
                </a:solidFill>
                <a:latin typeface="Segoe UI"/>
                <a:ea typeface="Segoe UI"/>
                <a:cs typeface="Segoe UI"/>
              </a:defRPr>
            </a:pPr>
            <a:r>
              <a:rPr sz="1800" b="0">
                <a:solidFill>
                  <a:srgbClr val="536C80"/>
                </a:solidFill>
                <a:latin typeface="Segoe UI"/>
                <a:ea typeface="Segoe UI"/>
                <a:cs typeface="Segoe UI"/>
              </a:rPr>
              <a:t>News attention score</a:t>
            </a:r>
          </a:p>
        </p:txBody>
      </p:sp>
      <p:cxnSp>
        <p:nvCxnSpPr>
          <p:cNvPr id="61" name=""/>
          <p:cNvCxnSpPr>
            <a:stCxn xmlns:a="http://schemas.openxmlformats.org/drawingml/2006/main" id="13" idx="2"/>
            <a:endCxn xmlns:a="http://schemas.openxmlformats.org/drawingml/2006/main" id="17" idx="0"/>
          </p:cNvCxnSpPr>
          <p:nvPr/>
        </p:nvCxnSpPr>
        <p:spPr>
          <a:xfrm xmlns:a="http://schemas.openxmlformats.org/drawingml/2006/main">
            <a:off x="12382500" y="3476625"/>
            <a:ext cx="0" cy="352425"/>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1" name="">
            <a:extLst xmlns:a="http://schemas.openxmlformats.org/drawingml/2006/main">
              <a:ext uri="{FF2B5EF4-FFF2-40B4-BE49-F238E27FC236}">
                <a16:creationId xmlns:a16="http://schemas.microsoft.com/office/drawing/2014/main" id="{1A4CD3B5-2D99-4539-8629-E9F9E3AA0F67}"/>
              </a:ext>
            </a:extLst>
          </p:cNvPr>
          <p:cNvSpPr>
            <a:spLocks xmlns:a="http://schemas.openxmlformats.org/drawingml/2006/main" noGrp="1"/>
          </p:cNvSpPr>
          <p:nvPr/>
        </p:nvSpPr>
        <p:spPr>
          <a:xfrm xmlns:a="http://schemas.openxmlformats.org/drawingml/2006/main">
            <a:off x="5524500" y="3829050"/>
            <a:ext cx="4191000" cy="11906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22" name="05 Librarian">
            <a:extLst xmlns:a="http://schemas.openxmlformats.org/drawingml/2006/main">
              <a:ext uri="{FF2B5EF4-FFF2-40B4-BE49-F238E27FC236}">
                <a16:creationId xmlns:a16="http://schemas.microsoft.com/office/drawing/2014/main" id="{329CDD6F-BDE9-4679-A53F-3892A2619A90}"/>
              </a:ext>
            </a:extLst>
          </p:cNvPr>
          <p:cNvSpPr>
            <a:spLocks xmlns:a="http://schemas.openxmlformats.org/drawingml/2006/main" noGrp="1"/>
          </p:cNvSpPr>
          <p:nvPr/>
        </p:nvSpPr>
        <p:spPr>
          <a:xfrm xmlns:a="http://schemas.openxmlformats.org/drawingml/2006/main">
            <a:off x="5715000" y="40386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05 Librarian</a:t>
            </a:r>
          </a:p>
        </p:txBody>
      </p:sp>
      <p:sp>
        <p:nvSpPr>
          <p:cNvPr id="23" name="Coverage and matches">
            <a:extLst xmlns:a="http://schemas.openxmlformats.org/drawingml/2006/main">
              <a:ext uri="{FF2B5EF4-FFF2-40B4-BE49-F238E27FC236}">
                <a16:creationId xmlns:a16="http://schemas.microsoft.com/office/drawing/2014/main" id="{CB94AAEE-B3E6-4B6D-BE7D-1823E51302A2}"/>
              </a:ext>
            </a:extLst>
          </p:cNvPr>
          <p:cNvSpPr>
            <a:spLocks xmlns:a="http://schemas.openxmlformats.org/drawingml/2006/main" noGrp="1"/>
          </p:cNvSpPr>
          <p:nvPr/>
        </p:nvSpPr>
        <p:spPr>
          <a:xfrm xmlns:a="http://schemas.openxmlformats.org/drawingml/2006/main">
            <a:off x="5715000" y="44958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C80"/>
                </a:solidFill>
                <a:latin typeface="Segoe UI"/>
                <a:ea typeface="Segoe UI"/>
                <a:cs typeface="Segoe UI"/>
              </a:defRPr>
            </a:pPr>
            <a:r>
              <a:rPr sz="1800" b="0">
                <a:solidFill>
                  <a:srgbClr val="536C80"/>
                </a:solidFill>
                <a:latin typeface="Segoe UI"/>
                <a:ea typeface="Segoe UI"/>
                <a:cs typeface="Segoe UI"/>
              </a:rPr>
              <a:t>Coverage and matches</a:t>
            </a:r>
          </a:p>
        </p:txBody>
      </p:sp>
      <p:cxnSp>
        <p:nvCxnSpPr>
          <p:cNvPr id="65" name=""/>
          <p:cNvCxnSpPr>
            <a:stCxn xmlns:a="http://schemas.openxmlformats.org/drawingml/2006/main" id="17" idx="1"/>
            <a:endCxn xmlns:a="http://schemas.openxmlformats.org/drawingml/2006/main" id="21" idx="3"/>
          </p:cNvCxnSpPr>
          <p:nvPr/>
        </p:nvCxnSpPr>
        <p:spPr>
          <a:xfrm xmlns:a="http://schemas.openxmlformats.org/drawingml/2006/main" flipH="1">
            <a:off x="9715500" y="4424363"/>
            <a:ext cx="5715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5" name="">
            <a:extLst xmlns:a="http://schemas.openxmlformats.org/drawingml/2006/main">
              <a:ext uri="{FF2B5EF4-FFF2-40B4-BE49-F238E27FC236}">
                <a16:creationId xmlns:a16="http://schemas.microsoft.com/office/drawing/2014/main" id="{7AD755E5-099B-43B0-B424-61DCE3EB089F}"/>
              </a:ext>
            </a:extLst>
          </p:cNvPr>
          <p:cNvSpPr>
            <a:spLocks xmlns:a="http://schemas.openxmlformats.org/drawingml/2006/main" noGrp="1"/>
          </p:cNvSpPr>
          <p:nvPr/>
        </p:nvSpPr>
        <p:spPr>
          <a:xfrm xmlns:a="http://schemas.openxmlformats.org/drawingml/2006/main">
            <a:off x="762000" y="3829050"/>
            <a:ext cx="4191000" cy="11906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26" name="06 Graph Curator">
            <a:extLst xmlns:a="http://schemas.openxmlformats.org/drawingml/2006/main">
              <a:ext uri="{FF2B5EF4-FFF2-40B4-BE49-F238E27FC236}">
                <a16:creationId xmlns:a16="http://schemas.microsoft.com/office/drawing/2014/main" id="{C17BE9D5-6C54-468E-8BB3-6B6CB30CA1F5}"/>
              </a:ext>
            </a:extLst>
          </p:cNvPr>
          <p:cNvSpPr>
            <a:spLocks xmlns:a="http://schemas.openxmlformats.org/drawingml/2006/main" noGrp="1"/>
          </p:cNvSpPr>
          <p:nvPr/>
        </p:nvSpPr>
        <p:spPr>
          <a:xfrm xmlns:a="http://schemas.openxmlformats.org/drawingml/2006/main">
            <a:off x="952500" y="40386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06 Graph Curator</a:t>
            </a:r>
          </a:p>
        </p:txBody>
      </p:sp>
      <p:sp>
        <p:nvSpPr>
          <p:cNvPr id="27" name="Evidence relationships">
            <a:extLst xmlns:a="http://schemas.openxmlformats.org/drawingml/2006/main">
              <a:ext uri="{FF2B5EF4-FFF2-40B4-BE49-F238E27FC236}">
                <a16:creationId xmlns:a16="http://schemas.microsoft.com/office/drawing/2014/main" id="{04E1FD56-B38C-4905-8699-1625B19EDCAF}"/>
              </a:ext>
            </a:extLst>
          </p:cNvPr>
          <p:cNvSpPr>
            <a:spLocks xmlns:a="http://schemas.openxmlformats.org/drawingml/2006/main" noGrp="1"/>
          </p:cNvSpPr>
          <p:nvPr/>
        </p:nvSpPr>
        <p:spPr>
          <a:xfrm xmlns:a="http://schemas.openxmlformats.org/drawingml/2006/main">
            <a:off x="952500" y="44958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C80"/>
                </a:solidFill>
                <a:latin typeface="Segoe UI"/>
                <a:ea typeface="Segoe UI"/>
                <a:cs typeface="Segoe UI"/>
              </a:defRPr>
            </a:pPr>
            <a:r>
              <a:rPr sz="1800" b="0">
                <a:solidFill>
                  <a:srgbClr val="536C80"/>
                </a:solidFill>
                <a:latin typeface="Segoe UI"/>
                <a:ea typeface="Segoe UI"/>
                <a:cs typeface="Segoe UI"/>
              </a:rPr>
              <a:t>Evidence relationships</a:t>
            </a:r>
          </a:p>
        </p:txBody>
      </p:sp>
      <p:cxnSp>
        <p:nvCxnSpPr>
          <p:cNvPr id="69" name=""/>
          <p:cNvCxnSpPr>
            <a:stCxn xmlns:a="http://schemas.openxmlformats.org/drawingml/2006/main" id="21" idx="1"/>
            <a:endCxn xmlns:a="http://schemas.openxmlformats.org/drawingml/2006/main" id="25" idx="3"/>
          </p:cNvCxnSpPr>
          <p:nvPr/>
        </p:nvCxnSpPr>
        <p:spPr>
          <a:xfrm xmlns:a="http://schemas.openxmlformats.org/drawingml/2006/main" flipH="1">
            <a:off x="4953000" y="4424363"/>
            <a:ext cx="5715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9" name="">
            <a:extLst xmlns:a="http://schemas.openxmlformats.org/drawingml/2006/main">
              <a:ext uri="{FF2B5EF4-FFF2-40B4-BE49-F238E27FC236}">
                <a16:creationId xmlns:a16="http://schemas.microsoft.com/office/drawing/2014/main" id="{11EC88A7-953B-46DF-A191-6E75221447A8}"/>
              </a:ext>
            </a:extLst>
          </p:cNvPr>
          <p:cNvSpPr>
            <a:spLocks xmlns:a="http://schemas.openxmlformats.org/drawingml/2006/main" noGrp="1"/>
          </p:cNvSpPr>
          <p:nvPr/>
        </p:nvSpPr>
        <p:spPr>
          <a:xfrm xmlns:a="http://schemas.openxmlformats.org/drawingml/2006/main">
            <a:off x="762000" y="5372100"/>
            <a:ext cx="4191000" cy="11906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30" name="07 Gap Analyst">
            <a:extLst xmlns:a="http://schemas.openxmlformats.org/drawingml/2006/main">
              <a:ext uri="{FF2B5EF4-FFF2-40B4-BE49-F238E27FC236}">
                <a16:creationId xmlns:a16="http://schemas.microsoft.com/office/drawing/2014/main" id="{5382E974-91A2-4088-B7DA-A10F5636B4E5}"/>
              </a:ext>
            </a:extLst>
          </p:cNvPr>
          <p:cNvSpPr>
            <a:spLocks xmlns:a="http://schemas.openxmlformats.org/drawingml/2006/main" noGrp="1"/>
          </p:cNvSpPr>
          <p:nvPr/>
        </p:nvSpPr>
        <p:spPr>
          <a:xfrm xmlns:a="http://schemas.openxmlformats.org/drawingml/2006/main">
            <a:off x="952500" y="55816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07 Gap Analyst</a:t>
            </a:r>
          </a:p>
        </p:txBody>
      </p:sp>
      <p:sp>
        <p:nvSpPr>
          <p:cNvPr id="31" name="Gap and priority">
            <a:extLst xmlns:a="http://schemas.openxmlformats.org/drawingml/2006/main">
              <a:ext uri="{FF2B5EF4-FFF2-40B4-BE49-F238E27FC236}">
                <a16:creationId xmlns:a16="http://schemas.microsoft.com/office/drawing/2014/main" id="{6AD16687-6C62-452F-B51F-4833768D983C}"/>
              </a:ext>
            </a:extLst>
          </p:cNvPr>
          <p:cNvSpPr>
            <a:spLocks xmlns:a="http://schemas.openxmlformats.org/drawingml/2006/main" noGrp="1"/>
          </p:cNvSpPr>
          <p:nvPr/>
        </p:nvSpPr>
        <p:spPr>
          <a:xfrm xmlns:a="http://schemas.openxmlformats.org/drawingml/2006/main">
            <a:off x="952500" y="60388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C80"/>
                </a:solidFill>
                <a:latin typeface="Segoe UI"/>
                <a:ea typeface="Segoe UI"/>
                <a:cs typeface="Segoe UI"/>
              </a:defRPr>
            </a:pPr>
            <a:r>
              <a:rPr sz="1800" b="0">
                <a:solidFill>
                  <a:srgbClr val="536C80"/>
                </a:solidFill>
                <a:latin typeface="Segoe UI"/>
                <a:ea typeface="Segoe UI"/>
                <a:cs typeface="Segoe UI"/>
              </a:rPr>
              <a:t>Gap and priority</a:t>
            </a:r>
          </a:p>
        </p:txBody>
      </p:sp>
      <p:cxnSp>
        <p:nvCxnSpPr>
          <p:cNvPr id="73" name=""/>
          <p:cNvCxnSpPr>
            <a:stCxn xmlns:a="http://schemas.openxmlformats.org/drawingml/2006/main" id="25" idx="2"/>
            <a:endCxn xmlns:a="http://schemas.openxmlformats.org/drawingml/2006/main" id="29" idx="0"/>
          </p:cNvCxnSpPr>
          <p:nvPr/>
        </p:nvCxnSpPr>
        <p:spPr>
          <a:xfrm xmlns:a="http://schemas.openxmlformats.org/drawingml/2006/main">
            <a:off x="2857500" y="5019675"/>
            <a:ext cx="0" cy="352425"/>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33" name="">
            <a:extLst xmlns:a="http://schemas.openxmlformats.org/drawingml/2006/main">
              <a:ext uri="{FF2B5EF4-FFF2-40B4-BE49-F238E27FC236}">
                <a16:creationId xmlns:a16="http://schemas.microsoft.com/office/drawing/2014/main" id="{05172394-5877-4185-814F-3D11EE8234BB}"/>
              </a:ext>
            </a:extLst>
          </p:cNvPr>
          <p:cNvSpPr>
            <a:spLocks xmlns:a="http://schemas.openxmlformats.org/drawingml/2006/main" noGrp="1"/>
          </p:cNvSpPr>
          <p:nvPr/>
        </p:nvSpPr>
        <p:spPr>
          <a:xfrm xmlns:a="http://schemas.openxmlformats.org/drawingml/2006/main">
            <a:off x="5524500" y="5372100"/>
            <a:ext cx="4191000" cy="11906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34" name="08 Synthesizer">
            <a:extLst xmlns:a="http://schemas.openxmlformats.org/drawingml/2006/main">
              <a:ext uri="{FF2B5EF4-FFF2-40B4-BE49-F238E27FC236}">
                <a16:creationId xmlns:a16="http://schemas.microsoft.com/office/drawing/2014/main" id="{BA423FB0-241E-4CF8-BFE2-53A4B4037FA9}"/>
              </a:ext>
            </a:extLst>
          </p:cNvPr>
          <p:cNvSpPr>
            <a:spLocks xmlns:a="http://schemas.openxmlformats.org/drawingml/2006/main" noGrp="1"/>
          </p:cNvSpPr>
          <p:nvPr/>
        </p:nvSpPr>
        <p:spPr>
          <a:xfrm xmlns:a="http://schemas.openxmlformats.org/drawingml/2006/main">
            <a:off x="5715000" y="55816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08 Synthesizer</a:t>
            </a:r>
          </a:p>
        </p:txBody>
      </p:sp>
      <p:sp>
        <p:nvSpPr>
          <p:cNvPr id="35" name="Brief and actions">
            <a:extLst xmlns:a="http://schemas.openxmlformats.org/drawingml/2006/main">
              <a:ext uri="{FF2B5EF4-FFF2-40B4-BE49-F238E27FC236}">
                <a16:creationId xmlns:a16="http://schemas.microsoft.com/office/drawing/2014/main" id="{FB929BA3-745E-488F-8FD7-91D2BD685E25}"/>
              </a:ext>
            </a:extLst>
          </p:cNvPr>
          <p:cNvSpPr>
            <a:spLocks xmlns:a="http://schemas.openxmlformats.org/drawingml/2006/main" noGrp="1"/>
          </p:cNvSpPr>
          <p:nvPr/>
        </p:nvSpPr>
        <p:spPr>
          <a:xfrm xmlns:a="http://schemas.openxmlformats.org/drawingml/2006/main">
            <a:off x="5715000" y="60388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C80"/>
                </a:solidFill>
                <a:latin typeface="Segoe UI"/>
                <a:ea typeface="Segoe UI"/>
                <a:cs typeface="Segoe UI"/>
              </a:defRPr>
            </a:pPr>
            <a:r>
              <a:rPr sz="1800" b="0">
                <a:solidFill>
                  <a:srgbClr val="536C80"/>
                </a:solidFill>
                <a:latin typeface="Segoe UI"/>
                <a:ea typeface="Segoe UI"/>
                <a:cs typeface="Segoe UI"/>
              </a:rPr>
              <a:t>Brief and actions</a:t>
            </a:r>
          </a:p>
        </p:txBody>
      </p:sp>
      <p:cxnSp>
        <p:nvCxnSpPr>
          <p:cNvPr id="77" name=""/>
          <p:cNvCxnSpPr>
            <a:stCxn xmlns:a="http://schemas.openxmlformats.org/drawingml/2006/main" id="29" idx="3"/>
            <a:endCxn xmlns:a="http://schemas.openxmlformats.org/drawingml/2006/main" id="33" idx="1"/>
          </p:cNvCxnSpPr>
          <p:nvPr/>
        </p:nvCxnSpPr>
        <p:spPr>
          <a:xfrm xmlns:a="http://schemas.openxmlformats.org/drawingml/2006/main">
            <a:off x="4953000" y="5967413"/>
            <a:ext cx="5715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37" name="">
            <a:extLst xmlns:a="http://schemas.openxmlformats.org/drawingml/2006/main">
              <a:ext uri="{FF2B5EF4-FFF2-40B4-BE49-F238E27FC236}">
                <a16:creationId xmlns:a16="http://schemas.microsoft.com/office/drawing/2014/main" id="{17BC9830-EC9B-4B29-9DBB-DD725EC238D9}"/>
              </a:ext>
            </a:extLst>
          </p:cNvPr>
          <p:cNvSpPr>
            <a:spLocks xmlns:a="http://schemas.openxmlformats.org/drawingml/2006/main" noGrp="1"/>
          </p:cNvSpPr>
          <p:nvPr/>
        </p:nvSpPr>
        <p:spPr>
          <a:xfrm xmlns:a="http://schemas.openxmlformats.org/drawingml/2006/main">
            <a:off x="10287000" y="5372100"/>
            <a:ext cx="4191000" cy="11906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38" name="09 Critic">
            <a:extLst xmlns:a="http://schemas.openxmlformats.org/drawingml/2006/main">
              <a:ext uri="{FF2B5EF4-FFF2-40B4-BE49-F238E27FC236}">
                <a16:creationId xmlns:a16="http://schemas.microsoft.com/office/drawing/2014/main" id="{31610B2E-829C-4132-BB3C-1BC99D104E2A}"/>
              </a:ext>
            </a:extLst>
          </p:cNvPr>
          <p:cNvSpPr>
            <a:spLocks xmlns:a="http://schemas.openxmlformats.org/drawingml/2006/main" noGrp="1"/>
          </p:cNvSpPr>
          <p:nvPr/>
        </p:nvSpPr>
        <p:spPr>
          <a:xfrm xmlns:a="http://schemas.openxmlformats.org/drawingml/2006/main">
            <a:off x="10477500" y="55816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09 Critic</a:t>
            </a:r>
          </a:p>
        </p:txBody>
      </p:sp>
      <p:sp>
        <p:nvSpPr>
          <p:cNvPr id="39" name="Consistency review">
            <a:extLst xmlns:a="http://schemas.openxmlformats.org/drawingml/2006/main">
              <a:ext uri="{FF2B5EF4-FFF2-40B4-BE49-F238E27FC236}">
                <a16:creationId xmlns:a16="http://schemas.microsoft.com/office/drawing/2014/main" id="{3980C108-ADB7-48F8-B162-D7981AA97A85}"/>
              </a:ext>
            </a:extLst>
          </p:cNvPr>
          <p:cNvSpPr>
            <a:spLocks xmlns:a="http://schemas.openxmlformats.org/drawingml/2006/main" noGrp="1"/>
          </p:cNvSpPr>
          <p:nvPr/>
        </p:nvSpPr>
        <p:spPr>
          <a:xfrm xmlns:a="http://schemas.openxmlformats.org/drawingml/2006/main">
            <a:off x="10477500" y="60388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C80"/>
                </a:solidFill>
                <a:latin typeface="Segoe UI"/>
                <a:ea typeface="Segoe UI"/>
                <a:cs typeface="Segoe UI"/>
              </a:defRPr>
            </a:pPr>
            <a:r>
              <a:rPr sz="1800" b="0">
                <a:solidFill>
                  <a:srgbClr val="536C80"/>
                </a:solidFill>
                <a:latin typeface="Segoe UI"/>
                <a:ea typeface="Segoe UI"/>
                <a:cs typeface="Segoe UI"/>
              </a:rPr>
              <a:t>Consistency review</a:t>
            </a:r>
          </a:p>
        </p:txBody>
      </p:sp>
      <p:cxnSp>
        <p:nvCxnSpPr>
          <p:cNvPr id="81" name=""/>
          <p:cNvCxnSpPr>
            <a:stCxn xmlns:a="http://schemas.openxmlformats.org/drawingml/2006/main" id="33" idx="3"/>
            <a:endCxn xmlns:a="http://schemas.openxmlformats.org/drawingml/2006/main" id="37" idx="1"/>
          </p:cNvCxnSpPr>
          <p:nvPr/>
        </p:nvCxnSpPr>
        <p:spPr>
          <a:xfrm xmlns:a="http://schemas.openxmlformats.org/drawingml/2006/main">
            <a:off x="9715500" y="5967413"/>
            <a:ext cx="5715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41" name="Later nodes can read earlier fields. Articles remain in">
            <a:extLst xmlns:a="http://schemas.openxmlformats.org/drawingml/2006/main">
              <a:ext uri="{FF2B5EF4-FFF2-40B4-BE49-F238E27FC236}">
                <a16:creationId xmlns:a16="http://schemas.microsoft.com/office/drawing/2014/main" id="{BAC8E4DD-D011-4EC3-A39C-404D683B6516}"/>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Later nodes can read earlier fields. Articles remain in state after the system creates topic records.</a:t>
            </a:r>
          </a:p>
        </p:txBody>
      </p:sp>
    </p:spTree>
    <p:extLst>
      <p:ext uri="{BB962C8B-B14F-4D97-AF65-F5344CB8AC3E}">
        <p14:creationId xmlns:p14="http://schemas.microsoft.com/office/powerpoint/2010/main" val="20858888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INTERNAL RESEARCH">
            <a:extLst xmlns:a="http://schemas.openxmlformats.org/drawingml/2006/main">
              <a:ext uri="{FF2B5EF4-FFF2-40B4-BE49-F238E27FC236}">
                <a16:creationId xmlns:a16="http://schemas.microsoft.com/office/drawing/2014/main" id="{B636BD22-FCAB-4C67-8CF4-F550D0E57F7D}"/>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INTERNAL RESEARCH</a:t>
            </a:r>
          </a:p>
        </p:txBody>
      </p:sp>
      <p:sp>
        <p:nvSpPr>
          <p:cNvPr id="2" name="Setup prepares the library before inference">
            <a:extLst xmlns:a="http://schemas.openxmlformats.org/drawingml/2006/main">
              <a:ext uri="{FF2B5EF4-FFF2-40B4-BE49-F238E27FC236}">
                <a16:creationId xmlns:a16="http://schemas.microsoft.com/office/drawing/2014/main" id="{676E8AE1-FC79-4C80-9F12-2D2B2E5B7355}"/>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Setup prepares the library before inference</a:t>
            </a:r>
          </a:p>
        </p:txBody>
      </p:sp>
      <p:sp>
        <p:nvSpPr>
          <p:cNvPr id="3" name="">
            <a:extLst xmlns:a="http://schemas.openxmlformats.org/drawingml/2006/main">
              <a:ext uri="{FF2B5EF4-FFF2-40B4-BE49-F238E27FC236}">
                <a16:creationId xmlns:a16="http://schemas.microsoft.com/office/drawing/2014/main" id="{A96C1C6C-C1F7-47C8-91D7-D3B23DBD5F98}"/>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51FF4610-3360-4623-A50D-F7CA407FBB85}"/>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06">
            <a:extLst xmlns:a="http://schemas.openxmlformats.org/drawingml/2006/main">
              <a:ext uri="{FF2B5EF4-FFF2-40B4-BE49-F238E27FC236}">
                <a16:creationId xmlns:a16="http://schemas.microsoft.com/office/drawing/2014/main" id="{4BB6236A-A60D-445C-AD33-A63CB0EEC44E}"/>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06</a:t>
            </a:r>
          </a:p>
        </p:txBody>
      </p:sp>
      <p:sp>
        <p:nvSpPr>
          <p:cNvPr id="6" name="SETUP">
            <a:extLst xmlns:a="http://schemas.openxmlformats.org/drawingml/2006/main">
              <a:ext uri="{FF2B5EF4-FFF2-40B4-BE49-F238E27FC236}">
                <a16:creationId xmlns:a16="http://schemas.microsoft.com/office/drawing/2014/main" id="{EEB11B35-37EA-4482-AB28-56218CF6885E}"/>
              </a:ext>
            </a:extLst>
          </p:cNvPr>
          <p:cNvSpPr>
            <a:spLocks xmlns:a="http://schemas.openxmlformats.org/drawingml/2006/main" noGrp="1"/>
          </p:cNvSpPr>
          <p:nvPr/>
        </p:nvSpPr>
        <p:spPr>
          <a:xfrm xmlns:a="http://schemas.openxmlformats.org/drawingml/2006/main">
            <a:off x="762000" y="23812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07D82"/>
                </a:solidFill>
                <a:latin typeface="Segoe UI"/>
                <a:ea typeface="Segoe UI"/>
                <a:cs typeface="Segoe UI"/>
              </a:defRPr>
            </a:pPr>
            <a:r>
              <a:rPr sz="1725" b="1">
                <a:solidFill>
                  <a:srgbClr val="007D82"/>
                </a:solidFill>
                <a:latin typeface="Segoe UI"/>
                <a:ea typeface="Segoe UI"/>
                <a:cs typeface="Segoe UI"/>
              </a:rPr>
              <a:t>SETUP</a:t>
            </a:r>
          </a:p>
        </p:txBody>
      </p:sp>
      <p:sp>
        <p:nvSpPr>
          <p:cNvPr id="7" name="EACH QUESTION">
            <a:extLst xmlns:a="http://schemas.openxmlformats.org/drawingml/2006/main">
              <a:ext uri="{FF2B5EF4-FFF2-40B4-BE49-F238E27FC236}">
                <a16:creationId xmlns:a16="http://schemas.microsoft.com/office/drawing/2014/main" id="{2BDC6ABC-DE1B-4EE4-8E27-DB26770B78E3}"/>
              </a:ext>
            </a:extLst>
          </p:cNvPr>
          <p:cNvSpPr>
            <a:spLocks xmlns:a="http://schemas.openxmlformats.org/drawingml/2006/main" noGrp="1"/>
          </p:cNvSpPr>
          <p:nvPr/>
        </p:nvSpPr>
        <p:spPr>
          <a:xfrm xmlns:a="http://schemas.openxmlformats.org/drawingml/2006/main">
            <a:off x="8096250" y="23812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007D82"/>
                </a:solidFill>
                <a:latin typeface="Segoe UI"/>
                <a:ea typeface="Segoe UI"/>
                <a:cs typeface="Segoe UI"/>
              </a:defRPr>
            </a:pPr>
            <a:r>
              <a:rPr sz="1725" b="1">
                <a:solidFill>
                  <a:srgbClr val="007D82"/>
                </a:solidFill>
                <a:latin typeface="Segoe UI"/>
                <a:ea typeface="Segoe UI"/>
                <a:cs typeface="Segoe UI"/>
              </a:rPr>
              <a:t>EACH QUESTION</a:t>
            </a:r>
          </a:p>
        </p:txBody>
      </p:sp>
      <p:sp>
        <p:nvSpPr>
          <p:cNvPr id="8" name="Documents become searchable">
            <a:extLst xmlns:a="http://schemas.openxmlformats.org/drawingml/2006/main">
              <a:ext uri="{FF2B5EF4-FFF2-40B4-BE49-F238E27FC236}">
                <a16:creationId xmlns:a16="http://schemas.microsoft.com/office/drawing/2014/main" id="{FF86A11E-474E-4E72-9DB6-D24C711E568A}"/>
              </a:ext>
            </a:extLst>
          </p:cNvPr>
          <p:cNvSpPr>
            <a:spLocks xmlns:a="http://schemas.openxmlformats.org/drawingml/2006/main" noGrp="1"/>
          </p:cNvSpPr>
          <p:nvPr/>
        </p:nvSpPr>
        <p:spPr>
          <a:xfrm xmlns:a="http://schemas.openxmlformats.org/drawingml/2006/main">
            <a:off x="762000" y="305752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Documents become searchable</a:t>
            </a:r>
          </a:p>
        </p:txBody>
      </p:sp>
      <p:sp>
        <p:nvSpPr>
          <p:cNvPr id="9" name="Simulated notes retain stable IDs, dates and text.&#10;Over">
            <a:extLst xmlns:a="http://schemas.openxmlformats.org/drawingml/2006/main">
              <a:ext uri="{FF2B5EF4-FFF2-40B4-BE49-F238E27FC236}">
                <a16:creationId xmlns:a16="http://schemas.microsoft.com/office/drawing/2014/main" id="{8AD6638F-4BC5-49B0-B118-A277A1CEE762}"/>
              </a:ext>
            </a:extLst>
          </p:cNvPr>
          <p:cNvSpPr>
            <a:spLocks xmlns:a="http://schemas.openxmlformats.org/drawingml/2006/main" noGrp="1"/>
          </p:cNvSpPr>
          <p:nvPr/>
        </p:nvSpPr>
        <p:spPr>
          <a:xfrm xmlns:a="http://schemas.openxmlformats.org/drawingml/2006/main">
            <a:off x="762000" y="3667125"/>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Simulated notes retain stable IDs, dates and text.</a:t>
            </a:r>
          </a:p>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Overlapping passages become normalized embeddings.</a:t>
            </a:r>
          </a:p>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FAISS keeps vectors and a document/chunk map.</a:t>
            </a:r>
          </a:p>
        </p:txBody>
      </p:sp>
      <p:sp>
        <p:nvSpPr>
          <p:cNvPr id="10" name="Queries reuse the index">
            <a:extLst xmlns:a="http://schemas.openxmlformats.org/drawingml/2006/main">
              <a:ext uri="{FF2B5EF4-FFF2-40B4-BE49-F238E27FC236}">
                <a16:creationId xmlns:a16="http://schemas.microsoft.com/office/drawing/2014/main" id="{202BECF3-F046-4A23-A958-C70E7611A135}"/>
              </a:ext>
            </a:extLst>
          </p:cNvPr>
          <p:cNvSpPr>
            <a:spLocks xmlns:a="http://schemas.openxmlformats.org/drawingml/2006/main" noGrp="1"/>
          </p:cNvSpPr>
          <p:nvPr/>
        </p:nvSpPr>
        <p:spPr>
          <a:xfrm xmlns:a="http://schemas.openxmlformats.org/drawingml/2006/main">
            <a:off x="8096250" y="305752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Queries reuse the index</a:t>
            </a:r>
          </a:p>
        </p:txBody>
      </p:sp>
      <p:sp>
        <p:nvSpPr>
          <p:cNvPr id="11" name="Embed the question or topic.&#10;Retrieve candidate passage">
            <a:extLst xmlns:a="http://schemas.openxmlformats.org/drawingml/2006/main">
              <a:ext uri="{FF2B5EF4-FFF2-40B4-BE49-F238E27FC236}">
                <a16:creationId xmlns:a16="http://schemas.microsoft.com/office/drawing/2014/main" id="{5D6FBEF1-1AF6-460C-AF98-F749AA89DB52}"/>
              </a:ext>
            </a:extLst>
          </p:cNvPr>
          <p:cNvSpPr>
            <a:spLocks xmlns:a="http://schemas.openxmlformats.org/drawingml/2006/main" noGrp="1"/>
          </p:cNvSpPr>
          <p:nvPr/>
        </p:nvSpPr>
        <p:spPr>
          <a:xfrm xmlns:a="http://schemas.openxmlformats.org/drawingml/2006/main">
            <a:off x="8096250" y="3667125"/>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Embed the question or topic.</a:t>
            </a:r>
          </a:p>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Retrieve candidate passages.</a:t>
            </a:r>
          </a:p>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Assess relevance or write a cited answer.</a:t>
            </a:r>
          </a:p>
        </p:txBody>
      </p:sp>
      <p:sp>
        <p:nvSpPr>
          <p:cNvPr id="12" name="">
            <a:extLst xmlns:a="http://schemas.openxmlformats.org/drawingml/2006/main">
              <a:ext uri="{FF2B5EF4-FFF2-40B4-BE49-F238E27FC236}">
                <a16:creationId xmlns:a16="http://schemas.microsoft.com/office/drawing/2014/main" id="{C67A10DD-96E0-488F-AA06-95460E78C5F8}"/>
              </a:ext>
            </a:extLst>
          </p:cNvPr>
          <p:cNvSpPr>
            <a:spLocks xmlns:a="http://schemas.openxmlformats.org/drawingml/2006/main" noGrp="1"/>
          </p:cNvSpPr>
          <p:nvPr/>
        </p:nvSpPr>
        <p:spPr>
          <a:xfrm xmlns:a="http://schemas.openxmlformats.org/drawingml/2006/main">
            <a:off x="762000" y="6143625"/>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13" name="~130 words / chunk">
            <a:extLst xmlns:a="http://schemas.openxmlformats.org/drawingml/2006/main">
              <a:ext uri="{FF2B5EF4-FFF2-40B4-BE49-F238E27FC236}">
                <a16:creationId xmlns:a16="http://schemas.microsoft.com/office/drawing/2014/main" id="{056FBC34-8971-452E-BED4-7AC95F3F3275}"/>
              </a:ext>
            </a:extLst>
          </p:cNvPr>
          <p:cNvSpPr>
            <a:spLocks xmlns:a="http://schemas.openxmlformats.org/drawingml/2006/main" noGrp="1"/>
          </p:cNvSpPr>
          <p:nvPr/>
        </p:nvSpPr>
        <p:spPr>
          <a:xfrm xmlns:a="http://schemas.openxmlformats.org/drawingml/2006/main">
            <a:off x="762000" y="653415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767B2"/>
                </a:solidFill>
                <a:latin typeface="Segoe UI"/>
                <a:ea typeface="Segoe UI"/>
                <a:cs typeface="Segoe UI"/>
              </a:defRPr>
            </a:pPr>
            <a:r>
              <a:rPr sz="2325" b="1">
                <a:solidFill>
                  <a:srgbClr val="1767B2"/>
                </a:solidFill>
                <a:latin typeface="Segoe UI"/>
                <a:ea typeface="Segoe UI"/>
                <a:cs typeface="Segoe UI"/>
              </a:rPr>
              <a:t>~130 words / chunk</a:t>
            </a:r>
          </a:p>
        </p:txBody>
      </p:sp>
      <p:sp>
        <p:nvSpPr>
          <p:cNvPr id="14" name="25-word overlap">
            <a:extLst xmlns:a="http://schemas.openxmlformats.org/drawingml/2006/main">
              <a:ext uri="{FF2B5EF4-FFF2-40B4-BE49-F238E27FC236}">
                <a16:creationId xmlns:a16="http://schemas.microsoft.com/office/drawing/2014/main" id="{B77987A2-2D61-446A-8F0D-02C8F5A41669}"/>
              </a:ext>
            </a:extLst>
          </p:cNvPr>
          <p:cNvSpPr>
            <a:spLocks xmlns:a="http://schemas.openxmlformats.org/drawingml/2006/main" noGrp="1"/>
          </p:cNvSpPr>
          <p:nvPr/>
        </p:nvSpPr>
        <p:spPr>
          <a:xfrm xmlns:a="http://schemas.openxmlformats.org/drawingml/2006/main">
            <a:off x="5619750" y="65341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767B2"/>
                </a:solidFill>
                <a:latin typeface="Segoe UI"/>
                <a:ea typeface="Segoe UI"/>
                <a:cs typeface="Segoe UI"/>
              </a:defRPr>
            </a:pPr>
            <a:r>
              <a:rPr sz="2325" b="1">
                <a:solidFill>
                  <a:srgbClr val="1767B2"/>
                </a:solidFill>
                <a:latin typeface="Segoe UI"/>
                <a:ea typeface="Segoe UI"/>
                <a:cs typeface="Segoe UI"/>
              </a:rPr>
              <a:t>25-word overlap</a:t>
            </a:r>
          </a:p>
        </p:txBody>
      </p:sp>
      <p:sp>
        <p:nvSpPr>
          <p:cNvPr id="15" name="768 dimensions by default">
            <a:extLst xmlns:a="http://schemas.openxmlformats.org/drawingml/2006/main">
              <a:ext uri="{FF2B5EF4-FFF2-40B4-BE49-F238E27FC236}">
                <a16:creationId xmlns:a16="http://schemas.microsoft.com/office/drawing/2014/main" id="{AE5528E2-A30B-4FE0-A314-3DBCF017748D}"/>
              </a:ext>
            </a:extLst>
          </p:cNvPr>
          <p:cNvSpPr>
            <a:spLocks xmlns:a="http://schemas.openxmlformats.org/drawingml/2006/main" noGrp="1"/>
          </p:cNvSpPr>
          <p:nvPr/>
        </p:nvSpPr>
        <p:spPr>
          <a:xfrm xmlns:a="http://schemas.openxmlformats.org/drawingml/2006/main">
            <a:off x="10001250" y="65341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767B2"/>
                </a:solidFill>
                <a:latin typeface="Segoe UI"/>
                <a:ea typeface="Segoe UI"/>
                <a:cs typeface="Segoe UI"/>
              </a:defRPr>
            </a:pPr>
            <a:r>
              <a:rPr sz="2325" b="1">
                <a:solidFill>
                  <a:srgbClr val="1767B2"/>
                </a:solidFill>
                <a:latin typeface="Segoe UI"/>
                <a:ea typeface="Segoe UI"/>
                <a:cs typeface="Segoe UI"/>
              </a:rPr>
              <a:t>768 dimensions by default</a:t>
            </a:r>
          </a:p>
        </p:txBody>
      </p:sp>
      <p:sp>
        <p:nvSpPr>
          <p:cNvPr id="16" name="Index preparation is separate from the market-scan work">
            <a:extLst xmlns:a="http://schemas.openxmlformats.org/drawingml/2006/main">
              <a:ext uri="{FF2B5EF4-FFF2-40B4-BE49-F238E27FC236}">
                <a16:creationId xmlns:a16="http://schemas.microsoft.com/office/drawing/2014/main" id="{023C02EF-BC13-45FC-B822-3D8BB0232CAB}"/>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Index preparation is separate from the market-scan workflow. Embedding represents content for retrieval.</a:t>
            </a:r>
          </a:p>
        </p:txBody>
      </p:sp>
    </p:spTree>
    <p:extLst>
      <p:ext uri="{BB962C8B-B14F-4D97-AF65-F5344CB8AC3E}">
        <p14:creationId xmlns:p14="http://schemas.microsoft.com/office/powerpoint/2010/main" val="19397764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GENTS 01–02">
            <a:extLst xmlns:a="http://schemas.openxmlformats.org/drawingml/2006/main">
              <a:ext uri="{FF2B5EF4-FFF2-40B4-BE49-F238E27FC236}">
                <a16:creationId xmlns:a16="http://schemas.microsoft.com/office/drawing/2014/main" id="{2CA1C338-AE63-4356-A5DF-AB88148774FD}"/>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AGENTS 01–02</a:t>
            </a:r>
          </a:p>
        </p:txBody>
      </p:sp>
      <p:sp>
        <p:nvSpPr>
          <p:cNvPr id="2" name="Planner and Scout preserve intent and evidence">
            <a:extLst xmlns:a="http://schemas.openxmlformats.org/drawingml/2006/main">
              <a:ext uri="{FF2B5EF4-FFF2-40B4-BE49-F238E27FC236}">
                <a16:creationId xmlns:a16="http://schemas.microsoft.com/office/drawing/2014/main" id="{C862A9BB-02C9-419E-ABBA-64D63D1A755F}"/>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Planner and Scout preserve intent and evidence</a:t>
            </a:r>
          </a:p>
        </p:txBody>
      </p:sp>
      <p:sp>
        <p:nvSpPr>
          <p:cNvPr id="3" name="">
            <a:extLst xmlns:a="http://schemas.openxmlformats.org/drawingml/2006/main">
              <a:ext uri="{FF2B5EF4-FFF2-40B4-BE49-F238E27FC236}">
                <a16:creationId xmlns:a16="http://schemas.microsoft.com/office/drawing/2014/main" id="{6A84B810-AA08-46C5-85B5-85B758AA3E3F}"/>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06790445-5EA0-4599-B52C-62A087826437}"/>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07">
            <a:extLst xmlns:a="http://schemas.openxmlformats.org/drawingml/2006/main">
              <a:ext uri="{FF2B5EF4-FFF2-40B4-BE49-F238E27FC236}">
                <a16:creationId xmlns:a16="http://schemas.microsoft.com/office/drawing/2014/main" id="{F2F3C9E8-A8EF-4CA4-8F85-B2AB1CC3EB43}"/>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07</a:t>
            </a:r>
          </a:p>
        </p:txBody>
      </p:sp>
      <p:sp>
        <p:nvSpPr>
          <p:cNvPr id="6" name="Query: “AI in healthcare”">
            <a:extLst xmlns:a="http://schemas.openxmlformats.org/drawingml/2006/main">
              <a:ext uri="{FF2B5EF4-FFF2-40B4-BE49-F238E27FC236}">
                <a16:creationId xmlns:a16="http://schemas.microsoft.com/office/drawing/2014/main" id="{CC43B365-582A-4749-B04B-81616428A08D}"/>
              </a:ext>
            </a:extLst>
          </p:cNvPr>
          <p:cNvSpPr>
            <a:spLocks xmlns:a="http://schemas.openxmlformats.org/drawingml/2006/main" noGrp="1"/>
          </p:cNvSpPr>
          <p:nvPr/>
        </p:nvSpPr>
        <p:spPr>
          <a:xfrm xmlns:a="http://schemas.openxmlformats.org/drawingml/2006/main">
            <a:off x="762000" y="2238375"/>
            <a:ext cx="1333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102C43"/>
                </a:solidFill>
                <a:latin typeface="Segoe UI"/>
                <a:ea typeface="Segoe UI"/>
                <a:cs typeface="Segoe UI"/>
              </a:defRPr>
            </a:pPr>
            <a:r>
              <a:rPr sz="2775" b="1">
                <a:solidFill>
                  <a:srgbClr val="102C43"/>
                </a:solidFill>
                <a:latin typeface="Segoe UI"/>
                <a:ea typeface="Segoe UI"/>
                <a:cs typeface="Segoe UI"/>
              </a:rPr>
              <a:t>Query: “AI in healthcare”</a:t>
            </a:r>
          </a:p>
        </p:txBody>
      </p:sp>
      <p:graphicFrame>
        <p:nvGraphicFramePr>
          <p:cNvPr id="18" name=""/>
          <p:cNvGraphicFramePr/>
          <p:nvPr/>
        </p:nvGraphicFramePr>
        <p:xfrm>
          <a:off xmlns:a="http://schemas.openxmlformats.org/drawingml/2006/main" x="762000" y="3143250"/>
          <a:ext xmlns:a="http://schemas.openxmlformats.org/drawingml/2006/main" cx="13716000" cy="2571750"/>
        </p:xfrm>
        <a:graphic xmlns:a="http://schemas.openxmlformats.org/drawingml/2006/main">
          <a:graphicData uri="http://schemas.openxmlformats.org/drawingml/2006/table">
            <a:tbl>
              <a:tblPr/>
              <a:tblGrid>
                <a:gridCol w="7715250"/>
                <a:gridCol w="3143250"/>
                <a:gridCol w="2857500"/>
              </a:tblGrid>
              <a:tr h="642938">
                <a:tc>
                  <a:txBody>
                    <a:bodyPr lIns="152400" tIns="114300" rIns="152400" bIns="95250">
                      <a:noAutofit/>
                    </a:bodyPr>
                    <a:lstStyle/>
                    <a:p>
                      <a:r>
                        <a:rPr sz="1725" b="1">
                          <a:solidFill>
                            <a:srgbClr val="FFFFFF"/>
                          </a:solidFill>
                          <a:latin typeface="Segoe UI"/>
                          <a:ea typeface="Segoe UI"/>
                          <a:cs typeface="Segoe UI"/>
                        </a:rPr>
                        <a:t>Planner search queries</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Scout request</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Recorded run #9</a:t>
                      </a:r>
                    </a:p>
                  </a:txBody>
                  <a:tcPr marL="91440" marR="91440" marT="45720" marB="45720">
                    <a:solidFill>
                      <a:srgbClr val="0B2238"/>
                    </a:solidFill>
                  </a:tcPr>
                </a:tc>
              </a:tr>
              <a:tr h="642938">
                <a:tc>
                  <a:txBody>
                    <a:bodyPr lIns="152400" tIns="114300" rIns="152400" bIns="95250">
                      <a:noAutofit/>
                    </a:bodyPr>
                    <a:lstStyle/>
                    <a:p>
                      <a:r>
                        <a:rPr sz="1800" b="1">
                          <a:solidFill>
                            <a:srgbClr val="102C43"/>
                          </a:solidFill>
                          <a:latin typeface="Segoe UI"/>
                          <a:ea typeface="Segoe UI"/>
                          <a:cs typeface="Segoe UI"/>
                        </a:rPr>
                        <a:t>AI in healthcare</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Up to 8 results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8 returned</a:t>
                      </a:r>
                    </a:p>
                  </a:txBody>
                  <a:tcPr marL="91440" marR="91440" marT="45720" marB="45720">
                    <a:solidFill>
                      <a:srgbClr val="F5F8FB"/>
                    </a:solidFill>
                  </a:tcPr>
                </a:tc>
              </a:tr>
              <a:tr h="642938">
                <a:tc>
                  <a:txBody>
                    <a:bodyPr lIns="152400" tIns="114300" rIns="152400" bIns="95250">
                      <a:noAutofit/>
                    </a:bodyPr>
                    <a:lstStyle/>
                    <a:p>
                      <a:r>
                        <a:rPr sz="1800" b="1">
                          <a:solidFill>
                            <a:srgbClr val="102C43"/>
                          </a:solidFill>
                          <a:latin typeface="Segoe UI"/>
                          <a:ea typeface="Segoe UI"/>
                          <a:cs typeface="Segoe UI"/>
                        </a:rPr>
                        <a:t>AI in healthcare emerging trends</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Up to 8 results</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8 returned</a:t>
                      </a:r>
                    </a:p>
                  </a:txBody>
                  <a:tcPr marL="91440" marR="91440" marT="45720" marB="45720">
                    <a:solidFill>
                      <a:srgbClr val="FFFFFF"/>
                    </a:solidFill>
                  </a:tcPr>
                </a:tc>
              </a:tr>
              <a:tr h="642938">
                <a:tc>
                  <a:txBody>
                    <a:bodyPr lIns="152400" tIns="114300" rIns="152400" bIns="95250">
                      <a:noAutofit/>
                    </a:bodyPr>
                    <a:lstStyle/>
                    <a:p>
                      <a:r>
                        <a:rPr sz="1800" b="1">
                          <a:solidFill>
                            <a:srgbClr val="102C43"/>
                          </a:solidFill>
                          <a:latin typeface="Segoe UI"/>
                          <a:ea typeface="Segoe UI"/>
                          <a:cs typeface="Segoe UI"/>
                        </a:rPr>
                        <a:t>AI in healthcare regulation governance</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Up to 8 results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8 returned</a:t>
                      </a:r>
                    </a:p>
                  </a:txBody>
                  <a:tcPr marL="91440" marR="91440" marT="45720" marB="45720">
                    <a:solidFill>
                      <a:srgbClr val="F5F8FB"/>
                    </a:solidFill>
                  </a:tcPr>
                </a:tc>
              </a:tr>
            </a:tbl>
          </a:graphicData>
        </a:graphic>
      </p:graphicFrame>
      <p:sp>
        <p:nvSpPr>
          <p:cNvPr id="8" name="24 raw hits">
            <a:extLst xmlns:a="http://schemas.openxmlformats.org/drawingml/2006/main">
              <a:ext uri="{FF2B5EF4-FFF2-40B4-BE49-F238E27FC236}">
                <a16:creationId xmlns:a16="http://schemas.microsoft.com/office/drawing/2014/main" id="{EA4E6A56-5EE1-4E94-91C2-C797319247C8}"/>
              </a:ext>
            </a:extLst>
          </p:cNvPr>
          <p:cNvSpPr>
            <a:spLocks xmlns:a="http://schemas.openxmlformats.org/drawingml/2006/main" noGrp="1"/>
          </p:cNvSpPr>
          <p:nvPr/>
        </p:nvSpPr>
        <p:spPr>
          <a:xfrm xmlns:a="http://schemas.openxmlformats.org/drawingml/2006/main">
            <a:off x="762000" y="610552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67B2"/>
                </a:solidFill>
                <a:latin typeface="Segoe UI"/>
                <a:ea typeface="Segoe UI"/>
                <a:cs typeface="Segoe UI"/>
              </a:defRPr>
            </a:pPr>
            <a:r>
              <a:rPr sz="3225" b="1">
                <a:solidFill>
                  <a:srgbClr val="1767B2"/>
                </a:solidFill>
                <a:latin typeface="Segoe UI"/>
                <a:ea typeface="Segoe UI"/>
                <a:cs typeface="Segoe UI"/>
              </a:rPr>
              <a:t>24 raw hits</a:t>
            </a:r>
          </a:p>
        </p:txBody>
      </p:sp>
      <p:sp>
        <p:nvSpPr>
          <p:cNvPr id="9" name="23 unique articles">
            <a:extLst xmlns:a="http://schemas.openxmlformats.org/drawingml/2006/main">
              <a:ext uri="{FF2B5EF4-FFF2-40B4-BE49-F238E27FC236}">
                <a16:creationId xmlns:a16="http://schemas.microsoft.com/office/drawing/2014/main" id="{21B98C6A-40D6-4C91-9E3F-15B1C25EDE88}"/>
              </a:ext>
            </a:extLst>
          </p:cNvPr>
          <p:cNvSpPr>
            <a:spLocks xmlns:a="http://schemas.openxmlformats.org/drawingml/2006/main" noGrp="1"/>
          </p:cNvSpPr>
          <p:nvPr/>
        </p:nvSpPr>
        <p:spPr>
          <a:xfrm xmlns:a="http://schemas.openxmlformats.org/drawingml/2006/main">
            <a:off x="5476875" y="6105525"/>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007D82"/>
                </a:solidFill>
                <a:latin typeface="Segoe UI"/>
                <a:ea typeface="Segoe UI"/>
                <a:cs typeface="Segoe UI"/>
              </a:defRPr>
            </a:pPr>
            <a:r>
              <a:rPr sz="3225" b="1">
                <a:solidFill>
                  <a:srgbClr val="007D82"/>
                </a:solidFill>
                <a:latin typeface="Segoe UI"/>
                <a:ea typeface="Segoe UI"/>
                <a:cs typeface="Segoe UI"/>
              </a:rPr>
              <a:t>23 unique articles</a:t>
            </a:r>
          </a:p>
        </p:txBody>
      </p:sp>
      <p:sp>
        <p:nvSpPr>
          <p:cNvPr id="10" name="20 outlets">
            <a:extLst xmlns:a="http://schemas.openxmlformats.org/drawingml/2006/main">
              <a:ext uri="{FF2B5EF4-FFF2-40B4-BE49-F238E27FC236}">
                <a16:creationId xmlns:a16="http://schemas.microsoft.com/office/drawing/2014/main" id="{A342F9D5-7343-4609-A359-A24028578C6B}"/>
              </a:ext>
            </a:extLst>
          </p:cNvPr>
          <p:cNvSpPr>
            <a:spLocks xmlns:a="http://schemas.openxmlformats.org/drawingml/2006/main" noGrp="1"/>
          </p:cNvSpPr>
          <p:nvPr/>
        </p:nvSpPr>
        <p:spPr>
          <a:xfrm xmlns:a="http://schemas.openxmlformats.org/drawingml/2006/main">
            <a:off x="10953750" y="610552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007D82"/>
                </a:solidFill>
                <a:latin typeface="Segoe UI"/>
                <a:ea typeface="Segoe UI"/>
                <a:cs typeface="Segoe UI"/>
              </a:defRPr>
            </a:pPr>
            <a:r>
              <a:rPr sz="3225" b="1">
                <a:solidFill>
                  <a:srgbClr val="007D82"/>
                </a:solidFill>
                <a:latin typeface="Segoe UI"/>
                <a:ea typeface="Segoe UI"/>
                <a:cs typeface="Segoe UI"/>
              </a:rPr>
              <a:t>20 outlets</a:t>
            </a:r>
          </a:p>
        </p:txBody>
      </p:sp>
      <p:sp>
        <p:nvSpPr>
          <p:cNvPr id="11" name="Recorded example: cached Tavily results. Output retains">
            <a:extLst xmlns:a="http://schemas.openxmlformats.org/drawingml/2006/main">
              <a:ext uri="{FF2B5EF4-FFF2-40B4-BE49-F238E27FC236}">
                <a16:creationId xmlns:a16="http://schemas.microsoft.com/office/drawing/2014/main" id="{D70EFE67-DF47-4082-A11C-EF5B120F2157}"/>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Recorded example: cached Tavily results. Output retains title, URL, domain, snippet, date and source.</a:t>
            </a:r>
          </a:p>
        </p:txBody>
      </p:sp>
    </p:spTree>
    <p:extLst>
      <p:ext uri="{BB962C8B-B14F-4D97-AF65-F5344CB8AC3E}">
        <p14:creationId xmlns:p14="http://schemas.microsoft.com/office/powerpoint/2010/main" val="17924525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AGENT 03">
            <a:extLst xmlns:a="http://schemas.openxmlformats.org/drawingml/2006/main">
              <a:ext uri="{FF2B5EF4-FFF2-40B4-BE49-F238E27FC236}">
                <a16:creationId xmlns:a16="http://schemas.microsoft.com/office/drawing/2014/main" id="{7E74891C-1BD8-4436-80CD-02769AB02FEB}"/>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AGENT 03</a:t>
            </a:r>
          </a:p>
        </p:txBody>
      </p:sp>
      <p:sp>
        <p:nvSpPr>
          <p:cNvPr id="2" name="Topic consolidation preserves article provenance">
            <a:extLst xmlns:a="http://schemas.openxmlformats.org/drawingml/2006/main">
              <a:ext uri="{FF2B5EF4-FFF2-40B4-BE49-F238E27FC236}">
                <a16:creationId xmlns:a16="http://schemas.microsoft.com/office/drawing/2014/main" id="{D0126E54-6CC5-43F9-BE51-1F998718F94E}"/>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Topic consolidation preserves article provenance</a:t>
            </a:r>
          </a:p>
        </p:txBody>
      </p:sp>
      <p:sp>
        <p:nvSpPr>
          <p:cNvPr id="3" name="">
            <a:extLst xmlns:a="http://schemas.openxmlformats.org/drawingml/2006/main">
              <a:ext uri="{FF2B5EF4-FFF2-40B4-BE49-F238E27FC236}">
                <a16:creationId xmlns:a16="http://schemas.microsoft.com/office/drawing/2014/main" id="{DFD2B37A-3FBD-4743-9761-5789C9D8DBBA}"/>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9E0DF0D1-61D6-4D90-9894-7B2D040AB654}"/>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08">
            <a:extLst xmlns:a="http://schemas.openxmlformats.org/drawingml/2006/main">
              <a:ext uri="{FF2B5EF4-FFF2-40B4-BE49-F238E27FC236}">
                <a16:creationId xmlns:a16="http://schemas.microsoft.com/office/drawing/2014/main" id="{F8E71C57-E8AD-44F3-A718-A4226F6451E9}"/>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08</a:t>
            </a:r>
          </a:p>
        </p:txBody>
      </p:sp>
      <p:sp>
        <p:nvSpPr>
          <p:cNvPr id="6" name="">
            <a:extLst xmlns:a="http://schemas.openxmlformats.org/drawingml/2006/main">
              <a:ext uri="{FF2B5EF4-FFF2-40B4-BE49-F238E27FC236}">
                <a16:creationId xmlns:a16="http://schemas.microsoft.com/office/drawing/2014/main" id="{9556D18A-1699-498D-A032-9024E5F09647}"/>
              </a:ext>
            </a:extLst>
          </p:cNvPr>
          <p:cNvSpPr>
            <a:spLocks xmlns:a="http://schemas.openxmlformats.org/drawingml/2006/main" noGrp="1"/>
          </p:cNvSpPr>
          <p:nvPr/>
        </p:nvSpPr>
        <p:spPr>
          <a:xfrm xmlns:a="http://schemas.openxmlformats.org/drawingml/2006/main">
            <a:off x="762000" y="2667000"/>
            <a:ext cx="3143250" cy="200025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7" name="01">
            <a:extLst xmlns:a="http://schemas.openxmlformats.org/drawingml/2006/main">
              <a:ext uri="{FF2B5EF4-FFF2-40B4-BE49-F238E27FC236}">
                <a16:creationId xmlns:a16="http://schemas.microsoft.com/office/drawing/2014/main" id="{A8E406EB-8E6F-44DB-9F78-7FE13CF5801E}"/>
              </a:ext>
            </a:extLst>
          </p:cNvPr>
          <p:cNvSpPr>
            <a:spLocks xmlns:a="http://schemas.openxmlformats.org/drawingml/2006/main" noGrp="1"/>
          </p:cNvSpPr>
          <p:nvPr/>
        </p:nvSpPr>
        <p:spPr>
          <a:xfrm xmlns:a="http://schemas.openxmlformats.org/drawingml/2006/main">
            <a:off x="952500" y="285750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01</a:t>
            </a:r>
          </a:p>
        </p:txBody>
      </p:sp>
      <p:sp>
        <p:nvSpPr>
          <p:cNvPr id="8" name="12 articles">
            <a:extLst xmlns:a="http://schemas.openxmlformats.org/drawingml/2006/main">
              <a:ext uri="{FF2B5EF4-FFF2-40B4-BE49-F238E27FC236}">
                <a16:creationId xmlns:a16="http://schemas.microsoft.com/office/drawing/2014/main" id="{F2597FAD-4B47-4ADE-B99A-95E634C38299}"/>
              </a:ext>
            </a:extLst>
          </p:cNvPr>
          <p:cNvSpPr>
            <a:spLocks xmlns:a="http://schemas.openxmlformats.org/drawingml/2006/main" noGrp="1"/>
          </p:cNvSpPr>
          <p:nvPr/>
        </p:nvSpPr>
        <p:spPr>
          <a:xfrm xmlns:a="http://schemas.openxmlformats.org/drawingml/2006/main">
            <a:off x="952500" y="3238500"/>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12 articles</a:t>
            </a:r>
          </a:p>
        </p:txBody>
      </p:sp>
      <p:sp>
        <p:nvSpPr>
          <p:cNvPr id="9" name="Batch extraction">
            <a:extLst xmlns:a="http://schemas.openxmlformats.org/drawingml/2006/main">
              <a:ext uri="{FF2B5EF4-FFF2-40B4-BE49-F238E27FC236}">
                <a16:creationId xmlns:a16="http://schemas.microsoft.com/office/drawing/2014/main" id="{52DCEF97-14DA-4345-8ABF-B1776C629AC0}"/>
              </a:ext>
            </a:extLst>
          </p:cNvPr>
          <p:cNvSpPr>
            <a:spLocks xmlns:a="http://schemas.openxmlformats.org/drawingml/2006/main" noGrp="1"/>
          </p:cNvSpPr>
          <p:nvPr/>
        </p:nvSpPr>
        <p:spPr>
          <a:xfrm xmlns:a="http://schemas.openxmlformats.org/drawingml/2006/main">
            <a:off x="952500" y="3848100"/>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Batch extraction</a:t>
            </a:r>
          </a:p>
        </p:txBody>
      </p:sp>
      <p:sp>
        <p:nvSpPr>
          <p:cNvPr id="10" name="">
            <a:extLst xmlns:a="http://schemas.openxmlformats.org/drawingml/2006/main">
              <a:ext uri="{FF2B5EF4-FFF2-40B4-BE49-F238E27FC236}">
                <a16:creationId xmlns:a16="http://schemas.microsoft.com/office/drawing/2014/main" id="{ACC01347-900D-46B2-8A20-18C0494B2058}"/>
              </a:ext>
            </a:extLst>
          </p:cNvPr>
          <p:cNvSpPr>
            <a:spLocks xmlns:a="http://schemas.openxmlformats.org/drawingml/2006/main" noGrp="1"/>
          </p:cNvSpPr>
          <p:nvPr/>
        </p:nvSpPr>
        <p:spPr>
          <a:xfrm xmlns:a="http://schemas.openxmlformats.org/drawingml/2006/main">
            <a:off x="4286250" y="2667000"/>
            <a:ext cx="3143250" cy="200025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1" name="02">
            <a:extLst xmlns:a="http://schemas.openxmlformats.org/drawingml/2006/main">
              <a:ext uri="{FF2B5EF4-FFF2-40B4-BE49-F238E27FC236}">
                <a16:creationId xmlns:a16="http://schemas.microsoft.com/office/drawing/2014/main" id="{58ECCF92-7A19-4D2C-BE0E-84CDE16B4B4E}"/>
              </a:ext>
            </a:extLst>
          </p:cNvPr>
          <p:cNvSpPr>
            <a:spLocks xmlns:a="http://schemas.openxmlformats.org/drawingml/2006/main" noGrp="1"/>
          </p:cNvSpPr>
          <p:nvPr/>
        </p:nvSpPr>
        <p:spPr>
          <a:xfrm xmlns:a="http://schemas.openxmlformats.org/drawingml/2006/main">
            <a:off x="4476750" y="285750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02</a:t>
            </a:r>
          </a:p>
        </p:txBody>
      </p:sp>
      <p:sp>
        <p:nvSpPr>
          <p:cNvPr id="12" name="24 mentions">
            <a:extLst xmlns:a="http://schemas.openxmlformats.org/drawingml/2006/main">
              <a:ext uri="{FF2B5EF4-FFF2-40B4-BE49-F238E27FC236}">
                <a16:creationId xmlns:a16="http://schemas.microsoft.com/office/drawing/2014/main" id="{5F49D99D-849D-43A6-A863-FA501732B828}"/>
              </a:ext>
            </a:extLst>
          </p:cNvPr>
          <p:cNvSpPr>
            <a:spLocks xmlns:a="http://schemas.openxmlformats.org/drawingml/2006/main" noGrp="1"/>
          </p:cNvSpPr>
          <p:nvPr/>
        </p:nvSpPr>
        <p:spPr>
          <a:xfrm xmlns:a="http://schemas.openxmlformats.org/drawingml/2006/main">
            <a:off x="4476750" y="3238500"/>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24 mentions</a:t>
            </a:r>
          </a:p>
        </p:txBody>
      </p:sp>
      <p:sp>
        <p:nvSpPr>
          <p:cNvPr id="13" name="Clean and deduplicate">
            <a:extLst xmlns:a="http://schemas.openxmlformats.org/drawingml/2006/main">
              <a:ext uri="{FF2B5EF4-FFF2-40B4-BE49-F238E27FC236}">
                <a16:creationId xmlns:a16="http://schemas.microsoft.com/office/drawing/2014/main" id="{5E8348A6-A18D-4B87-9727-96C92DC6C3BA}"/>
              </a:ext>
            </a:extLst>
          </p:cNvPr>
          <p:cNvSpPr>
            <a:spLocks xmlns:a="http://schemas.openxmlformats.org/drawingml/2006/main" noGrp="1"/>
          </p:cNvSpPr>
          <p:nvPr/>
        </p:nvSpPr>
        <p:spPr>
          <a:xfrm xmlns:a="http://schemas.openxmlformats.org/drawingml/2006/main">
            <a:off x="4476750" y="3848100"/>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Clean and deduplicate</a:t>
            </a:r>
          </a:p>
        </p:txBody>
      </p:sp>
      <p:cxnSp>
        <p:nvCxnSpPr>
          <p:cNvPr id="43" name=""/>
          <p:cNvCxnSpPr>
            <a:stCxn xmlns:a="http://schemas.openxmlformats.org/drawingml/2006/main" id="6" idx="3"/>
            <a:endCxn xmlns:a="http://schemas.openxmlformats.org/drawingml/2006/main" id="10" idx="1"/>
          </p:cNvCxnSpPr>
          <p:nvPr/>
        </p:nvCxnSpPr>
        <p:spPr>
          <a:xfrm xmlns:a="http://schemas.openxmlformats.org/drawingml/2006/main">
            <a:off x="3905250" y="3667125"/>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5" name="">
            <a:extLst xmlns:a="http://schemas.openxmlformats.org/drawingml/2006/main">
              <a:ext uri="{FF2B5EF4-FFF2-40B4-BE49-F238E27FC236}">
                <a16:creationId xmlns:a16="http://schemas.microsoft.com/office/drawing/2014/main" id="{15EC21E1-E6C9-4FF9-B07A-996E1C0884BE}"/>
              </a:ext>
            </a:extLst>
          </p:cNvPr>
          <p:cNvSpPr>
            <a:spLocks xmlns:a="http://schemas.openxmlformats.org/drawingml/2006/main" noGrp="1"/>
          </p:cNvSpPr>
          <p:nvPr/>
        </p:nvSpPr>
        <p:spPr>
          <a:xfrm xmlns:a="http://schemas.openxmlformats.org/drawingml/2006/main">
            <a:off x="7810500" y="2667000"/>
            <a:ext cx="3143250" cy="200025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6" name="03">
            <a:extLst xmlns:a="http://schemas.openxmlformats.org/drawingml/2006/main">
              <a:ext uri="{FF2B5EF4-FFF2-40B4-BE49-F238E27FC236}">
                <a16:creationId xmlns:a16="http://schemas.microsoft.com/office/drawing/2014/main" id="{CA5B167D-8D75-4F57-A93A-673A1B6CD0D1}"/>
              </a:ext>
            </a:extLst>
          </p:cNvPr>
          <p:cNvSpPr>
            <a:spLocks xmlns:a="http://schemas.openxmlformats.org/drawingml/2006/main" noGrp="1"/>
          </p:cNvSpPr>
          <p:nvPr/>
        </p:nvSpPr>
        <p:spPr>
          <a:xfrm xmlns:a="http://schemas.openxmlformats.org/drawingml/2006/main">
            <a:off x="8001000" y="285750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03</a:t>
            </a:r>
          </a:p>
        </p:txBody>
      </p:sp>
      <p:sp>
        <p:nvSpPr>
          <p:cNvPr id="17" name="16 phrases">
            <a:extLst xmlns:a="http://schemas.openxmlformats.org/drawingml/2006/main">
              <a:ext uri="{FF2B5EF4-FFF2-40B4-BE49-F238E27FC236}">
                <a16:creationId xmlns:a16="http://schemas.microsoft.com/office/drawing/2014/main" id="{31D90A5E-8421-40C7-A023-6B042F421DBF}"/>
              </a:ext>
            </a:extLst>
          </p:cNvPr>
          <p:cNvSpPr>
            <a:spLocks xmlns:a="http://schemas.openxmlformats.org/drawingml/2006/main" noGrp="1"/>
          </p:cNvSpPr>
          <p:nvPr/>
        </p:nvSpPr>
        <p:spPr>
          <a:xfrm xmlns:a="http://schemas.openxmlformats.org/drawingml/2006/main">
            <a:off x="8001000" y="3238500"/>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16 phrases</a:t>
            </a:r>
          </a:p>
        </p:txBody>
      </p:sp>
      <p:sp>
        <p:nvSpPr>
          <p:cNvPr id="18" name="Embed and group">
            <a:extLst xmlns:a="http://schemas.openxmlformats.org/drawingml/2006/main">
              <a:ext uri="{FF2B5EF4-FFF2-40B4-BE49-F238E27FC236}">
                <a16:creationId xmlns:a16="http://schemas.microsoft.com/office/drawing/2014/main" id="{B3245B20-CC91-438C-A048-B7B713DA711C}"/>
              </a:ext>
            </a:extLst>
          </p:cNvPr>
          <p:cNvSpPr>
            <a:spLocks xmlns:a="http://schemas.openxmlformats.org/drawingml/2006/main" noGrp="1"/>
          </p:cNvSpPr>
          <p:nvPr/>
        </p:nvSpPr>
        <p:spPr>
          <a:xfrm xmlns:a="http://schemas.openxmlformats.org/drawingml/2006/main">
            <a:off x="8001000" y="3848100"/>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Embed and group</a:t>
            </a:r>
          </a:p>
        </p:txBody>
      </p:sp>
      <p:cxnSp>
        <p:nvCxnSpPr>
          <p:cNvPr id="48" name=""/>
          <p:cNvCxnSpPr>
            <a:stCxn xmlns:a="http://schemas.openxmlformats.org/drawingml/2006/main" id="10" idx="3"/>
            <a:endCxn xmlns:a="http://schemas.openxmlformats.org/drawingml/2006/main" id="15" idx="1"/>
          </p:cNvCxnSpPr>
          <p:nvPr/>
        </p:nvCxnSpPr>
        <p:spPr>
          <a:xfrm xmlns:a="http://schemas.openxmlformats.org/drawingml/2006/main">
            <a:off x="7429500" y="3667125"/>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0" name="">
            <a:extLst xmlns:a="http://schemas.openxmlformats.org/drawingml/2006/main">
              <a:ext uri="{FF2B5EF4-FFF2-40B4-BE49-F238E27FC236}">
                <a16:creationId xmlns:a16="http://schemas.microsoft.com/office/drawing/2014/main" id="{59809A3A-6CE5-4702-8EB4-E7F85686FF34}"/>
              </a:ext>
            </a:extLst>
          </p:cNvPr>
          <p:cNvSpPr>
            <a:spLocks xmlns:a="http://schemas.openxmlformats.org/drawingml/2006/main" noGrp="1"/>
          </p:cNvSpPr>
          <p:nvPr/>
        </p:nvSpPr>
        <p:spPr>
          <a:xfrm xmlns:a="http://schemas.openxmlformats.org/drawingml/2006/main">
            <a:off x="11334750" y="2667000"/>
            <a:ext cx="3143250" cy="200025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21" name="04">
            <a:extLst xmlns:a="http://schemas.openxmlformats.org/drawingml/2006/main">
              <a:ext uri="{FF2B5EF4-FFF2-40B4-BE49-F238E27FC236}">
                <a16:creationId xmlns:a16="http://schemas.microsoft.com/office/drawing/2014/main" id="{43C4A4CA-86C9-425E-890B-7CD47FDDB45E}"/>
              </a:ext>
            </a:extLst>
          </p:cNvPr>
          <p:cNvSpPr>
            <a:spLocks xmlns:a="http://schemas.openxmlformats.org/drawingml/2006/main" noGrp="1"/>
          </p:cNvSpPr>
          <p:nvPr/>
        </p:nvSpPr>
        <p:spPr>
          <a:xfrm xmlns:a="http://schemas.openxmlformats.org/drawingml/2006/main">
            <a:off x="11525250" y="285750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04</a:t>
            </a:r>
          </a:p>
        </p:txBody>
      </p:sp>
      <p:sp>
        <p:nvSpPr>
          <p:cNvPr id="22" name="3 topics">
            <a:extLst xmlns:a="http://schemas.openxmlformats.org/drawingml/2006/main">
              <a:ext uri="{FF2B5EF4-FFF2-40B4-BE49-F238E27FC236}">
                <a16:creationId xmlns:a16="http://schemas.microsoft.com/office/drawing/2014/main" id="{F8DE524D-7E6B-4A86-9016-C1BEDDB21378}"/>
              </a:ext>
            </a:extLst>
          </p:cNvPr>
          <p:cNvSpPr>
            <a:spLocks xmlns:a="http://schemas.openxmlformats.org/drawingml/2006/main" noGrp="1"/>
          </p:cNvSpPr>
          <p:nvPr/>
        </p:nvSpPr>
        <p:spPr>
          <a:xfrm xmlns:a="http://schemas.openxmlformats.org/drawingml/2006/main">
            <a:off x="11525250" y="3238500"/>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3 topics</a:t>
            </a:r>
          </a:p>
        </p:txBody>
      </p:sp>
      <p:sp>
        <p:nvSpPr>
          <p:cNvPr id="23" name="Name and map back">
            <a:extLst xmlns:a="http://schemas.openxmlformats.org/drawingml/2006/main">
              <a:ext uri="{FF2B5EF4-FFF2-40B4-BE49-F238E27FC236}">
                <a16:creationId xmlns:a16="http://schemas.microsoft.com/office/drawing/2014/main" id="{3737557B-D5D4-4DBC-A7C9-B6CACC75C577}"/>
              </a:ext>
            </a:extLst>
          </p:cNvPr>
          <p:cNvSpPr>
            <a:spLocks xmlns:a="http://schemas.openxmlformats.org/drawingml/2006/main" noGrp="1"/>
          </p:cNvSpPr>
          <p:nvPr/>
        </p:nvSpPr>
        <p:spPr>
          <a:xfrm xmlns:a="http://schemas.openxmlformats.org/drawingml/2006/main">
            <a:off x="11525250" y="3848100"/>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Name and map back</a:t>
            </a:r>
          </a:p>
        </p:txBody>
      </p:sp>
      <p:cxnSp>
        <p:nvCxnSpPr>
          <p:cNvPr id="53" name=""/>
          <p:cNvCxnSpPr>
            <a:stCxn xmlns:a="http://schemas.openxmlformats.org/drawingml/2006/main" id="15" idx="3"/>
            <a:endCxn xmlns:a="http://schemas.openxmlformats.org/drawingml/2006/main" id="20" idx="1"/>
          </p:cNvCxnSpPr>
          <p:nvPr/>
        </p:nvCxnSpPr>
        <p:spPr>
          <a:xfrm xmlns:a="http://schemas.openxmlformats.org/drawingml/2006/main">
            <a:off x="10953750" y="3667125"/>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5" name="What the model does">
            <a:extLst xmlns:a="http://schemas.openxmlformats.org/drawingml/2006/main">
              <a:ext uri="{FF2B5EF4-FFF2-40B4-BE49-F238E27FC236}">
                <a16:creationId xmlns:a16="http://schemas.microsoft.com/office/drawing/2014/main" id="{8E7B01E2-E8EA-4A06-825A-8DB2BA9DBD75}"/>
              </a:ext>
            </a:extLst>
          </p:cNvPr>
          <p:cNvSpPr>
            <a:spLocks xmlns:a="http://schemas.openxmlformats.org/drawingml/2006/main" noGrp="1"/>
          </p:cNvSpPr>
          <p:nvPr/>
        </p:nvSpPr>
        <p:spPr>
          <a:xfrm xmlns:a="http://schemas.openxmlformats.org/drawingml/2006/main">
            <a:off x="762000" y="52197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What the model does</a:t>
            </a:r>
          </a:p>
        </p:txBody>
      </p:sp>
      <p:sp>
        <p:nvSpPr>
          <p:cNvPr id="26" name="Extracts themes, then names and optionally merges group">
            <a:extLst xmlns:a="http://schemas.openxmlformats.org/drawingml/2006/main">
              <a:ext uri="{FF2B5EF4-FFF2-40B4-BE49-F238E27FC236}">
                <a16:creationId xmlns:a16="http://schemas.microsoft.com/office/drawing/2014/main" id="{EEEFCBD3-DD59-4A92-9A43-9D47C71EA9D3}"/>
              </a:ext>
            </a:extLst>
          </p:cNvPr>
          <p:cNvSpPr>
            <a:spLocks xmlns:a="http://schemas.openxmlformats.org/drawingml/2006/main" noGrp="1"/>
          </p:cNvSpPr>
          <p:nvPr/>
        </p:nvSpPr>
        <p:spPr>
          <a:xfrm xmlns:a="http://schemas.openxmlformats.org/drawingml/2006/main">
            <a:off x="762000" y="5829300"/>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Extracts themes, then names and optionally merges groups. The second call returns member group IDs.</a:t>
            </a:r>
          </a:p>
        </p:txBody>
      </p:sp>
      <p:sp>
        <p:nvSpPr>
          <p:cNvPr id="27" name="What code preserves">
            <a:extLst xmlns:a="http://schemas.openxmlformats.org/drawingml/2006/main">
              <a:ext uri="{FF2B5EF4-FFF2-40B4-BE49-F238E27FC236}">
                <a16:creationId xmlns:a16="http://schemas.microsoft.com/office/drawing/2014/main" id="{462A7AC5-F74B-45C3-A86F-8BA1078D86E3}"/>
              </a:ext>
            </a:extLst>
          </p:cNvPr>
          <p:cNvSpPr>
            <a:spLocks xmlns:a="http://schemas.openxmlformats.org/drawingml/2006/main" noGrp="1"/>
          </p:cNvSpPr>
          <p:nvPr/>
        </p:nvSpPr>
        <p:spPr>
          <a:xfrm xmlns:a="http://schemas.openxmlformats.org/drawingml/2006/main">
            <a:off x="8096250" y="52197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What code preserves</a:t>
            </a:r>
          </a:p>
        </p:txBody>
      </p:sp>
      <p:sp>
        <p:nvSpPr>
          <p:cNvPr id="28" name="Article URLs, distinct sources, dates, aliases, entitie">
            <a:extLst xmlns:a="http://schemas.openxmlformats.org/drawingml/2006/main">
              <a:ext uri="{FF2B5EF4-FFF2-40B4-BE49-F238E27FC236}">
                <a16:creationId xmlns:a16="http://schemas.microsoft.com/office/drawing/2014/main" id="{4B7CE16C-7D15-4FE1-8D17-53F9C44EA096}"/>
              </a:ext>
            </a:extLst>
          </p:cNvPr>
          <p:cNvSpPr>
            <a:spLocks xmlns:a="http://schemas.openxmlformats.org/drawingml/2006/main" noGrp="1"/>
          </p:cNvSpPr>
          <p:nvPr/>
        </p:nvSpPr>
        <p:spPr>
          <a:xfrm xmlns:a="http://schemas.openxmlformats.org/drawingml/2006/main">
            <a:off x="8096250" y="5829300"/>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Article URLs, distinct sources, dates, aliases, entities and drivers map back to each canonical topic.</a:t>
            </a:r>
          </a:p>
        </p:txBody>
      </p:sp>
      <p:sp>
        <p:nvSpPr>
          <p:cNvPr id="29" name="Illustrative counts. One article may support multiple t">
            <a:extLst xmlns:a="http://schemas.openxmlformats.org/drawingml/2006/main">
              <a:ext uri="{FF2B5EF4-FFF2-40B4-BE49-F238E27FC236}">
                <a16:creationId xmlns:a16="http://schemas.microsoft.com/office/drawing/2014/main" id="{00E0619F-B74B-485A-BA35-431F70C935B1}"/>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Illustrative counts. One article may support multiple topics. Twelve articles do not become three articles.</a:t>
            </a:r>
          </a:p>
        </p:txBody>
      </p:sp>
    </p:spTree>
    <p:extLst>
      <p:ext uri="{BB962C8B-B14F-4D97-AF65-F5344CB8AC3E}">
        <p14:creationId xmlns:p14="http://schemas.microsoft.com/office/powerpoint/2010/main" val="36738460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AGENT 04">
            <a:extLst xmlns:a="http://schemas.openxmlformats.org/drawingml/2006/main">
              <a:ext uri="{FF2B5EF4-FFF2-40B4-BE49-F238E27FC236}">
                <a16:creationId xmlns:a16="http://schemas.microsoft.com/office/drawing/2014/main" id="{04BCCD39-1A62-4093-B3C3-7E2942C8F260}"/>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AGENT 04</a:t>
            </a:r>
          </a:p>
        </p:txBody>
      </p:sp>
      <p:sp>
        <p:nvSpPr>
          <p:cNvPr id="2" name="Attention quantifies the observed news sample">
            <a:extLst xmlns:a="http://schemas.openxmlformats.org/drawingml/2006/main">
              <a:ext uri="{FF2B5EF4-FFF2-40B4-BE49-F238E27FC236}">
                <a16:creationId xmlns:a16="http://schemas.microsoft.com/office/drawing/2014/main" id="{DAC1C73D-DA16-4F93-8CDF-0ABCE2923BD4}"/>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Attention quantifies the observed news sample</a:t>
            </a:r>
          </a:p>
        </p:txBody>
      </p:sp>
      <p:sp>
        <p:nvSpPr>
          <p:cNvPr id="3" name="">
            <a:extLst xmlns:a="http://schemas.openxmlformats.org/drawingml/2006/main">
              <a:ext uri="{FF2B5EF4-FFF2-40B4-BE49-F238E27FC236}">
                <a16:creationId xmlns:a16="http://schemas.microsoft.com/office/drawing/2014/main" id="{50723163-E1B9-414D-8094-D951A23CA3BF}"/>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D8CF87D5-1612-436F-A9BD-D655CCBFEB57}"/>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09">
            <a:extLst xmlns:a="http://schemas.openxmlformats.org/drawingml/2006/main">
              <a:ext uri="{FF2B5EF4-FFF2-40B4-BE49-F238E27FC236}">
                <a16:creationId xmlns:a16="http://schemas.microsoft.com/office/drawing/2014/main" id="{0CBA7A21-04D6-45B1-B2E7-5730A8976DCB}"/>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09</a:t>
            </a:r>
          </a:p>
        </p:txBody>
      </p:sp>
      <p:sp>
        <p:nvSpPr>
          <p:cNvPr id="6" name="4">
            <a:extLst xmlns:a="http://schemas.openxmlformats.org/drawingml/2006/main">
              <a:ext uri="{FF2B5EF4-FFF2-40B4-BE49-F238E27FC236}">
                <a16:creationId xmlns:a16="http://schemas.microsoft.com/office/drawing/2014/main" id="{8D48A7E5-4323-4873-B82F-2D9F90B33A2E}"/>
              </a:ext>
            </a:extLst>
          </p:cNvPr>
          <p:cNvSpPr>
            <a:spLocks xmlns:a="http://schemas.openxmlformats.org/drawingml/2006/main" noGrp="1"/>
          </p:cNvSpPr>
          <p:nvPr/>
        </p:nvSpPr>
        <p:spPr>
          <a:xfrm xmlns:a="http://schemas.openxmlformats.org/drawingml/2006/main">
            <a:off x="762000" y="252412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375" b="1">
                <a:solidFill>
                  <a:srgbClr val="007D82"/>
                </a:solidFill>
                <a:latin typeface="Segoe UI"/>
                <a:ea typeface="Segoe UI"/>
                <a:cs typeface="Segoe UI"/>
              </a:defRPr>
            </a:pPr>
            <a:r>
              <a:rPr sz="6375" b="1">
                <a:solidFill>
                  <a:srgbClr val="007D82"/>
                </a:solidFill>
                <a:latin typeface="Segoe UI"/>
                <a:ea typeface="Segoe UI"/>
                <a:cs typeface="Segoe UI"/>
              </a:rPr>
              <a:t>4</a:t>
            </a:r>
          </a:p>
        </p:txBody>
      </p:sp>
      <p:sp>
        <p:nvSpPr>
          <p:cNvPr id="7" name="Distinct outlets">
            <a:extLst xmlns:a="http://schemas.openxmlformats.org/drawingml/2006/main">
              <a:ext uri="{FF2B5EF4-FFF2-40B4-BE49-F238E27FC236}">
                <a16:creationId xmlns:a16="http://schemas.microsoft.com/office/drawing/2014/main" id="{343CF14C-1388-4233-BF8F-4D1FF50096FB}"/>
              </a:ext>
            </a:extLst>
          </p:cNvPr>
          <p:cNvSpPr>
            <a:spLocks xmlns:a="http://schemas.openxmlformats.org/drawingml/2006/main" noGrp="1"/>
          </p:cNvSpPr>
          <p:nvPr/>
        </p:nvSpPr>
        <p:spPr>
          <a:xfrm xmlns:a="http://schemas.openxmlformats.org/drawingml/2006/main">
            <a:off x="762000" y="36195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Distinct outlets</a:t>
            </a:r>
          </a:p>
        </p:txBody>
      </p:sp>
      <p:sp>
        <p:nvSpPr>
          <p:cNvPr id="8" name="5">
            <a:extLst xmlns:a="http://schemas.openxmlformats.org/drawingml/2006/main">
              <a:ext uri="{FF2B5EF4-FFF2-40B4-BE49-F238E27FC236}">
                <a16:creationId xmlns:a16="http://schemas.microsoft.com/office/drawing/2014/main" id="{564197A3-9F97-4F6B-84E6-A45FEEA308EB}"/>
              </a:ext>
            </a:extLst>
          </p:cNvPr>
          <p:cNvSpPr>
            <a:spLocks xmlns:a="http://schemas.openxmlformats.org/drawingml/2006/main" noGrp="1"/>
          </p:cNvSpPr>
          <p:nvPr/>
        </p:nvSpPr>
        <p:spPr>
          <a:xfrm xmlns:a="http://schemas.openxmlformats.org/drawingml/2006/main">
            <a:off x="5715000" y="252412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375" b="1">
                <a:solidFill>
                  <a:srgbClr val="007D82"/>
                </a:solidFill>
                <a:latin typeface="Segoe UI"/>
                <a:ea typeface="Segoe UI"/>
                <a:cs typeface="Segoe UI"/>
              </a:defRPr>
            </a:pPr>
            <a:r>
              <a:rPr sz="6375" b="1">
                <a:solidFill>
                  <a:srgbClr val="007D82"/>
                </a:solidFill>
                <a:latin typeface="Segoe UI"/>
                <a:ea typeface="Segoe UI"/>
                <a:cs typeface="Segoe UI"/>
              </a:rPr>
              <a:t>5</a:t>
            </a:r>
          </a:p>
        </p:txBody>
      </p:sp>
      <p:sp>
        <p:nvSpPr>
          <p:cNvPr id="9" name="Distinct articles">
            <a:extLst xmlns:a="http://schemas.openxmlformats.org/drawingml/2006/main">
              <a:ext uri="{FF2B5EF4-FFF2-40B4-BE49-F238E27FC236}">
                <a16:creationId xmlns:a16="http://schemas.microsoft.com/office/drawing/2014/main" id="{505FDFAD-27AA-4E67-99E7-58348E2E2358}"/>
              </a:ext>
            </a:extLst>
          </p:cNvPr>
          <p:cNvSpPr>
            <a:spLocks xmlns:a="http://schemas.openxmlformats.org/drawingml/2006/main" noGrp="1"/>
          </p:cNvSpPr>
          <p:nvPr/>
        </p:nvSpPr>
        <p:spPr>
          <a:xfrm xmlns:a="http://schemas.openxmlformats.org/drawingml/2006/main">
            <a:off x="5715000" y="36195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Distinct articles</a:t>
            </a:r>
          </a:p>
        </p:txBody>
      </p:sp>
      <p:sp>
        <p:nvSpPr>
          <p:cNvPr id="10" name="4 days">
            <a:extLst xmlns:a="http://schemas.openxmlformats.org/drawingml/2006/main">
              <a:ext uri="{FF2B5EF4-FFF2-40B4-BE49-F238E27FC236}">
                <a16:creationId xmlns:a16="http://schemas.microsoft.com/office/drawing/2014/main" id="{7934875F-4B9F-4A79-AC52-1433D45B22FE}"/>
              </a:ext>
            </a:extLst>
          </p:cNvPr>
          <p:cNvSpPr>
            <a:spLocks xmlns:a="http://schemas.openxmlformats.org/drawingml/2006/main" noGrp="1"/>
          </p:cNvSpPr>
          <p:nvPr/>
        </p:nvSpPr>
        <p:spPr>
          <a:xfrm xmlns:a="http://schemas.openxmlformats.org/drawingml/2006/main">
            <a:off x="10572750" y="2524125"/>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375" b="1">
                <a:solidFill>
                  <a:srgbClr val="007D82"/>
                </a:solidFill>
                <a:latin typeface="Segoe UI"/>
                <a:ea typeface="Segoe UI"/>
                <a:cs typeface="Segoe UI"/>
              </a:defRPr>
            </a:pPr>
            <a:r>
              <a:rPr sz="6375" b="1">
                <a:solidFill>
                  <a:srgbClr val="007D82"/>
                </a:solidFill>
                <a:latin typeface="Segoe UI"/>
                <a:ea typeface="Segoe UI"/>
                <a:cs typeface="Segoe UI"/>
              </a:rPr>
              <a:t>4 days</a:t>
            </a:r>
          </a:p>
        </p:txBody>
      </p:sp>
      <p:sp>
        <p:nvSpPr>
          <p:cNvPr id="11" name="Age of newest article">
            <a:extLst xmlns:a="http://schemas.openxmlformats.org/drawingml/2006/main">
              <a:ext uri="{FF2B5EF4-FFF2-40B4-BE49-F238E27FC236}">
                <a16:creationId xmlns:a16="http://schemas.microsoft.com/office/drawing/2014/main" id="{47E9E979-03B3-41FD-A5B3-01E8D78BA0A3}"/>
              </a:ext>
            </a:extLst>
          </p:cNvPr>
          <p:cNvSpPr>
            <a:spLocks xmlns:a="http://schemas.openxmlformats.org/drawingml/2006/main" noGrp="1"/>
          </p:cNvSpPr>
          <p:nvPr/>
        </p:nvSpPr>
        <p:spPr>
          <a:xfrm xmlns:a="http://schemas.openxmlformats.org/drawingml/2006/main">
            <a:off x="10572750" y="3619500"/>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Age of newest article</a:t>
            </a:r>
          </a:p>
        </p:txBody>
      </p:sp>
      <p:sp>
        <p:nvSpPr>
          <p:cNvPr id="12" name="">
            <a:extLst xmlns:a="http://schemas.openxmlformats.org/drawingml/2006/main">
              <a:ext uri="{FF2B5EF4-FFF2-40B4-BE49-F238E27FC236}">
                <a16:creationId xmlns:a16="http://schemas.microsoft.com/office/drawing/2014/main" id="{9F50D23F-2AC5-4776-B0BB-765022E79E90}"/>
              </a:ext>
            </a:extLst>
          </p:cNvPr>
          <p:cNvSpPr>
            <a:spLocks xmlns:a="http://schemas.openxmlformats.org/drawingml/2006/main" noGrp="1"/>
          </p:cNvSpPr>
          <p:nvPr/>
        </p:nvSpPr>
        <p:spPr>
          <a:xfrm xmlns:a="http://schemas.openxmlformats.org/drawingml/2006/main">
            <a:off x="762000" y="4638675"/>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13" name="Breadth 0.592">
            <a:extLst xmlns:a="http://schemas.openxmlformats.org/drawingml/2006/main">
              <a:ext uri="{FF2B5EF4-FFF2-40B4-BE49-F238E27FC236}">
                <a16:creationId xmlns:a16="http://schemas.microsoft.com/office/drawing/2014/main" id="{D291796C-F959-4F3E-82EA-EEB4E23197B6}"/>
              </a:ext>
            </a:extLst>
          </p:cNvPr>
          <p:cNvSpPr>
            <a:spLocks xmlns:a="http://schemas.openxmlformats.org/drawingml/2006/main" noGrp="1"/>
          </p:cNvSpPr>
          <p:nvPr/>
        </p:nvSpPr>
        <p:spPr>
          <a:xfrm xmlns:a="http://schemas.openxmlformats.org/drawingml/2006/main">
            <a:off x="762000" y="51339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02C43"/>
                </a:solidFill>
                <a:latin typeface="Segoe UI"/>
                <a:ea typeface="Segoe UI"/>
                <a:cs typeface="Segoe UI"/>
              </a:defRPr>
            </a:pPr>
            <a:r>
              <a:rPr sz="2625" b="1">
                <a:solidFill>
                  <a:srgbClr val="102C43"/>
                </a:solidFill>
                <a:latin typeface="Segoe UI"/>
                <a:ea typeface="Segoe UI"/>
                <a:cs typeface="Segoe UI"/>
              </a:rPr>
              <a:t>Breadth 0.592</a:t>
            </a:r>
          </a:p>
        </p:txBody>
      </p:sp>
      <p:sp>
        <p:nvSpPr>
          <p:cNvPr id="14" name="Recency 0.875">
            <a:extLst xmlns:a="http://schemas.openxmlformats.org/drawingml/2006/main">
              <a:ext uri="{FF2B5EF4-FFF2-40B4-BE49-F238E27FC236}">
                <a16:creationId xmlns:a16="http://schemas.microsoft.com/office/drawing/2014/main" id="{D60E39B3-1F3C-44B3-9E2A-CB34B033B670}"/>
              </a:ext>
            </a:extLst>
          </p:cNvPr>
          <p:cNvSpPr>
            <a:spLocks xmlns:a="http://schemas.openxmlformats.org/drawingml/2006/main" noGrp="1"/>
          </p:cNvSpPr>
          <p:nvPr/>
        </p:nvSpPr>
        <p:spPr>
          <a:xfrm xmlns:a="http://schemas.openxmlformats.org/drawingml/2006/main">
            <a:off x="8096250" y="51339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02C43"/>
                </a:solidFill>
                <a:latin typeface="Segoe UI"/>
                <a:ea typeface="Segoe UI"/>
                <a:cs typeface="Segoe UI"/>
              </a:defRPr>
            </a:pPr>
            <a:r>
              <a:rPr sz="2625" b="1">
                <a:solidFill>
                  <a:srgbClr val="102C43"/>
                </a:solidFill>
                <a:latin typeface="Segoe UI"/>
                <a:ea typeface="Segoe UI"/>
                <a:cs typeface="Segoe UI"/>
              </a:rPr>
              <a:t>Recency 0.875</a:t>
            </a:r>
          </a:p>
        </p:txBody>
      </p:sp>
      <p:sp>
        <p:nvSpPr>
          <p:cNvPr id="15" name="Attention = 70% × breadth + 30% × recency">
            <a:extLst xmlns:a="http://schemas.openxmlformats.org/drawingml/2006/main">
              <a:ext uri="{FF2B5EF4-FFF2-40B4-BE49-F238E27FC236}">
                <a16:creationId xmlns:a16="http://schemas.microsoft.com/office/drawing/2014/main" id="{6AACAC0A-A171-4483-A37E-4462936FAF8B}"/>
              </a:ext>
            </a:extLst>
          </p:cNvPr>
          <p:cNvSpPr>
            <a:spLocks xmlns:a="http://schemas.openxmlformats.org/drawingml/2006/main" noGrp="1"/>
          </p:cNvSpPr>
          <p:nvPr/>
        </p:nvSpPr>
        <p:spPr>
          <a:xfrm xmlns:a="http://schemas.openxmlformats.org/drawingml/2006/main">
            <a:off x="762000" y="6029325"/>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102C43"/>
                </a:solidFill>
                <a:latin typeface="Segoe UI"/>
                <a:ea typeface="Segoe UI"/>
                <a:cs typeface="Segoe UI"/>
              </a:defRPr>
            </a:pPr>
            <a:r>
              <a:rPr sz="2775" b="1">
                <a:solidFill>
                  <a:srgbClr val="102C43"/>
                </a:solidFill>
                <a:latin typeface="Segoe UI"/>
                <a:ea typeface="Segoe UI"/>
                <a:cs typeface="Segoe UI"/>
              </a:rPr>
              <a:t>Attention = 70% × breadth + 30% × recency</a:t>
            </a:r>
          </a:p>
        </p:txBody>
      </p:sp>
      <p:sp>
        <p:nvSpPr>
          <p:cNvPr id="16" name="0.68">
            <a:extLst xmlns:a="http://schemas.openxmlformats.org/drawingml/2006/main">
              <a:ext uri="{FF2B5EF4-FFF2-40B4-BE49-F238E27FC236}">
                <a16:creationId xmlns:a16="http://schemas.microsoft.com/office/drawing/2014/main" id="{720B264C-CABD-48EE-9375-ED0ED5E1CD05}"/>
              </a:ext>
            </a:extLst>
          </p:cNvPr>
          <p:cNvSpPr>
            <a:spLocks xmlns:a="http://schemas.openxmlformats.org/drawingml/2006/main" noGrp="1"/>
          </p:cNvSpPr>
          <p:nvPr/>
        </p:nvSpPr>
        <p:spPr>
          <a:xfrm xmlns:a="http://schemas.openxmlformats.org/drawingml/2006/main">
            <a:off x="12477750" y="5924550"/>
            <a:ext cx="200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800" b="1">
                <a:solidFill>
                  <a:srgbClr val="007D82"/>
                </a:solidFill>
                <a:latin typeface="Segoe UI"/>
                <a:ea typeface="Segoe UI"/>
                <a:cs typeface="Segoe UI"/>
              </a:defRPr>
            </a:pPr>
            <a:r>
              <a:rPr sz="4800" b="1">
                <a:solidFill>
                  <a:srgbClr val="007D82"/>
                </a:solidFill>
                <a:latin typeface="Segoe UI"/>
                <a:ea typeface="Segoe UI"/>
                <a:cs typeface="Segoe UI"/>
              </a:rPr>
              <a:t>0.68</a:t>
            </a:r>
          </a:p>
        </p:txBody>
      </p:sp>
      <p:sp>
        <p:nvSpPr>
          <p:cNvPr id="17" name="Illustrative result. This measures attention in a news ">
            <a:extLst xmlns:a="http://schemas.openxmlformats.org/drawingml/2006/main">
              <a:ext uri="{FF2B5EF4-FFF2-40B4-BE49-F238E27FC236}">
                <a16:creationId xmlns:a16="http://schemas.microsoft.com/office/drawing/2014/main" id="{34607AB0-F51F-49F2-8070-B939CA8AF0E7}"/>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Illustrative result. This measures attention in a news sample. A growth claim requires a comparable historical series.</a:t>
            </a:r>
          </a:p>
        </p:txBody>
      </p:sp>
    </p:spTree>
    <p:extLst>
      <p:ext uri="{BB962C8B-B14F-4D97-AF65-F5344CB8AC3E}">
        <p14:creationId xmlns:p14="http://schemas.microsoft.com/office/powerpoint/2010/main" val="7085979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AGENT 05">
            <a:extLst xmlns:a="http://schemas.openxmlformats.org/drawingml/2006/main">
              <a:ext uri="{FF2B5EF4-FFF2-40B4-BE49-F238E27FC236}">
                <a16:creationId xmlns:a16="http://schemas.microsoft.com/office/drawing/2014/main" id="{0882BDE2-0FDA-441E-BA1A-33EA57115650}"/>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AGENT 05</a:t>
            </a:r>
          </a:p>
        </p:txBody>
      </p:sp>
      <p:sp>
        <p:nvSpPr>
          <p:cNvPr id="2" name="Coverage retrieval separates similarity from relevance">
            <a:extLst xmlns:a="http://schemas.openxmlformats.org/drawingml/2006/main">
              <a:ext uri="{FF2B5EF4-FFF2-40B4-BE49-F238E27FC236}">
                <a16:creationId xmlns:a16="http://schemas.microsoft.com/office/drawing/2014/main" id="{3588A59C-637D-4666-8B11-CC662AF64AD7}"/>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Coverage retrieval separates similarity from relevance</a:t>
            </a:r>
          </a:p>
        </p:txBody>
      </p:sp>
      <p:sp>
        <p:nvSpPr>
          <p:cNvPr id="3" name="">
            <a:extLst xmlns:a="http://schemas.openxmlformats.org/drawingml/2006/main">
              <a:ext uri="{FF2B5EF4-FFF2-40B4-BE49-F238E27FC236}">
                <a16:creationId xmlns:a16="http://schemas.microsoft.com/office/drawing/2014/main" id="{78114D2F-FC16-481E-AA79-C9709E060BFF}"/>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8AE4B3E0-719D-457C-A100-45E6C1D0CCEA}"/>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10">
            <a:extLst xmlns:a="http://schemas.openxmlformats.org/drawingml/2006/main">
              <a:ext uri="{FF2B5EF4-FFF2-40B4-BE49-F238E27FC236}">
                <a16:creationId xmlns:a16="http://schemas.microsoft.com/office/drawing/2014/main" id="{6D7CF455-C84F-4DB2-87F1-16C33FFC0362}"/>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10</a:t>
            </a:r>
          </a:p>
        </p:txBody>
      </p:sp>
      <p:sp>
        <p:nvSpPr>
          <p:cNvPr id="6" name="">
            <a:extLst xmlns:a="http://schemas.openxmlformats.org/drawingml/2006/main">
              <a:ext uri="{FF2B5EF4-FFF2-40B4-BE49-F238E27FC236}">
                <a16:creationId xmlns:a16="http://schemas.microsoft.com/office/drawing/2014/main" id="{1281172E-8109-4CC6-AC84-7F07F0A47413}"/>
              </a:ext>
            </a:extLst>
          </p:cNvPr>
          <p:cNvSpPr>
            <a:spLocks xmlns:a="http://schemas.openxmlformats.org/drawingml/2006/main" noGrp="1"/>
          </p:cNvSpPr>
          <p:nvPr/>
        </p:nvSpPr>
        <p:spPr>
          <a:xfrm xmlns:a="http://schemas.openxmlformats.org/drawingml/2006/main">
            <a:off x="762000" y="2619375"/>
            <a:ext cx="3143250" cy="20955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7" name="01">
            <a:extLst xmlns:a="http://schemas.openxmlformats.org/drawingml/2006/main">
              <a:ext uri="{FF2B5EF4-FFF2-40B4-BE49-F238E27FC236}">
                <a16:creationId xmlns:a16="http://schemas.microsoft.com/office/drawing/2014/main" id="{16D5AC28-BACA-44E6-AEC6-003EE0E7FE1C}"/>
              </a:ext>
            </a:extLst>
          </p:cNvPr>
          <p:cNvSpPr>
            <a:spLocks xmlns:a="http://schemas.openxmlformats.org/drawingml/2006/main" noGrp="1"/>
          </p:cNvSpPr>
          <p:nvPr/>
        </p:nvSpPr>
        <p:spPr>
          <a:xfrm xmlns:a="http://schemas.openxmlformats.org/drawingml/2006/main">
            <a:off x="952500" y="28098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01</a:t>
            </a:r>
          </a:p>
        </p:txBody>
      </p:sp>
      <p:sp>
        <p:nvSpPr>
          <p:cNvPr id="8" name="Up to 50">
            <a:extLst xmlns:a="http://schemas.openxmlformats.org/drawingml/2006/main">
              <a:ext uri="{FF2B5EF4-FFF2-40B4-BE49-F238E27FC236}">
                <a16:creationId xmlns:a16="http://schemas.microsoft.com/office/drawing/2014/main" id="{B2DDC5CC-041E-4570-8CD2-8747B0A7916B}"/>
              </a:ext>
            </a:extLst>
          </p:cNvPr>
          <p:cNvSpPr>
            <a:spLocks xmlns:a="http://schemas.openxmlformats.org/drawingml/2006/main" noGrp="1"/>
          </p:cNvSpPr>
          <p:nvPr/>
        </p:nvSpPr>
        <p:spPr>
          <a:xfrm xmlns:a="http://schemas.openxmlformats.org/drawingml/2006/main">
            <a:off x="952500" y="31908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Up to 50</a:t>
            </a:r>
          </a:p>
        </p:txBody>
      </p:sp>
      <p:sp>
        <p:nvSpPr>
          <p:cNvPr id="9" name="Retrieved passages">
            <a:extLst xmlns:a="http://schemas.openxmlformats.org/drawingml/2006/main">
              <a:ext uri="{FF2B5EF4-FFF2-40B4-BE49-F238E27FC236}">
                <a16:creationId xmlns:a16="http://schemas.microsoft.com/office/drawing/2014/main" id="{E5DEAC8B-364C-4D58-9F4F-82DD91328292}"/>
              </a:ext>
            </a:extLst>
          </p:cNvPr>
          <p:cNvSpPr>
            <a:spLocks xmlns:a="http://schemas.openxmlformats.org/drawingml/2006/main" noGrp="1"/>
          </p:cNvSpPr>
          <p:nvPr/>
        </p:nvSpPr>
        <p:spPr>
          <a:xfrm xmlns:a="http://schemas.openxmlformats.org/drawingml/2006/main">
            <a:off x="952500" y="3800475"/>
            <a:ext cx="276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Retrieved passages</a:t>
            </a:r>
          </a:p>
        </p:txBody>
      </p:sp>
      <p:sp>
        <p:nvSpPr>
          <p:cNvPr id="10" name="">
            <a:extLst xmlns:a="http://schemas.openxmlformats.org/drawingml/2006/main">
              <a:ext uri="{FF2B5EF4-FFF2-40B4-BE49-F238E27FC236}">
                <a16:creationId xmlns:a16="http://schemas.microsoft.com/office/drawing/2014/main" id="{15C47040-657B-4E08-A2DA-222AD7B33343}"/>
              </a:ext>
            </a:extLst>
          </p:cNvPr>
          <p:cNvSpPr>
            <a:spLocks xmlns:a="http://schemas.openxmlformats.org/drawingml/2006/main" noGrp="1"/>
          </p:cNvSpPr>
          <p:nvPr/>
        </p:nvSpPr>
        <p:spPr>
          <a:xfrm xmlns:a="http://schemas.openxmlformats.org/drawingml/2006/main">
            <a:off x="4286250" y="2619375"/>
            <a:ext cx="3143250" cy="20955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1" name="02">
            <a:extLst xmlns:a="http://schemas.openxmlformats.org/drawingml/2006/main">
              <a:ext uri="{FF2B5EF4-FFF2-40B4-BE49-F238E27FC236}">
                <a16:creationId xmlns:a16="http://schemas.microsoft.com/office/drawing/2014/main" id="{4E170185-356B-4452-9EC6-FD2E919C8872}"/>
              </a:ext>
            </a:extLst>
          </p:cNvPr>
          <p:cNvSpPr>
            <a:spLocks xmlns:a="http://schemas.openxmlformats.org/drawingml/2006/main" noGrp="1"/>
          </p:cNvSpPr>
          <p:nvPr/>
        </p:nvSpPr>
        <p:spPr>
          <a:xfrm xmlns:a="http://schemas.openxmlformats.org/drawingml/2006/main">
            <a:off x="4476750" y="28098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02</a:t>
            </a:r>
          </a:p>
        </p:txBody>
      </p:sp>
      <p:sp>
        <p:nvSpPr>
          <p:cNvPr id="12" name="Up to 10">
            <a:extLst xmlns:a="http://schemas.openxmlformats.org/drawingml/2006/main">
              <a:ext uri="{FF2B5EF4-FFF2-40B4-BE49-F238E27FC236}">
                <a16:creationId xmlns:a16="http://schemas.microsoft.com/office/drawing/2014/main" id="{5FDCB59D-532E-4417-9BFE-4C20EDE3553A}"/>
              </a:ext>
            </a:extLst>
          </p:cNvPr>
          <p:cNvSpPr>
            <a:spLocks xmlns:a="http://schemas.openxmlformats.org/drawingml/2006/main" noGrp="1"/>
          </p:cNvSpPr>
          <p:nvPr/>
        </p:nvSpPr>
        <p:spPr>
          <a:xfrm xmlns:a="http://schemas.openxmlformats.org/drawingml/2006/main">
            <a:off x="4476750" y="31908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Up to 10</a:t>
            </a:r>
          </a:p>
        </p:txBody>
      </p:sp>
      <p:sp>
        <p:nvSpPr>
          <p:cNvPr id="13" name="Unique candidate documents">
            <a:extLst xmlns:a="http://schemas.openxmlformats.org/drawingml/2006/main">
              <a:ext uri="{FF2B5EF4-FFF2-40B4-BE49-F238E27FC236}">
                <a16:creationId xmlns:a16="http://schemas.microsoft.com/office/drawing/2014/main" id="{D8CE67FC-3426-4BD8-A19F-2FC58B93B186}"/>
              </a:ext>
            </a:extLst>
          </p:cNvPr>
          <p:cNvSpPr>
            <a:spLocks xmlns:a="http://schemas.openxmlformats.org/drawingml/2006/main" noGrp="1"/>
          </p:cNvSpPr>
          <p:nvPr/>
        </p:nvSpPr>
        <p:spPr>
          <a:xfrm xmlns:a="http://schemas.openxmlformats.org/drawingml/2006/main">
            <a:off x="4476750" y="3800475"/>
            <a:ext cx="276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Unique candidate documents</a:t>
            </a:r>
          </a:p>
        </p:txBody>
      </p:sp>
      <p:cxnSp>
        <p:nvCxnSpPr>
          <p:cNvPr id="43" name=""/>
          <p:cNvCxnSpPr>
            <a:stCxn xmlns:a="http://schemas.openxmlformats.org/drawingml/2006/main" id="6" idx="3"/>
            <a:endCxn xmlns:a="http://schemas.openxmlformats.org/drawingml/2006/main" id="10" idx="1"/>
          </p:cNvCxnSpPr>
          <p:nvPr/>
        </p:nvCxnSpPr>
        <p:spPr>
          <a:xfrm xmlns:a="http://schemas.openxmlformats.org/drawingml/2006/main">
            <a:off x="3905250" y="3667125"/>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5" name="">
            <a:extLst xmlns:a="http://schemas.openxmlformats.org/drawingml/2006/main">
              <a:ext uri="{FF2B5EF4-FFF2-40B4-BE49-F238E27FC236}">
                <a16:creationId xmlns:a16="http://schemas.microsoft.com/office/drawing/2014/main" id="{A348C2CD-D5A3-49D0-AD60-5AB091FD500A}"/>
              </a:ext>
            </a:extLst>
          </p:cNvPr>
          <p:cNvSpPr>
            <a:spLocks xmlns:a="http://schemas.openxmlformats.org/drawingml/2006/main" noGrp="1"/>
          </p:cNvSpPr>
          <p:nvPr/>
        </p:nvSpPr>
        <p:spPr>
          <a:xfrm xmlns:a="http://schemas.openxmlformats.org/drawingml/2006/main">
            <a:off x="7810500" y="2619375"/>
            <a:ext cx="3143250" cy="20955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6" name="03">
            <a:extLst xmlns:a="http://schemas.openxmlformats.org/drawingml/2006/main">
              <a:ext uri="{FF2B5EF4-FFF2-40B4-BE49-F238E27FC236}">
                <a16:creationId xmlns:a16="http://schemas.microsoft.com/office/drawing/2014/main" id="{0F982C1D-130C-4D35-A258-6CF715A685F9}"/>
              </a:ext>
            </a:extLst>
          </p:cNvPr>
          <p:cNvSpPr>
            <a:spLocks xmlns:a="http://schemas.openxmlformats.org/drawingml/2006/main" noGrp="1"/>
          </p:cNvSpPr>
          <p:nvPr/>
        </p:nvSpPr>
        <p:spPr>
          <a:xfrm xmlns:a="http://schemas.openxmlformats.org/drawingml/2006/main">
            <a:off x="8001000" y="28098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03</a:t>
            </a:r>
          </a:p>
        </p:txBody>
      </p:sp>
      <p:sp>
        <p:nvSpPr>
          <p:cNvPr id="17" name="LLM judge">
            <a:extLst xmlns:a="http://schemas.openxmlformats.org/drawingml/2006/main">
              <a:ext uri="{FF2B5EF4-FFF2-40B4-BE49-F238E27FC236}">
                <a16:creationId xmlns:a16="http://schemas.microsoft.com/office/drawing/2014/main" id="{F597D31D-F948-4AE6-9D7A-A527AFF29C0E}"/>
              </a:ext>
            </a:extLst>
          </p:cNvPr>
          <p:cNvSpPr>
            <a:spLocks xmlns:a="http://schemas.openxmlformats.org/drawingml/2006/main" noGrp="1"/>
          </p:cNvSpPr>
          <p:nvPr/>
        </p:nvSpPr>
        <p:spPr>
          <a:xfrm xmlns:a="http://schemas.openxmlformats.org/drawingml/2006/main">
            <a:off x="8001000" y="31908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LLM judge</a:t>
            </a:r>
          </a:p>
        </p:txBody>
      </p:sp>
      <p:sp>
        <p:nvSpPr>
          <p:cNvPr id="18" name="Verdict and reason per document">
            <a:extLst xmlns:a="http://schemas.openxmlformats.org/drawingml/2006/main">
              <a:ext uri="{FF2B5EF4-FFF2-40B4-BE49-F238E27FC236}">
                <a16:creationId xmlns:a16="http://schemas.microsoft.com/office/drawing/2014/main" id="{42BFBB3E-591F-4CE5-8705-AC5B95F62CC7}"/>
              </a:ext>
            </a:extLst>
          </p:cNvPr>
          <p:cNvSpPr>
            <a:spLocks xmlns:a="http://schemas.openxmlformats.org/drawingml/2006/main" noGrp="1"/>
          </p:cNvSpPr>
          <p:nvPr/>
        </p:nvSpPr>
        <p:spPr>
          <a:xfrm xmlns:a="http://schemas.openxmlformats.org/drawingml/2006/main">
            <a:off x="8001000" y="3800475"/>
            <a:ext cx="276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Verdict and reason per document</a:t>
            </a:r>
          </a:p>
        </p:txBody>
      </p:sp>
      <p:cxnSp>
        <p:nvCxnSpPr>
          <p:cNvPr id="48" name=""/>
          <p:cNvCxnSpPr>
            <a:stCxn xmlns:a="http://schemas.openxmlformats.org/drawingml/2006/main" id="10" idx="3"/>
            <a:endCxn xmlns:a="http://schemas.openxmlformats.org/drawingml/2006/main" id="15" idx="1"/>
          </p:cNvCxnSpPr>
          <p:nvPr/>
        </p:nvCxnSpPr>
        <p:spPr>
          <a:xfrm xmlns:a="http://schemas.openxmlformats.org/drawingml/2006/main">
            <a:off x="7429500" y="3667125"/>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0" name="">
            <a:extLst xmlns:a="http://schemas.openxmlformats.org/drawingml/2006/main">
              <a:ext uri="{FF2B5EF4-FFF2-40B4-BE49-F238E27FC236}">
                <a16:creationId xmlns:a16="http://schemas.microsoft.com/office/drawing/2014/main" id="{6BF04180-E1AD-4368-A32A-8D379BE6B5A3}"/>
              </a:ext>
            </a:extLst>
          </p:cNvPr>
          <p:cNvSpPr>
            <a:spLocks xmlns:a="http://schemas.openxmlformats.org/drawingml/2006/main" noGrp="1"/>
          </p:cNvSpPr>
          <p:nvPr/>
        </p:nvSpPr>
        <p:spPr>
          <a:xfrm xmlns:a="http://schemas.openxmlformats.org/drawingml/2006/main">
            <a:off x="11334750" y="2619375"/>
            <a:ext cx="3143250" cy="20955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21" name="04">
            <a:extLst xmlns:a="http://schemas.openxmlformats.org/drawingml/2006/main">
              <a:ext uri="{FF2B5EF4-FFF2-40B4-BE49-F238E27FC236}">
                <a16:creationId xmlns:a16="http://schemas.microsoft.com/office/drawing/2014/main" id="{3E38C5A1-42DF-443F-9348-A214F471A7A2}"/>
              </a:ext>
            </a:extLst>
          </p:cNvPr>
          <p:cNvSpPr>
            <a:spLocks xmlns:a="http://schemas.openxmlformats.org/drawingml/2006/main" noGrp="1"/>
          </p:cNvSpPr>
          <p:nvPr/>
        </p:nvSpPr>
        <p:spPr>
          <a:xfrm xmlns:a="http://schemas.openxmlformats.org/drawingml/2006/main">
            <a:off x="11525250" y="28098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04</a:t>
            </a:r>
          </a:p>
        </p:txBody>
      </p:sp>
      <p:sp>
        <p:nvSpPr>
          <p:cNvPr id="22" name="Up to 5">
            <a:extLst xmlns:a="http://schemas.openxmlformats.org/drawingml/2006/main">
              <a:ext uri="{FF2B5EF4-FFF2-40B4-BE49-F238E27FC236}">
                <a16:creationId xmlns:a16="http://schemas.microsoft.com/office/drawing/2014/main" id="{730ABCC2-543B-4FAD-8147-FCA204948270}"/>
              </a:ext>
            </a:extLst>
          </p:cNvPr>
          <p:cNvSpPr>
            <a:spLocks xmlns:a="http://schemas.openxmlformats.org/drawingml/2006/main" noGrp="1"/>
          </p:cNvSpPr>
          <p:nvPr/>
        </p:nvSpPr>
        <p:spPr>
          <a:xfrm xmlns:a="http://schemas.openxmlformats.org/drawingml/2006/main">
            <a:off x="11525250" y="31908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Up to 5</a:t>
            </a:r>
          </a:p>
        </p:txBody>
      </p:sp>
      <p:sp>
        <p:nvSpPr>
          <p:cNvPr id="23" name="Accepted coverage matches">
            <a:extLst xmlns:a="http://schemas.openxmlformats.org/drawingml/2006/main">
              <a:ext uri="{FF2B5EF4-FFF2-40B4-BE49-F238E27FC236}">
                <a16:creationId xmlns:a16="http://schemas.microsoft.com/office/drawing/2014/main" id="{0D444FF8-FB50-482F-B38B-43F15D9A50D6}"/>
              </a:ext>
            </a:extLst>
          </p:cNvPr>
          <p:cNvSpPr>
            <a:spLocks xmlns:a="http://schemas.openxmlformats.org/drawingml/2006/main" noGrp="1"/>
          </p:cNvSpPr>
          <p:nvPr/>
        </p:nvSpPr>
        <p:spPr>
          <a:xfrm xmlns:a="http://schemas.openxmlformats.org/drawingml/2006/main">
            <a:off x="11525250" y="3800475"/>
            <a:ext cx="276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Accepted coverage matches</a:t>
            </a:r>
          </a:p>
        </p:txBody>
      </p:sp>
      <p:cxnSp>
        <p:nvCxnSpPr>
          <p:cNvPr id="53" name=""/>
          <p:cNvCxnSpPr>
            <a:stCxn xmlns:a="http://schemas.openxmlformats.org/drawingml/2006/main" id="15" idx="3"/>
            <a:endCxn xmlns:a="http://schemas.openxmlformats.org/drawingml/2006/main" id="20" idx="1"/>
          </p:cNvCxnSpPr>
          <p:nvPr/>
        </p:nvCxnSpPr>
        <p:spPr>
          <a:xfrm xmlns:a="http://schemas.openxmlformats.org/drawingml/2006/main">
            <a:off x="10953750" y="3667125"/>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5" name="Candidate selection">
            <a:extLst xmlns:a="http://schemas.openxmlformats.org/drawingml/2006/main">
              <a:ext uri="{FF2B5EF4-FFF2-40B4-BE49-F238E27FC236}">
                <a16:creationId xmlns:a16="http://schemas.microsoft.com/office/drawing/2014/main" id="{ADDB8CDA-2FCD-402F-B370-4777A3C3D0C3}"/>
              </a:ext>
            </a:extLst>
          </p:cNvPr>
          <p:cNvSpPr>
            <a:spLocks xmlns:a="http://schemas.openxmlformats.org/drawingml/2006/main" noGrp="1"/>
          </p:cNvSpPr>
          <p:nvPr/>
        </p:nvSpPr>
        <p:spPr>
          <a:xfrm xmlns:a="http://schemas.openxmlformats.org/drawingml/2006/main">
            <a:off x="762000" y="523875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Candidate selection</a:t>
            </a:r>
          </a:p>
        </p:txBody>
      </p:sp>
      <p:sp>
        <p:nvSpPr>
          <p:cNvPr id="26" name="Exclude syndicated archive. Keep one best passage per d">
            <a:extLst xmlns:a="http://schemas.openxmlformats.org/drawingml/2006/main">
              <a:ext uri="{FF2B5EF4-FFF2-40B4-BE49-F238E27FC236}">
                <a16:creationId xmlns:a16="http://schemas.microsoft.com/office/drawing/2014/main" id="{54E57684-F56D-4CD4-827F-0E8B9A414CB8}"/>
              </a:ext>
            </a:extLst>
          </p:cNvPr>
          <p:cNvSpPr>
            <a:spLocks xmlns:a="http://schemas.openxmlformats.org/drawingml/2006/main" noGrp="1"/>
          </p:cNvSpPr>
          <p:nvPr/>
        </p:nvSpPr>
        <p:spPr>
          <a:xfrm xmlns:a="http://schemas.openxmlformats.org/drawingml/2006/main">
            <a:off x="762000" y="5848350"/>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Exclude syndicated archive. Keep one best passage per document. Require similarity ≥ 0.62.</a:t>
            </a:r>
          </a:p>
        </p:txBody>
      </p:sp>
      <p:sp>
        <p:nvSpPr>
          <p:cNvPr id="27" name="Judgment context">
            <a:extLst xmlns:a="http://schemas.openxmlformats.org/drawingml/2006/main">
              <a:ext uri="{FF2B5EF4-FFF2-40B4-BE49-F238E27FC236}">
                <a16:creationId xmlns:a16="http://schemas.microsoft.com/office/drawing/2014/main" id="{30B5D0C0-E185-47DF-9BAD-8F48D04DA9EC}"/>
              </a:ext>
            </a:extLst>
          </p:cNvPr>
          <p:cNvSpPr>
            <a:spLocks xmlns:a="http://schemas.openxmlformats.org/drawingml/2006/main" noGrp="1"/>
          </p:cNvSpPr>
          <p:nvPr/>
        </p:nvSpPr>
        <p:spPr>
          <a:xfrm xmlns:a="http://schemas.openxmlformats.org/drawingml/2006/main">
            <a:off x="8096250" y="523875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Judgment context</a:t>
            </a:r>
          </a:p>
        </p:txBody>
      </p:sp>
      <p:sp>
        <p:nvSpPr>
          <p:cNvPr id="28" name="Topic + description, document metadata and a 420-charac">
            <a:extLst xmlns:a="http://schemas.openxmlformats.org/drawingml/2006/main">
              <a:ext uri="{FF2B5EF4-FFF2-40B4-BE49-F238E27FC236}">
                <a16:creationId xmlns:a16="http://schemas.microsoft.com/office/drawing/2014/main" id="{09812873-C1BA-41BF-81FB-1C41680A7B6D}"/>
              </a:ext>
            </a:extLst>
          </p:cNvPr>
          <p:cNvSpPr>
            <a:spLocks xmlns:a="http://schemas.openxmlformats.org/drawingml/2006/main" noGrp="1"/>
          </p:cNvSpPr>
          <p:nvPr/>
        </p:nvSpPr>
        <p:spPr>
          <a:xfrm xmlns:a="http://schemas.openxmlformats.org/drawingml/2006/main">
            <a:off x="8096250" y="5848350"/>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Topic + description, document metadata and a 420-character excerpt. Full news articles are not supplied.</a:t>
            </a:r>
          </a:p>
        </p:txBody>
      </p:sp>
      <p:sp>
        <p:nvSpPr>
          <p:cNvPr id="29" name="Similarity selects candidates. Relevance judgment deter">
            <a:extLst xmlns:a="http://schemas.openxmlformats.org/drawingml/2006/main">
              <a:ext uri="{FF2B5EF4-FFF2-40B4-BE49-F238E27FC236}">
                <a16:creationId xmlns:a16="http://schemas.microsoft.com/office/drawing/2014/main" id="{73A41804-02FA-4CC4-BD90-F4B10419C007}"/>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Similarity selects candidates. Relevance judgment determines whether a document actually addresses the topic.</a:t>
            </a:r>
          </a:p>
        </p:txBody>
      </p:sp>
    </p:spTree>
    <p:extLst>
      <p:ext uri="{BB962C8B-B14F-4D97-AF65-F5344CB8AC3E}">
        <p14:creationId xmlns:p14="http://schemas.microsoft.com/office/powerpoint/2010/main" val="8144509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VERAGE EXAMPLE">
            <a:extLst xmlns:a="http://schemas.openxmlformats.org/drawingml/2006/main">
              <a:ext uri="{FF2B5EF4-FFF2-40B4-BE49-F238E27FC236}">
                <a16:creationId xmlns:a16="http://schemas.microsoft.com/office/drawing/2014/main" id="{760C74BE-099F-4C5A-8674-C238A072F410}"/>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COVERAGE EXAMPLE</a:t>
            </a:r>
          </a:p>
        </p:txBody>
      </p:sp>
      <p:sp>
        <p:nvSpPr>
          <p:cNvPr id="2" name="An old direct match can still reveal a refresh need">
            <a:extLst xmlns:a="http://schemas.openxmlformats.org/drawingml/2006/main">
              <a:ext uri="{FF2B5EF4-FFF2-40B4-BE49-F238E27FC236}">
                <a16:creationId xmlns:a16="http://schemas.microsoft.com/office/drawing/2014/main" id="{B4A4FF9F-4D4D-4781-8E78-90F28FC03561}"/>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An old direct match can still reveal a refresh need</a:t>
            </a:r>
          </a:p>
        </p:txBody>
      </p:sp>
      <p:sp>
        <p:nvSpPr>
          <p:cNvPr id="3" name="">
            <a:extLst xmlns:a="http://schemas.openxmlformats.org/drawingml/2006/main">
              <a:ext uri="{FF2B5EF4-FFF2-40B4-BE49-F238E27FC236}">
                <a16:creationId xmlns:a16="http://schemas.microsoft.com/office/drawing/2014/main" id="{B5464181-AB5D-4FC9-B6DB-20E33B5D0CA0}"/>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76C31DD5-6A31-4DB5-AF4D-1CBEFEA2E076}"/>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11">
            <a:extLst xmlns:a="http://schemas.openxmlformats.org/drawingml/2006/main">
              <a:ext uri="{FF2B5EF4-FFF2-40B4-BE49-F238E27FC236}">
                <a16:creationId xmlns:a16="http://schemas.microsoft.com/office/drawing/2014/main" id="{ED48510A-519E-4267-8449-50249423D8D4}"/>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11</a:t>
            </a:r>
          </a:p>
        </p:txBody>
      </p:sp>
      <p:graphicFrame>
        <p:nvGraphicFramePr>
          <p:cNvPr id="15" name=""/>
          <p:cNvGraphicFramePr/>
          <p:nvPr/>
        </p:nvGraphicFramePr>
        <p:xfrm>
          <a:off xmlns:a="http://schemas.openxmlformats.org/drawingml/2006/main" x="762000" y="2362200"/>
          <a:ext xmlns:a="http://schemas.openxmlformats.org/drawingml/2006/main" cx="13716000" cy="3000375"/>
        </p:xfrm>
        <a:graphic xmlns:a="http://schemas.openxmlformats.org/drawingml/2006/main">
          <a:graphicData uri="http://schemas.openxmlformats.org/drawingml/2006/table">
            <a:tbl>
              <a:tblPr/>
              <a:tblGrid>
                <a:gridCol w="6191250"/>
                <a:gridCol w="2095500"/>
                <a:gridCol w="2857500"/>
                <a:gridCol w="2571750"/>
              </a:tblGrid>
              <a:tr h="750094">
                <a:tc>
                  <a:txBody>
                    <a:bodyPr lIns="152400" tIns="114300" rIns="152400" bIns="95250">
                      <a:noAutofit/>
                    </a:bodyPr>
                    <a:lstStyle/>
                    <a:p>
                      <a:r>
                        <a:rPr sz="1725" b="1">
                          <a:solidFill>
                            <a:srgbClr val="FFFFFF"/>
                          </a:solidFill>
                          <a:latin typeface="Segoe UI"/>
                          <a:ea typeface="Segoe UI"/>
                          <a:cs typeface="Segoe UI"/>
                        </a:rPr>
                        <a:t>Teaching document</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Age</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Judge verdict</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Usable weight</a:t>
                      </a:r>
                    </a:p>
                  </a:txBody>
                  <a:tcPr marL="91440" marR="91440" marT="45720" marB="45720">
                    <a:solidFill>
                      <a:srgbClr val="0B2238"/>
                    </a:solidFill>
                  </a:tcPr>
                </a:tc>
              </a:tr>
              <a:tr h="750094">
                <a:tc>
                  <a:txBody>
                    <a:bodyPr lIns="152400" tIns="114300" rIns="152400" bIns="95250">
                      <a:noAutofit/>
                    </a:bodyPr>
                    <a:lstStyle/>
                    <a:p>
                      <a:r>
                        <a:rPr sz="1800" b="1">
                          <a:solidFill>
                            <a:srgbClr val="102C43"/>
                          </a:solidFill>
                          <a:latin typeface="Segoe UI"/>
                          <a:ea typeface="Segoe UI"/>
                          <a:cs typeface="Segoe UI"/>
                        </a:rPr>
                        <a:t>Clinical AI Governance Playbook</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500 days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Covers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0.25</a:t>
                      </a:r>
                    </a:p>
                  </a:txBody>
                  <a:tcPr marL="91440" marR="91440" marT="45720" marB="45720">
                    <a:solidFill>
                      <a:srgbClr val="F5F8FB"/>
                    </a:solidFill>
                  </a:tcPr>
                </a:tc>
              </a:tr>
              <a:tr h="750094">
                <a:tc>
                  <a:txBody>
                    <a:bodyPr lIns="152400" tIns="114300" rIns="152400" bIns="95250">
                      <a:noAutofit/>
                    </a:bodyPr>
                    <a:lstStyle/>
                    <a:p>
                      <a:r>
                        <a:rPr sz="1800" b="1">
                          <a:solidFill>
                            <a:srgbClr val="102C43"/>
                          </a:solidFill>
                          <a:latin typeface="Segoe UI"/>
                          <a:ea typeface="Segoe UI"/>
                          <a:cs typeface="Segoe UI"/>
                        </a:rPr>
                        <a:t>Diagnostic accuracy research</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30 days</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Tangential</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0.00</a:t>
                      </a:r>
                    </a:p>
                  </a:txBody>
                  <a:tcPr marL="91440" marR="91440" marT="45720" marB="45720">
                    <a:solidFill>
                      <a:srgbClr val="FFFFFF"/>
                    </a:solidFill>
                  </a:tcPr>
                </a:tc>
              </a:tr>
              <a:tr h="750094">
                <a:tc>
                  <a:txBody>
                    <a:bodyPr lIns="152400" tIns="114300" rIns="152400" bIns="95250">
                      <a:noAutofit/>
                    </a:bodyPr>
                    <a:lstStyle/>
                    <a:p>
                      <a:r>
                        <a:rPr sz="1800" b="1">
                          <a:solidFill>
                            <a:srgbClr val="102C43"/>
                          </a:solidFill>
                          <a:latin typeface="Segoe UI"/>
                          <a:ea typeface="Segoe UI"/>
                          <a:cs typeface="Segoe UI"/>
                        </a:rPr>
                        <a:t>Ambient documentation research</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20 days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Tangential</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0.00</a:t>
                      </a:r>
                    </a:p>
                  </a:txBody>
                  <a:tcPr marL="91440" marR="91440" marT="45720" marB="45720">
                    <a:solidFill>
                      <a:srgbClr val="F5F8FB"/>
                    </a:solidFill>
                  </a:tcPr>
                </a:tc>
              </a:tr>
            </a:tbl>
          </a:graphicData>
        </a:graphic>
      </p:graphicFrame>
      <p:sp>
        <p:nvSpPr>
          <p:cNvPr id="7" name="Coverage  0.13">
            <a:extLst xmlns:a="http://schemas.openxmlformats.org/drawingml/2006/main">
              <a:ext uri="{FF2B5EF4-FFF2-40B4-BE49-F238E27FC236}">
                <a16:creationId xmlns:a16="http://schemas.microsoft.com/office/drawing/2014/main" id="{C1944C32-64C4-4D59-86A6-07B09341F982}"/>
              </a:ext>
            </a:extLst>
          </p:cNvPr>
          <p:cNvSpPr>
            <a:spLocks xmlns:a="http://schemas.openxmlformats.org/drawingml/2006/main" noGrp="1"/>
          </p:cNvSpPr>
          <p:nvPr/>
        </p:nvSpPr>
        <p:spPr>
          <a:xfrm xmlns:a="http://schemas.openxmlformats.org/drawingml/2006/main">
            <a:off x="762000" y="5915025"/>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350" b="1">
                <a:solidFill>
                  <a:srgbClr val="007D82"/>
                </a:solidFill>
                <a:latin typeface="Segoe UI"/>
                <a:ea typeface="Segoe UI"/>
                <a:cs typeface="Segoe UI"/>
              </a:defRPr>
            </a:pPr>
            <a:r>
              <a:rPr sz="4350" b="1">
                <a:solidFill>
                  <a:srgbClr val="007D82"/>
                </a:solidFill>
                <a:latin typeface="Segoe UI"/>
                <a:ea typeface="Segoe UI"/>
                <a:cs typeface="Segoe UI"/>
              </a:rPr>
              <a:t>Coverage  0.13</a:t>
            </a:r>
          </a:p>
        </p:txBody>
      </p:sp>
      <p:sp>
        <p:nvSpPr>
          <p:cNvPr id="8" name="Staleness  500 days">
            <a:extLst xmlns:a="http://schemas.openxmlformats.org/drawingml/2006/main">
              <a:ext uri="{FF2B5EF4-FFF2-40B4-BE49-F238E27FC236}">
                <a16:creationId xmlns:a16="http://schemas.microsoft.com/office/drawing/2014/main" id="{6034B269-5127-4A10-AB6D-EBF8975D9C38}"/>
              </a:ext>
            </a:extLst>
          </p:cNvPr>
          <p:cNvSpPr>
            <a:spLocks xmlns:a="http://schemas.openxmlformats.org/drawingml/2006/main" noGrp="1"/>
          </p:cNvSpPr>
          <p:nvPr/>
        </p:nvSpPr>
        <p:spPr>
          <a:xfrm xmlns:a="http://schemas.openxmlformats.org/drawingml/2006/main">
            <a:off x="8096250" y="5915025"/>
            <a:ext cx="638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350" b="1">
                <a:solidFill>
                  <a:srgbClr val="B26A14"/>
                </a:solidFill>
                <a:latin typeface="Segoe UI"/>
                <a:ea typeface="Segoe UI"/>
                <a:cs typeface="Segoe UI"/>
              </a:defRPr>
            </a:pPr>
            <a:r>
              <a:rPr sz="4350" b="1">
                <a:solidFill>
                  <a:srgbClr val="B26A14"/>
                </a:solidFill>
                <a:latin typeface="Segoe UI"/>
                <a:ea typeface="Segoe UI"/>
                <a:cs typeface="Segoe UI"/>
              </a:rPr>
              <a:t>Staleness  500 days</a:t>
            </a:r>
          </a:p>
        </p:txBody>
      </p:sp>
      <p:sp>
        <p:nvSpPr>
          <p:cNvPr id="9" name="Illustrative data. Old research retains background valu">
            <a:extLst xmlns:a="http://schemas.openxmlformats.org/drawingml/2006/main">
              <a:ext uri="{FF2B5EF4-FFF2-40B4-BE49-F238E27FC236}">
                <a16:creationId xmlns:a16="http://schemas.microsoft.com/office/drawing/2014/main" id="{7606BEB4-134D-4C5B-B4DA-D802D2455E5B}"/>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Illustrative data. Old research retains background value. Fresh but tangential documents add no coverage.</a:t>
            </a:r>
          </a:p>
        </p:txBody>
      </p:sp>
    </p:spTree>
    <p:extLst>
      <p:ext uri="{BB962C8B-B14F-4D97-AF65-F5344CB8AC3E}">
        <p14:creationId xmlns:p14="http://schemas.microsoft.com/office/powerpoint/2010/main" val="11276031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GENT 07">
            <a:extLst xmlns:a="http://schemas.openxmlformats.org/drawingml/2006/main">
              <a:ext uri="{FF2B5EF4-FFF2-40B4-BE49-F238E27FC236}">
                <a16:creationId xmlns:a16="http://schemas.microsoft.com/office/drawing/2014/main" id="{2A43CAD9-9DAF-4DD1-9C1C-AA141E8F188B}"/>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AGENT 07</a:t>
            </a:r>
          </a:p>
        </p:txBody>
      </p:sp>
      <p:sp>
        <p:nvSpPr>
          <p:cNvPr id="2" name="The gap score supports a specific research action">
            <a:extLst xmlns:a="http://schemas.openxmlformats.org/drawingml/2006/main">
              <a:ext uri="{FF2B5EF4-FFF2-40B4-BE49-F238E27FC236}">
                <a16:creationId xmlns:a16="http://schemas.microsoft.com/office/drawing/2014/main" id="{A7010AEC-3D97-4DF6-920F-C0246E6B5E5E}"/>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The gap score supports a specific research action</a:t>
            </a:r>
          </a:p>
        </p:txBody>
      </p:sp>
      <p:sp>
        <p:nvSpPr>
          <p:cNvPr id="3" name="">
            <a:extLst xmlns:a="http://schemas.openxmlformats.org/drawingml/2006/main">
              <a:ext uri="{FF2B5EF4-FFF2-40B4-BE49-F238E27FC236}">
                <a16:creationId xmlns:a16="http://schemas.microsoft.com/office/drawing/2014/main" id="{67D3C5C8-4B89-47CF-8D01-1E037E814273}"/>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8BF9BB56-CE3E-40BB-8634-00570711D533}"/>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12">
            <a:extLst xmlns:a="http://schemas.openxmlformats.org/drawingml/2006/main">
              <a:ext uri="{FF2B5EF4-FFF2-40B4-BE49-F238E27FC236}">
                <a16:creationId xmlns:a16="http://schemas.microsoft.com/office/drawing/2014/main" id="{D8A0B4D3-EBF9-4057-B375-D45279050117}"/>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12</a:t>
            </a:r>
          </a:p>
        </p:txBody>
      </p:sp>
      <p:sp>
        <p:nvSpPr>
          <p:cNvPr id="6" name="0.68 × (1 − 0.13)">
            <a:extLst xmlns:a="http://schemas.openxmlformats.org/drawingml/2006/main">
              <a:ext uri="{FF2B5EF4-FFF2-40B4-BE49-F238E27FC236}">
                <a16:creationId xmlns:a16="http://schemas.microsoft.com/office/drawing/2014/main" id="{65B3F5B9-6BA1-4D92-A4AF-3079859F942F}"/>
              </a:ext>
            </a:extLst>
          </p:cNvPr>
          <p:cNvSpPr>
            <a:spLocks xmlns:a="http://schemas.openxmlformats.org/drawingml/2006/main" noGrp="1"/>
          </p:cNvSpPr>
          <p:nvPr/>
        </p:nvSpPr>
        <p:spPr>
          <a:xfrm xmlns:a="http://schemas.openxmlformats.org/drawingml/2006/main">
            <a:off x="762000" y="2514600"/>
            <a:ext cx="1381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150" b="1">
                <a:solidFill>
                  <a:srgbClr val="102C43"/>
                </a:solidFill>
                <a:latin typeface="Segoe UI"/>
                <a:ea typeface="Segoe UI"/>
                <a:cs typeface="Segoe UI"/>
              </a:defRPr>
            </a:pPr>
            <a:r>
              <a:rPr sz="6150" b="1">
                <a:solidFill>
                  <a:srgbClr val="102C43"/>
                </a:solidFill>
                <a:latin typeface="Segoe UI"/>
                <a:ea typeface="Segoe UI"/>
                <a:cs typeface="Segoe UI"/>
              </a:rPr>
              <a:t>0.68 × (1 − 0.13)</a:t>
            </a:r>
          </a:p>
        </p:txBody>
      </p:sp>
      <p:sp>
        <p:nvSpPr>
          <p:cNvPr id="7" name="Gap ≈ 0.59">
            <a:extLst xmlns:a="http://schemas.openxmlformats.org/drawingml/2006/main">
              <a:ext uri="{FF2B5EF4-FFF2-40B4-BE49-F238E27FC236}">
                <a16:creationId xmlns:a16="http://schemas.microsoft.com/office/drawing/2014/main" id="{3C770C5C-AB69-4D96-A105-0B51EEF21A7B}"/>
              </a:ext>
            </a:extLst>
          </p:cNvPr>
          <p:cNvSpPr>
            <a:spLocks xmlns:a="http://schemas.openxmlformats.org/drawingml/2006/main" noGrp="1"/>
          </p:cNvSpPr>
          <p:nvPr/>
        </p:nvSpPr>
        <p:spPr>
          <a:xfrm xmlns:a="http://schemas.openxmlformats.org/drawingml/2006/main">
            <a:off x="762000" y="38481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950" b="1">
                <a:solidFill>
                  <a:srgbClr val="007D82"/>
                </a:solidFill>
                <a:latin typeface="Segoe UI"/>
                <a:ea typeface="Segoe UI"/>
                <a:cs typeface="Segoe UI"/>
              </a:defRPr>
            </a:pPr>
            <a:r>
              <a:rPr sz="4950" b="1">
                <a:solidFill>
                  <a:srgbClr val="007D82"/>
                </a:solidFill>
                <a:latin typeface="Segoe UI"/>
                <a:ea typeface="Segoe UI"/>
                <a:cs typeface="Segoe UI"/>
              </a:rPr>
              <a:t>Gap ≈ 0.59</a:t>
            </a:r>
          </a:p>
        </p:txBody>
      </p:sp>
      <p:sp>
        <p:nvSpPr>
          <p:cNvPr id="8" name="">
            <a:extLst xmlns:a="http://schemas.openxmlformats.org/drawingml/2006/main">
              <a:ext uri="{FF2B5EF4-FFF2-40B4-BE49-F238E27FC236}">
                <a16:creationId xmlns:a16="http://schemas.microsoft.com/office/drawing/2014/main" id="{4A164161-4DDC-467E-9226-60EB101C187A}"/>
              </a:ext>
            </a:extLst>
          </p:cNvPr>
          <p:cNvSpPr>
            <a:spLocks xmlns:a="http://schemas.openxmlformats.org/drawingml/2006/main" noGrp="1"/>
          </p:cNvSpPr>
          <p:nvPr/>
        </p:nvSpPr>
        <p:spPr>
          <a:xfrm xmlns:a="http://schemas.openxmlformats.org/drawingml/2006/main">
            <a:off x="762000" y="5095875"/>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9" name="Recommended action: refresh">
            <a:extLst xmlns:a="http://schemas.openxmlformats.org/drawingml/2006/main">
              <a:ext uri="{FF2B5EF4-FFF2-40B4-BE49-F238E27FC236}">
                <a16:creationId xmlns:a16="http://schemas.microsoft.com/office/drawing/2014/main" id="{CB0A7435-2700-4C18-9329-E202CAD6AB5B}"/>
              </a:ext>
            </a:extLst>
          </p:cNvPr>
          <p:cNvSpPr>
            <a:spLocks xmlns:a="http://schemas.openxmlformats.org/drawingml/2006/main" noGrp="1"/>
          </p:cNvSpPr>
          <p:nvPr/>
        </p:nvSpPr>
        <p:spPr>
          <a:xfrm xmlns:a="http://schemas.openxmlformats.org/drawingml/2006/main">
            <a:off x="762000" y="5534025"/>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Recommended action: refresh</a:t>
            </a:r>
          </a:p>
        </p:txBody>
      </p:sp>
      <p:sp>
        <p:nvSpPr>
          <p:cNvPr id="10" name="The topic has meaningful attention. Existing coverage i">
            <a:extLst xmlns:a="http://schemas.openxmlformats.org/drawingml/2006/main">
              <a:ext uri="{FF2B5EF4-FFF2-40B4-BE49-F238E27FC236}">
                <a16:creationId xmlns:a16="http://schemas.microsoft.com/office/drawing/2014/main" id="{A179F0C2-A023-4982-ADEE-6F68E733B2EE}"/>
              </a:ext>
            </a:extLst>
          </p:cNvPr>
          <p:cNvSpPr>
            <a:spLocks xmlns:a="http://schemas.openxmlformats.org/drawingml/2006/main" noGrp="1"/>
          </p:cNvSpPr>
          <p:nvPr/>
        </p:nvSpPr>
        <p:spPr>
          <a:xfrm xmlns:a="http://schemas.openxmlformats.org/drawingml/2006/main">
            <a:off x="762000" y="6143625"/>
            <a:ext cx="7239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The topic has meaningful attention. Existing coverage is relevant but 500 days old.</a:t>
            </a:r>
          </a:p>
        </p:txBody>
      </p:sp>
      <p:sp>
        <p:nvSpPr>
          <p:cNvPr id="11" name="CRITICAL PRIORITY">
            <a:extLst xmlns:a="http://schemas.openxmlformats.org/drawingml/2006/main">
              <a:ext uri="{FF2B5EF4-FFF2-40B4-BE49-F238E27FC236}">
                <a16:creationId xmlns:a16="http://schemas.microsoft.com/office/drawing/2014/main" id="{EA67C6E8-3DFB-4071-A8C4-9DF88A6FDBD0}"/>
              </a:ext>
            </a:extLst>
          </p:cNvPr>
          <p:cNvSpPr>
            <a:spLocks xmlns:a="http://schemas.openxmlformats.org/drawingml/2006/main" noGrp="1"/>
          </p:cNvSpPr>
          <p:nvPr/>
        </p:nvSpPr>
        <p:spPr>
          <a:xfrm xmlns:a="http://schemas.openxmlformats.org/drawingml/2006/main">
            <a:off x="10001250" y="5638800"/>
            <a:ext cx="442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26A14"/>
                </a:solidFill>
                <a:latin typeface="Segoe UI"/>
                <a:ea typeface="Segoe UI"/>
                <a:cs typeface="Segoe UI"/>
              </a:defRPr>
            </a:pPr>
            <a:r>
              <a:rPr sz="2025" b="1">
                <a:solidFill>
                  <a:srgbClr val="B26A14"/>
                </a:solidFill>
                <a:latin typeface="Segoe UI"/>
                <a:ea typeface="Segoe UI"/>
                <a:cs typeface="Segoe UI"/>
              </a:rPr>
              <a:t>CRITICAL PRIORITY</a:t>
            </a:r>
          </a:p>
        </p:txBody>
      </p:sp>
      <p:sp>
        <p:nvSpPr>
          <p:cNvPr id="12" name="Update the governance&#10;playbook for analyst review.">
            <a:extLst xmlns:a="http://schemas.openxmlformats.org/drawingml/2006/main">
              <a:ext uri="{FF2B5EF4-FFF2-40B4-BE49-F238E27FC236}">
                <a16:creationId xmlns:a16="http://schemas.microsoft.com/office/drawing/2014/main" id="{165EF1C0-D8F0-4C3D-82B6-CF47327FCCFB}"/>
              </a:ext>
            </a:extLst>
          </p:cNvPr>
          <p:cNvSpPr>
            <a:spLocks xmlns:a="http://schemas.openxmlformats.org/drawingml/2006/main" noGrp="1"/>
          </p:cNvSpPr>
          <p:nvPr/>
        </p:nvSpPr>
        <p:spPr>
          <a:xfrm xmlns:a="http://schemas.openxmlformats.org/drawingml/2006/main">
            <a:off x="10001250" y="6219825"/>
            <a:ext cx="442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43"/>
                </a:solidFill>
                <a:latin typeface="Segoe UI"/>
                <a:ea typeface="Segoe UI"/>
                <a:cs typeface="Segoe UI"/>
              </a:defRPr>
            </a:pPr>
            <a:r>
              <a:rPr sz="2175" b="0">
                <a:solidFill>
                  <a:srgbClr val="102C43"/>
                </a:solidFill>
                <a:latin typeface="Segoe UI"/>
                <a:ea typeface="Segoe UI"/>
                <a:cs typeface="Segoe UI"/>
              </a:rPr>
              <a:t>Update the governance</a:t>
            </a:r>
          </a:p>
          <a:p xmlns:a="http://schemas.openxmlformats.org/drawingml/2006/main">
            <a:pPr>
              <a:defRPr sz="2175" b="0">
                <a:solidFill>
                  <a:srgbClr val="102C43"/>
                </a:solidFill>
                <a:latin typeface="Segoe UI"/>
                <a:ea typeface="Segoe UI"/>
                <a:cs typeface="Segoe UI"/>
              </a:defRPr>
            </a:pPr>
            <a:r>
              <a:rPr sz="2175" b="0">
                <a:solidFill>
                  <a:srgbClr val="102C43"/>
                </a:solidFill>
                <a:latin typeface="Segoe UI"/>
                <a:ea typeface="Segoe UI"/>
                <a:cs typeface="Segoe UI"/>
              </a:rPr>
              <a:t>playbook for analyst review.</a:t>
            </a:r>
          </a:p>
        </p:txBody>
      </p:sp>
      <p:sp>
        <p:nvSpPr>
          <p:cNvPr id="13" name="Illustrative calculation uses unrounded inputs. Gap = a">
            <a:extLst xmlns:a="http://schemas.openxmlformats.org/drawingml/2006/main">
              <a:ext uri="{FF2B5EF4-FFF2-40B4-BE49-F238E27FC236}">
                <a16:creationId xmlns:a16="http://schemas.microsoft.com/office/drawing/2014/main" id="{9CFB0EA8-2C2E-4ABC-8E3D-1F42594F5A89}"/>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Illustrative calculation uses unrounded inputs. Gap = attention × (1 − coverage).</a:t>
            </a:r>
          </a:p>
        </p:txBody>
      </p:sp>
    </p:spTree>
    <p:extLst>
      <p:ext uri="{BB962C8B-B14F-4D97-AF65-F5344CB8AC3E}">
        <p14:creationId xmlns:p14="http://schemas.microsoft.com/office/powerpoint/2010/main" val="10626809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AGENT 06">
            <a:extLst xmlns:a="http://schemas.openxmlformats.org/drawingml/2006/main">
              <a:ext uri="{FF2B5EF4-FFF2-40B4-BE49-F238E27FC236}">
                <a16:creationId xmlns:a16="http://schemas.microsoft.com/office/drawing/2014/main" id="{D73B0D3F-13FD-475B-B843-129B647A74FD}"/>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AGENT 06</a:t>
            </a:r>
          </a:p>
        </p:txBody>
      </p:sp>
      <p:sp>
        <p:nvSpPr>
          <p:cNvPr id="2" name="The knowledge graph makes evidence inspectable">
            <a:extLst xmlns:a="http://schemas.openxmlformats.org/drawingml/2006/main">
              <a:ext uri="{FF2B5EF4-FFF2-40B4-BE49-F238E27FC236}">
                <a16:creationId xmlns:a16="http://schemas.microsoft.com/office/drawing/2014/main" id="{1EF9D7F6-06AF-46F1-820A-671ADE31015A}"/>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The knowledge graph makes evidence inspectable</a:t>
            </a:r>
          </a:p>
        </p:txBody>
      </p:sp>
      <p:sp>
        <p:nvSpPr>
          <p:cNvPr id="3" name="">
            <a:extLst xmlns:a="http://schemas.openxmlformats.org/drawingml/2006/main">
              <a:ext uri="{FF2B5EF4-FFF2-40B4-BE49-F238E27FC236}">
                <a16:creationId xmlns:a16="http://schemas.microsoft.com/office/drawing/2014/main" id="{69519E8A-ABB9-4DFA-9A40-933B7850CB02}"/>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82C2AD2B-6086-4711-A4A2-7C109830A21D}"/>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13">
            <a:extLst xmlns:a="http://schemas.openxmlformats.org/drawingml/2006/main">
              <a:ext uri="{FF2B5EF4-FFF2-40B4-BE49-F238E27FC236}">
                <a16:creationId xmlns:a16="http://schemas.microsoft.com/office/drawing/2014/main" id="{4D05486A-F6DB-4C27-BA77-117DEB3659A8}"/>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13</a:t>
            </a:r>
          </a:p>
        </p:txBody>
      </p:sp>
      <p:sp>
        <p:nvSpPr>
          <p:cNvPr id="6" name="MARKET ENTITIES">
            <a:extLst xmlns:a="http://schemas.openxmlformats.org/drawingml/2006/main">
              <a:ext uri="{FF2B5EF4-FFF2-40B4-BE49-F238E27FC236}">
                <a16:creationId xmlns:a16="http://schemas.microsoft.com/office/drawing/2014/main" id="{9F50A9EC-7A98-4A81-AA3A-69DF5A18C8A7}"/>
              </a:ext>
            </a:extLst>
          </p:cNvPr>
          <p:cNvSpPr>
            <a:spLocks xmlns:a="http://schemas.openxmlformats.org/drawingml/2006/main" noGrp="1"/>
          </p:cNvSpPr>
          <p:nvPr/>
        </p:nvSpPr>
        <p:spPr>
          <a:xfrm xmlns:a="http://schemas.openxmlformats.org/drawingml/2006/main">
            <a:off x="762000" y="23812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MARKET ENTITIES</a:t>
            </a:r>
          </a:p>
        </p:txBody>
      </p:sp>
      <p:sp>
        <p:nvSpPr>
          <p:cNvPr id="7" name="CANONICAL TOPIC">
            <a:extLst xmlns:a="http://schemas.openxmlformats.org/drawingml/2006/main">
              <a:ext uri="{FF2B5EF4-FFF2-40B4-BE49-F238E27FC236}">
                <a16:creationId xmlns:a16="http://schemas.microsoft.com/office/drawing/2014/main" id="{FB064516-4EC7-4A06-A851-F3461D5F28F5}"/>
              </a:ext>
            </a:extLst>
          </p:cNvPr>
          <p:cNvSpPr>
            <a:spLocks xmlns:a="http://schemas.openxmlformats.org/drawingml/2006/main" noGrp="1"/>
          </p:cNvSpPr>
          <p:nvPr/>
        </p:nvSpPr>
        <p:spPr>
          <a:xfrm xmlns:a="http://schemas.openxmlformats.org/drawingml/2006/main">
            <a:off x="5619750" y="23812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CANONICAL TOPIC</a:t>
            </a:r>
          </a:p>
        </p:txBody>
      </p:sp>
      <p:sp>
        <p:nvSpPr>
          <p:cNvPr id="8" name="INTERNAL RESEARCH">
            <a:extLst xmlns:a="http://schemas.openxmlformats.org/drawingml/2006/main">
              <a:ext uri="{FF2B5EF4-FFF2-40B4-BE49-F238E27FC236}">
                <a16:creationId xmlns:a16="http://schemas.microsoft.com/office/drawing/2014/main" id="{FCDD7666-1C44-4A33-853E-5E72C1DE182F}"/>
              </a:ext>
            </a:extLst>
          </p:cNvPr>
          <p:cNvSpPr>
            <a:spLocks xmlns:a="http://schemas.openxmlformats.org/drawingml/2006/main" noGrp="1"/>
          </p:cNvSpPr>
          <p:nvPr/>
        </p:nvSpPr>
        <p:spPr>
          <a:xfrm xmlns:a="http://schemas.openxmlformats.org/drawingml/2006/main">
            <a:off x="10668000" y="23812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07D82"/>
                </a:solidFill>
                <a:latin typeface="Segoe UI"/>
                <a:ea typeface="Segoe UI"/>
                <a:cs typeface="Segoe UI"/>
              </a:defRPr>
            </a:pPr>
            <a:r>
              <a:rPr sz="1650" b="1">
                <a:solidFill>
                  <a:srgbClr val="007D82"/>
                </a:solidFill>
                <a:latin typeface="Segoe UI"/>
                <a:ea typeface="Segoe UI"/>
                <a:cs typeface="Segoe UI"/>
              </a:rPr>
              <a:t>INTERNAL RESEARCH</a:t>
            </a:r>
          </a:p>
        </p:txBody>
      </p:sp>
      <p:sp>
        <p:nvSpPr>
          <p:cNvPr id="9" name="">
            <a:extLst xmlns:a="http://schemas.openxmlformats.org/drawingml/2006/main">
              <a:ext uri="{FF2B5EF4-FFF2-40B4-BE49-F238E27FC236}">
                <a16:creationId xmlns:a16="http://schemas.microsoft.com/office/drawing/2014/main" id="{88894F33-2862-4A8F-A0CE-ADE2387755F2}"/>
              </a:ext>
            </a:extLst>
          </p:cNvPr>
          <p:cNvSpPr>
            <a:spLocks xmlns:a="http://schemas.openxmlformats.org/drawingml/2006/main" noGrp="1"/>
          </p:cNvSpPr>
          <p:nvPr/>
        </p:nvSpPr>
        <p:spPr>
          <a:xfrm xmlns:a="http://schemas.openxmlformats.org/drawingml/2006/main">
            <a:off x="5524500" y="3971925"/>
            <a:ext cx="4191000" cy="1714500"/>
          </a:xfrm>
          <a:prstGeom xmlns:a="http://schemas.openxmlformats.org/drawingml/2006/main" prst="rect">
            <a:avLst/>
          </a:prstGeom>
          <a:solidFill xmlns:a="http://schemas.openxmlformats.org/drawingml/2006/main">
            <a:srgbClr val="0B2238"/>
          </a:solidFill>
          <a:ln xmlns:a="http://schemas.openxmlformats.org/drawingml/2006/main" w="0">
            <a:noFill/>
          </a:ln>
        </p:spPr>
      </p:sp>
      <p:sp>
        <p:nvSpPr>
          <p:cNvPr id="10" name="Medical AI Governance&#10;and Regulation">
            <a:extLst xmlns:a="http://schemas.openxmlformats.org/drawingml/2006/main">
              <a:ext uri="{FF2B5EF4-FFF2-40B4-BE49-F238E27FC236}">
                <a16:creationId xmlns:a16="http://schemas.microsoft.com/office/drawing/2014/main" id="{8B0009DD-0148-45D3-892F-A24DFC72D745}"/>
              </a:ext>
            </a:extLst>
          </p:cNvPr>
          <p:cNvSpPr>
            <a:spLocks xmlns:a="http://schemas.openxmlformats.org/drawingml/2006/main" noGrp="1"/>
          </p:cNvSpPr>
          <p:nvPr/>
        </p:nvSpPr>
        <p:spPr>
          <a:xfrm xmlns:a="http://schemas.openxmlformats.org/drawingml/2006/main">
            <a:off x="5734050" y="4191000"/>
            <a:ext cx="3771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FFFFFF"/>
                </a:solidFill>
                <a:latin typeface="Segoe UI"/>
                <a:ea typeface="Segoe UI"/>
                <a:cs typeface="Segoe UI"/>
              </a:defRPr>
            </a:pPr>
            <a:r>
              <a:rPr sz="2475" b="1">
                <a:solidFill>
                  <a:srgbClr val="FFFFFF"/>
                </a:solidFill>
                <a:latin typeface="Segoe UI"/>
                <a:ea typeface="Segoe UI"/>
                <a:cs typeface="Segoe UI"/>
              </a:rPr>
              <a:t>Medical AI Governance</a:t>
            </a:r>
          </a:p>
          <a:p xmlns:a="http://schemas.openxmlformats.org/drawingml/2006/main">
            <a:pPr>
              <a:defRPr sz="2475" b="1">
                <a:solidFill>
                  <a:srgbClr val="FFFFFF"/>
                </a:solidFill>
                <a:latin typeface="Segoe UI"/>
                <a:ea typeface="Segoe UI"/>
                <a:cs typeface="Segoe UI"/>
              </a:defRPr>
            </a:pPr>
            <a:r>
              <a:rPr sz="2475" b="1">
                <a:solidFill>
                  <a:srgbClr val="FFFFFF"/>
                </a:solidFill>
                <a:latin typeface="Segoe UI"/>
                <a:ea typeface="Segoe UI"/>
                <a:cs typeface="Segoe UI"/>
              </a:rPr>
              <a:t>and Regulation</a:t>
            </a:r>
          </a:p>
        </p:txBody>
      </p:sp>
      <p:sp>
        <p:nvSpPr>
          <p:cNvPr id="11" name="Attention 0.84    Coverage 0.88">
            <a:extLst xmlns:a="http://schemas.openxmlformats.org/drawingml/2006/main">
              <a:ext uri="{FF2B5EF4-FFF2-40B4-BE49-F238E27FC236}">
                <a16:creationId xmlns:a16="http://schemas.microsoft.com/office/drawing/2014/main" id="{2A2FC636-A4B9-4374-8852-43043D94A109}"/>
              </a:ext>
            </a:extLst>
          </p:cNvPr>
          <p:cNvSpPr>
            <a:spLocks xmlns:a="http://schemas.openxmlformats.org/drawingml/2006/main" noGrp="1"/>
          </p:cNvSpPr>
          <p:nvPr/>
        </p:nvSpPr>
        <p:spPr>
          <a:xfrm xmlns:a="http://schemas.openxmlformats.org/drawingml/2006/main">
            <a:off x="5734050" y="5248275"/>
            <a:ext cx="377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71D5C0"/>
                </a:solidFill>
                <a:latin typeface="Segoe UI"/>
                <a:ea typeface="Segoe UI"/>
                <a:cs typeface="Segoe UI"/>
              </a:defRPr>
            </a:pPr>
            <a:r>
              <a:rPr sz="1800" b="0">
                <a:solidFill>
                  <a:srgbClr val="71D5C0"/>
                </a:solidFill>
                <a:latin typeface="Segoe UI"/>
                <a:ea typeface="Segoe UI"/>
                <a:cs typeface="Segoe UI"/>
              </a:rPr>
              <a:t>Attention 0.84    Coverage 0.88</a:t>
            </a:r>
          </a:p>
        </p:txBody>
      </p:sp>
      <p:sp>
        <p:nvSpPr>
          <p:cNvPr id="12" name="">
            <a:extLst xmlns:a="http://schemas.openxmlformats.org/drawingml/2006/main">
              <a:ext uri="{FF2B5EF4-FFF2-40B4-BE49-F238E27FC236}">
                <a16:creationId xmlns:a16="http://schemas.microsoft.com/office/drawing/2014/main" id="{A9CE746C-2809-40ED-885A-0280CA526F27}"/>
              </a:ext>
            </a:extLst>
          </p:cNvPr>
          <p:cNvSpPr>
            <a:spLocks xmlns:a="http://schemas.openxmlformats.org/drawingml/2006/main" noGrp="1"/>
          </p:cNvSpPr>
          <p:nvPr/>
        </p:nvSpPr>
        <p:spPr>
          <a:xfrm xmlns:a="http://schemas.openxmlformats.org/drawingml/2006/main">
            <a:off x="762000" y="3238500"/>
            <a:ext cx="3429000" cy="9525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3" name="UVA Health">
            <a:extLst xmlns:a="http://schemas.openxmlformats.org/drawingml/2006/main">
              <a:ext uri="{FF2B5EF4-FFF2-40B4-BE49-F238E27FC236}">
                <a16:creationId xmlns:a16="http://schemas.microsoft.com/office/drawing/2014/main" id="{0F287B15-8E7F-4E24-AD51-DE32B83F506D}"/>
              </a:ext>
            </a:extLst>
          </p:cNvPr>
          <p:cNvSpPr>
            <a:spLocks xmlns:a="http://schemas.openxmlformats.org/drawingml/2006/main" noGrp="1"/>
          </p:cNvSpPr>
          <p:nvPr/>
        </p:nvSpPr>
        <p:spPr>
          <a:xfrm xmlns:a="http://schemas.openxmlformats.org/drawingml/2006/main">
            <a:off x="952500" y="3390900"/>
            <a:ext cx="304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UVA Health</a:t>
            </a:r>
          </a:p>
        </p:txBody>
      </p:sp>
      <p:sp>
        <p:nvSpPr>
          <p:cNvPr id="14" name="Organisation">
            <a:extLst xmlns:a="http://schemas.openxmlformats.org/drawingml/2006/main">
              <a:ext uri="{FF2B5EF4-FFF2-40B4-BE49-F238E27FC236}">
                <a16:creationId xmlns:a16="http://schemas.microsoft.com/office/drawing/2014/main" id="{98FB9476-E0A8-4741-A365-EAF8B9B82F63}"/>
              </a:ext>
            </a:extLst>
          </p:cNvPr>
          <p:cNvSpPr>
            <a:spLocks xmlns:a="http://schemas.openxmlformats.org/drawingml/2006/main" noGrp="1"/>
          </p:cNvSpPr>
          <p:nvPr/>
        </p:nvSpPr>
        <p:spPr>
          <a:xfrm xmlns:a="http://schemas.openxmlformats.org/drawingml/2006/main">
            <a:off x="952500" y="37909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Organisation</a:t>
            </a:r>
          </a:p>
        </p:txBody>
      </p:sp>
      <p:sp>
        <p:nvSpPr>
          <p:cNvPr id="15" name="">
            <a:extLst xmlns:a="http://schemas.openxmlformats.org/drawingml/2006/main">
              <a:ext uri="{FF2B5EF4-FFF2-40B4-BE49-F238E27FC236}">
                <a16:creationId xmlns:a16="http://schemas.microsoft.com/office/drawing/2014/main" id="{DEC8E1E9-53EC-47F1-97B3-0E835E62837C}"/>
              </a:ext>
            </a:extLst>
          </p:cNvPr>
          <p:cNvSpPr>
            <a:spLocks xmlns:a="http://schemas.openxmlformats.org/drawingml/2006/main" noGrp="1"/>
          </p:cNvSpPr>
          <p:nvPr/>
        </p:nvSpPr>
        <p:spPr>
          <a:xfrm xmlns:a="http://schemas.openxmlformats.org/drawingml/2006/main">
            <a:off x="762000" y="5953125"/>
            <a:ext cx="3429000" cy="9525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6" name="HHS">
            <a:extLst xmlns:a="http://schemas.openxmlformats.org/drawingml/2006/main">
              <a:ext uri="{FF2B5EF4-FFF2-40B4-BE49-F238E27FC236}">
                <a16:creationId xmlns:a16="http://schemas.microsoft.com/office/drawing/2014/main" id="{26B7D777-CF7F-48CB-8E7F-67C9E2BAB771}"/>
              </a:ext>
            </a:extLst>
          </p:cNvPr>
          <p:cNvSpPr>
            <a:spLocks xmlns:a="http://schemas.openxmlformats.org/drawingml/2006/main" noGrp="1"/>
          </p:cNvSpPr>
          <p:nvPr/>
        </p:nvSpPr>
        <p:spPr>
          <a:xfrm xmlns:a="http://schemas.openxmlformats.org/drawingml/2006/main">
            <a:off x="952500" y="6105525"/>
            <a:ext cx="304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HHS</a:t>
            </a:r>
          </a:p>
        </p:txBody>
      </p:sp>
      <p:sp>
        <p:nvSpPr>
          <p:cNvPr id="17" name="Organisation">
            <a:extLst xmlns:a="http://schemas.openxmlformats.org/drawingml/2006/main">
              <a:ext uri="{FF2B5EF4-FFF2-40B4-BE49-F238E27FC236}">
                <a16:creationId xmlns:a16="http://schemas.microsoft.com/office/drawing/2014/main" id="{F1EACE59-61B2-48DE-8113-A89A8A65751E}"/>
              </a:ext>
            </a:extLst>
          </p:cNvPr>
          <p:cNvSpPr>
            <a:spLocks xmlns:a="http://schemas.openxmlformats.org/drawingml/2006/main" noGrp="1"/>
          </p:cNvSpPr>
          <p:nvPr/>
        </p:nvSpPr>
        <p:spPr>
          <a:xfrm xmlns:a="http://schemas.openxmlformats.org/drawingml/2006/main">
            <a:off x="952500" y="6505575"/>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Organisation</a:t>
            </a:r>
          </a:p>
        </p:txBody>
      </p:sp>
      <p:sp>
        <p:nvSpPr>
          <p:cNvPr id="18" name="">
            <a:extLst xmlns:a="http://schemas.openxmlformats.org/drawingml/2006/main">
              <a:ext uri="{FF2B5EF4-FFF2-40B4-BE49-F238E27FC236}">
                <a16:creationId xmlns:a16="http://schemas.microsoft.com/office/drawing/2014/main" id="{B64F2BD0-9AC4-4BC8-B41C-68B9540BEBD1}"/>
              </a:ext>
            </a:extLst>
          </p:cNvPr>
          <p:cNvSpPr>
            <a:spLocks xmlns:a="http://schemas.openxmlformats.org/drawingml/2006/main" noGrp="1"/>
          </p:cNvSpPr>
          <p:nvPr/>
        </p:nvSpPr>
        <p:spPr>
          <a:xfrm xmlns:a="http://schemas.openxmlformats.org/drawingml/2006/main">
            <a:off x="10668000" y="3238500"/>
            <a:ext cx="3810000" cy="9525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9" name="RN-1011">
            <a:extLst xmlns:a="http://schemas.openxmlformats.org/drawingml/2006/main">
              <a:ext uri="{FF2B5EF4-FFF2-40B4-BE49-F238E27FC236}">
                <a16:creationId xmlns:a16="http://schemas.microsoft.com/office/drawing/2014/main" id="{22CFA9B1-0DF5-4322-B15C-105C44ABD325}"/>
              </a:ext>
            </a:extLst>
          </p:cNvPr>
          <p:cNvSpPr>
            <a:spLocks xmlns:a="http://schemas.openxmlformats.org/drawingml/2006/main" noGrp="1"/>
          </p:cNvSpPr>
          <p:nvPr/>
        </p:nvSpPr>
        <p:spPr>
          <a:xfrm xmlns:a="http://schemas.openxmlformats.org/drawingml/2006/main">
            <a:off x="10858500" y="3390900"/>
            <a:ext cx="342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RN-1011</a:t>
            </a:r>
          </a:p>
        </p:txBody>
      </p:sp>
      <p:sp>
        <p:nvSpPr>
          <p:cNvPr id="20" name="FDA clearance pathways">
            <a:extLst xmlns:a="http://schemas.openxmlformats.org/drawingml/2006/main">
              <a:ext uri="{FF2B5EF4-FFF2-40B4-BE49-F238E27FC236}">
                <a16:creationId xmlns:a16="http://schemas.microsoft.com/office/drawing/2014/main" id="{EBEF9C47-90C9-44B6-A9F1-586826814CCA}"/>
              </a:ext>
            </a:extLst>
          </p:cNvPr>
          <p:cNvSpPr>
            <a:spLocks xmlns:a="http://schemas.openxmlformats.org/drawingml/2006/main" noGrp="1"/>
          </p:cNvSpPr>
          <p:nvPr/>
        </p:nvSpPr>
        <p:spPr>
          <a:xfrm xmlns:a="http://schemas.openxmlformats.org/drawingml/2006/main">
            <a:off x="10858500" y="379095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36C80"/>
                </a:solidFill>
                <a:latin typeface="Segoe UI"/>
                <a:ea typeface="Segoe UI"/>
                <a:cs typeface="Segoe UI"/>
              </a:defRPr>
            </a:pPr>
            <a:r>
              <a:rPr sz="1650" b="0">
                <a:solidFill>
                  <a:srgbClr val="536C80"/>
                </a:solidFill>
                <a:latin typeface="Segoe UI"/>
                <a:ea typeface="Segoe UI"/>
                <a:cs typeface="Segoe UI"/>
              </a:rPr>
              <a:t>FDA clearance pathways</a:t>
            </a:r>
          </a:p>
        </p:txBody>
      </p:sp>
      <p:sp>
        <p:nvSpPr>
          <p:cNvPr id="21" name="">
            <a:extLst xmlns:a="http://schemas.openxmlformats.org/drawingml/2006/main">
              <a:ext uri="{FF2B5EF4-FFF2-40B4-BE49-F238E27FC236}">
                <a16:creationId xmlns:a16="http://schemas.microsoft.com/office/drawing/2014/main" id="{DA7CC122-922E-4575-83DB-25D83BEFDBF5}"/>
              </a:ext>
            </a:extLst>
          </p:cNvPr>
          <p:cNvSpPr>
            <a:spLocks xmlns:a="http://schemas.openxmlformats.org/drawingml/2006/main" noGrp="1"/>
          </p:cNvSpPr>
          <p:nvPr/>
        </p:nvSpPr>
        <p:spPr>
          <a:xfrm xmlns:a="http://schemas.openxmlformats.org/drawingml/2006/main">
            <a:off x="10668000" y="5953125"/>
            <a:ext cx="3810000" cy="9525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22" name="RN-1003">
            <a:extLst xmlns:a="http://schemas.openxmlformats.org/drawingml/2006/main">
              <a:ext uri="{FF2B5EF4-FFF2-40B4-BE49-F238E27FC236}">
                <a16:creationId xmlns:a16="http://schemas.microsoft.com/office/drawing/2014/main" id="{F3629FCC-D043-4F15-A980-47EE04C9B949}"/>
              </a:ext>
            </a:extLst>
          </p:cNvPr>
          <p:cNvSpPr>
            <a:spLocks xmlns:a="http://schemas.openxmlformats.org/drawingml/2006/main" noGrp="1"/>
          </p:cNvSpPr>
          <p:nvPr/>
        </p:nvSpPr>
        <p:spPr>
          <a:xfrm xmlns:a="http://schemas.openxmlformats.org/drawingml/2006/main">
            <a:off x="10858500" y="6105525"/>
            <a:ext cx="342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02C43"/>
                </a:solidFill>
                <a:latin typeface="Segoe UI"/>
                <a:ea typeface="Segoe UI"/>
                <a:cs typeface="Segoe UI"/>
              </a:defRPr>
            </a:pPr>
            <a:r>
              <a:rPr sz="2250" b="1">
                <a:solidFill>
                  <a:srgbClr val="102C43"/>
                </a:solidFill>
                <a:latin typeface="Segoe UI"/>
                <a:ea typeface="Segoe UI"/>
                <a:cs typeface="Segoe UI"/>
              </a:rPr>
              <a:t>RN-1003</a:t>
            </a:r>
          </a:p>
        </p:txBody>
      </p:sp>
      <p:sp>
        <p:nvSpPr>
          <p:cNvPr id="23" name="Software as a medical device">
            <a:extLst xmlns:a="http://schemas.openxmlformats.org/drawingml/2006/main">
              <a:ext uri="{FF2B5EF4-FFF2-40B4-BE49-F238E27FC236}">
                <a16:creationId xmlns:a16="http://schemas.microsoft.com/office/drawing/2014/main" id="{39D882B9-05F7-46D3-8A04-36E0BA55E187}"/>
              </a:ext>
            </a:extLst>
          </p:cNvPr>
          <p:cNvSpPr>
            <a:spLocks xmlns:a="http://schemas.openxmlformats.org/drawingml/2006/main" noGrp="1"/>
          </p:cNvSpPr>
          <p:nvPr/>
        </p:nvSpPr>
        <p:spPr>
          <a:xfrm xmlns:a="http://schemas.openxmlformats.org/drawingml/2006/main">
            <a:off x="10858500" y="65055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36C80"/>
                </a:solidFill>
                <a:latin typeface="Segoe UI"/>
                <a:ea typeface="Segoe UI"/>
                <a:cs typeface="Segoe UI"/>
              </a:defRPr>
            </a:pPr>
            <a:r>
              <a:rPr sz="1650" b="0">
                <a:solidFill>
                  <a:srgbClr val="536C80"/>
                </a:solidFill>
                <a:latin typeface="Segoe UI"/>
                <a:ea typeface="Segoe UI"/>
                <a:cs typeface="Segoe UI"/>
              </a:rPr>
              <a:t>Software as a medical device</a:t>
            </a:r>
          </a:p>
        </p:txBody>
      </p:sp>
      <p:cxnSp>
        <p:nvCxnSpPr>
          <p:cNvPr id="56" name=""/>
          <p:cNvCxnSpPr>
            <a:stCxn xmlns:a="http://schemas.openxmlformats.org/drawingml/2006/main" id="9" idx="1"/>
            <a:endCxn xmlns:a="http://schemas.openxmlformats.org/drawingml/2006/main" id="12" idx="3"/>
          </p:cNvCxnSpPr>
          <p:nvPr/>
        </p:nvCxnSpPr>
        <p:spPr>
          <a:xfrm xmlns:a="http://schemas.openxmlformats.org/drawingml/2006/main" flipH="1" flipV="1">
            <a:off x="4191000" y="3714750"/>
            <a:ext cx="1333500" cy="1114425"/>
          </a:xfrm>
          <a:prstGeom xmlns:a="http://schemas.openxmlformats.org/drawingml/2006/main" prst="bentConnector3">
            <a:avLst>
              <a:gd name="adj1" fmla="val 50000"/>
            </a:avLst>
          </a:prstGeom>
          <a:ln xmlns:a="http://schemas.openxmlformats.org/drawingml/2006/main" w="19050">
            <a:solidFill>
              <a:srgbClr val="007D82"/>
            </a:solidFill>
            <a:tailEnd type="triangle" w="med" len="med"/>
          </a:ln>
        </p:spPr>
      </p:cxnSp>
      <p:cxnSp>
        <p:nvCxnSpPr>
          <p:cNvPr id="57" name=""/>
          <p:cNvCxnSpPr>
            <a:stCxn xmlns:a="http://schemas.openxmlformats.org/drawingml/2006/main" id="9" idx="1"/>
            <a:endCxn xmlns:a="http://schemas.openxmlformats.org/drawingml/2006/main" id="15" idx="3"/>
          </p:cNvCxnSpPr>
          <p:nvPr/>
        </p:nvCxnSpPr>
        <p:spPr>
          <a:xfrm xmlns:a="http://schemas.openxmlformats.org/drawingml/2006/main" flipH="1">
            <a:off x="4191000" y="4829175"/>
            <a:ext cx="1333500" cy="1600200"/>
          </a:xfrm>
          <a:prstGeom xmlns:a="http://schemas.openxmlformats.org/drawingml/2006/main" prst="bentConnector3">
            <a:avLst>
              <a:gd name="adj1" fmla="val 50000"/>
            </a:avLst>
          </a:prstGeom>
          <a:ln xmlns:a="http://schemas.openxmlformats.org/drawingml/2006/main" w="19050">
            <a:solidFill>
              <a:srgbClr val="007D82"/>
            </a:solidFill>
            <a:tailEnd type="triangle" w="med" len="med"/>
          </a:ln>
        </p:spPr>
      </p:cxnSp>
      <p:cxnSp>
        <p:nvCxnSpPr>
          <p:cNvPr id="58" name=""/>
          <p:cNvCxnSpPr>
            <a:stCxn xmlns:a="http://schemas.openxmlformats.org/drawingml/2006/main" id="9" idx="3"/>
            <a:endCxn xmlns:a="http://schemas.openxmlformats.org/drawingml/2006/main" id="18" idx="1"/>
          </p:cNvCxnSpPr>
          <p:nvPr/>
        </p:nvCxnSpPr>
        <p:spPr>
          <a:xfrm xmlns:a="http://schemas.openxmlformats.org/drawingml/2006/main" flipV="1">
            <a:off x="9715500" y="3714750"/>
            <a:ext cx="952500" cy="1114425"/>
          </a:xfrm>
          <a:prstGeom xmlns:a="http://schemas.openxmlformats.org/drawingml/2006/main" prst="bentConnector3">
            <a:avLst>
              <a:gd name="adj1" fmla="val 50000"/>
            </a:avLst>
          </a:prstGeom>
          <a:ln xmlns:a="http://schemas.openxmlformats.org/drawingml/2006/main" w="19050">
            <a:solidFill>
              <a:srgbClr val="007D82"/>
            </a:solidFill>
            <a:tailEnd type="triangle" w="med" len="med"/>
          </a:ln>
        </p:spPr>
      </p:cxnSp>
      <p:cxnSp>
        <p:nvCxnSpPr>
          <p:cNvPr id="59" name=""/>
          <p:cNvCxnSpPr>
            <a:stCxn xmlns:a="http://schemas.openxmlformats.org/drawingml/2006/main" id="9" idx="3"/>
            <a:endCxn xmlns:a="http://schemas.openxmlformats.org/drawingml/2006/main" id="21" idx="1"/>
          </p:cNvCxnSpPr>
          <p:nvPr/>
        </p:nvCxnSpPr>
        <p:spPr>
          <a:xfrm xmlns:a="http://schemas.openxmlformats.org/drawingml/2006/main">
            <a:off x="9715500" y="4829175"/>
            <a:ext cx="952500" cy="1600200"/>
          </a:xfrm>
          <a:prstGeom xmlns:a="http://schemas.openxmlformats.org/drawingml/2006/main" prst="bentConnector3">
            <a:avLst>
              <a:gd name="adj1" fmla="val 50000"/>
            </a:avLst>
          </a:prstGeom>
          <a:ln xmlns:a="http://schemas.openxmlformats.org/drawingml/2006/main" w="19050">
            <a:solidFill>
              <a:srgbClr val="007D82"/>
            </a:solidFill>
            <a:tailEnd type="triangle" w="med" len="med"/>
          </a:ln>
        </p:spPr>
      </p:cxnSp>
      <p:sp>
        <p:nvSpPr>
          <p:cNvPr id="28" name="">
            <a:extLst xmlns:a="http://schemas.openxmlformats.org/drawingml/2006/main">
              <a:ext uri="{FF2B5EF4-FFF2-40B4-BE49-F238E27FC236}">
                <a16:creationId xmlns:a16="http://schemas.microsoft.com/office/drawing/2014/main" id="{3F20086A-4214-4842-9183-20FA0FFE44B2}"/>
              </a:ext>
            </a:extLst>
          </p:cNvPr>
          <p:cNvSpPr>
            <a:spLocks xmlns:a="http://schemas.openxmlformats.org/drawingml/2006/main" noGrp="1"/>
          </p:cNvSpPr>
          <p:nvPr/>
        </p:nvSpPr>
        <p:spPr>
          <a:xfrm xmlns:a="http://schemas.openxmlformats.org/drawingml/2006/main">
            <a:off x="4257675" y="4486275"/>
            <a:ext cx="1171575" cy="2762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1277067-6033-4029-8D61-DC1F1653339E}"/>
              </a:ext>
            </a:extLst>
          </p:cNvPr>
          <p:cNvSpPr>
            <a:spLocks xmlns:a="http://schemas.openxmlformats.org/drawingml/2006/main" noGrp="1"/>
          </p:cNvSpPr>
          <p:nvPr/>
        </p:nvSpPr>
        <p:spPr>
          <a:xfrm xmlns:a="http://schemas.openxmlformats.org/drawingml/2006/main">
            <a:off x="9744075" y="4476750"/>
            <a:ext cx="895350" cy="285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0" name="mentions">
            <a:extLst xmlns:a="http://schemas.openxmlformats.org/drawingml/2006/main">
              <a:ext uri="{FF2B5EF4-FFF2-40B4-BE49-F238E27FC236}">
                <a16:creationId xmlns:a16="http://schemas.microsoft.com/office/drawing/2014/main" id="{39557FAD-6EC6-437E-91C7-74CB7FE3CE96}"/>
              </a:ext>
            </a:extLst>
          </p:cNvPr>
          <p:cNvSpPr>
            <a:spLocks xmlns:a="http://schemas.openxmlformats.org/drawingml/2006/main" noGrp="1"/>
          </p:cNvSpPr>
          <p:nvPr/>
        </p:nvSpPr>
        <p:spPr>
          <a:xfrm xmlns:a="http://schemas.openxmlformats.org/drawingml/2006/main">
            <a:off x="4286250" y="450532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C80"/>
                </a:solidFill>
                <a:latin typeface="Segoe UI"/>
                <a:ea typeface="Segoe UI"/>
                <a:cs typeface="Segoe UI"/>
              </a:defRPr>
            </a:pPr>
            <a:r>
              <a:rPr sz="1500" b="0">
                <a:solidFill>
                  <a:srgbClr val="536C80"/>
                </a:solidFill>
                <a:latin typeface="Segoe UI"/>
                <a:ea typeface="Segoe UI"/>
                <a:cs typeface="Segoe UI"/>
              </a:rPr>
              <a:t>mentions</a:t>
            </a:r>
          </a:p>
        </p:txBody>
      </p:sp>
      <p:sp>
        <p:nvSpPr>
          <p:cNvPr id="31" name="covered by">
            <a:extLst xmlns:a="http://schemas.openxmlformats.org/drawingml/2006/main">
              <a:ext uri="{FF2B5EF4-FFF2-40B4-BE49-F238E27FC236}">
                <a16:creationId xmlns:a16="http://schemas.microsoft.com/office/drawing/2014/main" id="{C1A6EDBA-EA7F-42E6-8199-8D66B163080A}"/>
              </a:ext>
            </a:extLst>
          </p:cNvPr>
          <p:cNvSpPr>
            <a:spLocks xmlns:a="http://schemas.openxmlformats.org/drawingml/2006/main" noGrp="1"/>
          </p:cNvSpPr>
          <p:nvPr/>
        </p:nvSpPr>
        <p:spPr>
          <a:xfrm xmlns:a="http://schemas.openxmlformats.org/drawingml/2006/main">
            <a:off x="9763125" y="4524375"/>
            <a:ext cx="866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C80"/>
                </a:solidFill>
                <a:latin typeface="Segoe UI"/>
                <a:ea typeface="Segoe UI"/>
                <a:cs typeface="Segoe UI"/>
              </a:defRPr>
            </a:pPr>
            <a:r>
              <a:rPr sz="1275" b="0">
                <a:solidFill>
                  <a:srgbClr val="536C80"/>
                </a:solidFill>
                <a:latin typeface="Segoe UI"/>
                <a:ea typeface="Segoe UI"/>
                <a:cs typeface="Segoe UI"/>
              </a:rPr>
              <a:t>covered by</a:t>
            </a:r>
          </a:p>
        </p:txBody>
      </p:sp>
      <p:sp>
        <p:nvSpPr>
          <p:cNvPr id="32" name="Selected relationships from saved run #9. An accepted c">
            <a:extLst xmlns:a="http://schemas.openxmlformats.org/drawingml/2006/main">
              <a:ext uri="{FF2B5EF4-FFF2-40B4-BE49-F238E27FC236}">
                <a16:creationId xmlns:a16="http://schemas.microsoft.com/office/drawing/2014/main" id="{93C3460A-D19B-4B90-B279-DC50B66AC9C2}"/>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Selected relationships from saved run #9. An accepted coverage link may represent partial or dated research.</a:t>
            </a:r>
          </a:p>
        </p:txBody>
      </p:sp>
    </p:spTree>
    <p:extLst>
      <p:ext uri="{BB962C8B-B14F-4D97-AF65-F5344CB8AC3E}">
        <p14:creationId xmlns:p14="http://schemas.microsoft.com/office/powerpoint/2010/main" val="9327604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AGENTS 08–09">
            <a:extLst xmlns:a="http://schemas.openxmlformats.org/drawingml/2006/main">
              <a:ext uri="{FF2B5EF4-FFF2-40B4-BE49-F238E27FC236}">
                <a16:creationId xmlns:a16="http://schemas.microsoft.com/office/drawing/2014/main" id="{A8757E43-FEBF-4C7E-AC95-0F4E35871484}"/>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AGENTS 08–09</a:t>
            </a:r>
          </a:p>
        </p:txBody>
      </p:sp>
      <p:sp>
        <p:nvSpPr>
          <p:cNvPr id="2" name="Synthesis explains the scores and Critic checks them">
            <a:extLst xmlns:a="http://schemas.openxmlformats.org/drawingml/2006/main">
              <a:ext uri="{FF2B5EF4-FFF2-40B4-BE49-F238E27FC236}">
                <a16:creationId xmlns:a16="http://schemas.microsoft.com/office/drawing/2014/main" id="{D23CF116-F80C-400E-94FD-2DD2E587BF37}"/>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Synthesis explains the scores and Critic checks them</a:t>
            </a:r>
          </a:p>
        </p:txBody>
      </p:sp>
      <p:sp>
        <p:nvSpPr>
          <p:cNvPr id="3" name="">
            <a:extLst xmlns:a="http://schemas.openxmlformats.org/drawingml/2006/main">
              <a:ext uri="{FF2B5EF4-FFF2-40B4-BE49-F238E27FC236}">
                <a16:creationId xmlns:a16="http://schemas.microsoft.com/office/drawing/2014/main" id="{340755F9-3243-4D97-97CF-F8756CADB1F4}"/>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A9E78318-AF1D-40AF-8A7A-EC829E66ADB1}"/>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14">
            <a:extLst xmlns:a="http://schemas.openxmlformats.org/drawingml/2006/main">
              <a:ext uri="{FF2B5EF4-FFF2-40B4-BE49-F238E27FC236}">
                <a16:creationId xmlns:a16="http://schemas.microsoft.com/office/drawing/2014/main" id="{3BF187C9-8722-4189-9E03-E69214623941}"/>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14</a:t>
            </a:r>
          </a:p>
        </p:txBody>
      </p:sp>
      <p:sp>
        <p:nvSpPr>
          <p:cNvPr id="6" name="">
            <a:extLst xmlns:a="http://schemas.openxmlformats.org/drawingml/2006/main">
              <a:ext uri="{FF2B5EF4-FFF2-40B4-BE49-F238E27FC236}">
                <a16:creationId xmlns:a16="http://schemas.microsoft.com/office/drawing/2014/main" id="{D8C0E92E-B099-46BC-9655-4E860C98B67D}"/>
              </a:ext>
            </a:extLst>
          </p:cNvPr>
          <p:cNvSpPr>
            <a:spLocks xmlns:a="http://schemas.openxmlformats.org/drawingml/2006/main" noGrp="1"/>
          </p:cNvSpPr>
          <p:nvPr/>
        </p:nvSpPr>
        <p:spPr>
          <a:xfrm xmlns:a="http://schemas.openxmlformats.org/drawingml/2006/main">
            <a:off x="762000" y="2714625"/>
            <a:ext cx="4318000" cy="21431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7" name="01">
            <a:extLst xmlns:a="http://schemas.openxmlformats.org/drawingml/2006/main">
              <a:ext uri="{FF2B5EF4-FFF2-40B4-BE49-F238E27FC236}">
                <a16:creationId xmlns:a16="http://schemas.microsoft.com/office/drawing/2014/main" id="{E5791234-5689-49C4-9CE4-6FD65FEDB018}"/>
              </a:ext>
            </a:extLst>
          </p:cNvPr>
          <p:cNvSpPr>
            <a:spLocks xmlns:a="http://schemas.openxmlformats.org/drawingml/2006/main" noGrp="1"/>
          </p:cNvSpPr>
          <p:nvPr/>
        </p:nvSpPr>
        <p:spPr>
          <a:xfrm xmlns:a="http://schemas.openxmlformats.org/drawingml/2006/main">
            <a:off x="952500" y="2905125"/>
            <a:ext cx="393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01</a:t>
            </a:r>
          </a:p>
        </p:txBody>
      </p:sp>
      <p:sp>
        <p:nvSpPr>
          <p:cNvPr id="8" name="Computed analytics">
            <a:extLst xmlns:a="http://schemas.openxmlformats.org/drawingml/2006/main">
              <a:ext uri="{FF2B5EF4-FFF2-40B4-BE49-F238E27FC236}">
                <a16:creationId xmlns:a16="http://schemas.microsoft.com/office/drawing/2014/main" id="{6356F090-406B-4AB6-9EBF-751DB25BFA2B}"/>
              </a:ext>
            </a:extLst>
          </p:cNvPr>
          <p:cNvSpPr>
            <a:spLocks xmlns:a="http://schemas.openxmlformats.org/drawingml/2006/main" noGrp="1"/>
          </p:cNvSpPr>
          <p:nvPr/>
        </p:nvSpPr>
        <p:spPr>
          <a:xfrm xmlns:a="http://schemas.openxmlformats.org/drawingml/2006/main">
            <a:off x="952500" y="3286125"/>
            <a:ext cx="393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Computed analytics</a:t>
            </a:r>
          </a:p>
        </p:txBody>
      </p:sp>
      <p:sp>
        <p:nvSpPr>
          <p:cNvPr id="9" name="Scores, matches and priority">
            <a:extLst xmlns:a="http://schemas.openxmlformats.org/drawingml/2006/main">
              <a:ext uri="{FF2B5EF4-FFF2-40B4-BE49-F238E27FC236}">
                <a16:creationId xmlns:a16="http://schemas.microsoft.com/office/drawing/2014/main" id="{03838B05-2F6D-4148-A6CB-3A24B88C3172}"/>
              </a:ext>
            </a:extLst>
          </p:cNvPr>
          <p:cNvSpPr>
            <a:spLocks xmlns:a="http://schemas.openxmlformats.org/drawingml/2006/main" noGrp="1"/>
          </p:cNvSpPr>
          <p:nvPr/>
        </p:nvSpPr>
        <p:spPr>
          <a:xfrm xmlns:a="http://schemas.openxmlformats.org/drawingml/2006/main">
            <a:off x="952500" y="3895725"/>
            <a:ext cx="393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Scores, matches and priority</a:t>
            </a:r>
          </a:p>
        </p:txBody>
      </p:sp>
      <p:sp>
        <p:nvSpPr>
          <p:cNvPr id="10" name="">
            <a:extLst xmlns:a="http://schemas.openxmlformats.org/drawingml/2006/main">
              <a:ext uri="{FF2B5EF4-FFF2-40B4-BE49-F238E27FC236}">
                <a16:creationId xmlns:a16="http://schemas.microsoft.com/office/drawing/2014/main" id="{FAE30DD9-DBD1-48C8-9C4D-1088F7B16EF2}"/>
              </a:ext>
            </a:extLst>
          </p:cNvPr>
          <p:cNvSpPr>
            <a:spLocks xmlns:a="http://schemas.openxmlformats.org/drawingml/2006/main" noGrp="1"/>
          </p:cNvSpPr>
          <p:nvPr/>
        </p:nvSpPr>
        <p:spPr>
          <a:xfrm xmlns:a="http://schemas.openxmlformats.org/drawingml/2006/main">
            <a:off x="5461000" y="2714625"/>
            <a:ext cx="4318000" cy="21431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1" name="02">
            <a:extLst xmlns:a="http://schemas.openxmlformats.org/drawingml/2006/main">
              <a:ext uri="{FF2B5EF4-FFF2-40B4-BE49-F238E27FC236}">
                <a16:creationId xmlns:a16="http://schemas.microsoft.com/office/drawing/2014/main" id="{7FD5CA62-CD58-4F9D-8FE1-26222D456AA7}"/>
              </a:ext>
            </a:extLst>
          </p:cNvPr>
          <p:cNvSpPr>
            <a:spLocks xmlns:a="http://schemas.openxmlformats.org/drawingml/2006/main" noGrp="1"/>
          </p:cNvSpPr>
          <p:nvPr/>
        </p:nvSpPr>
        <p:spPr>
          <a:xfrm xmlns:a="http://schemas.openxmlformats.org/drawingml/2006/main">
            <a:off x="5651500" y="2905125"/>
            <a:ext cx="393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02</a:t>
            </a:r>
          </a:p>
        </p:txBody>
      </p:sp>
      <p:sp>
        <p:nvSpPr>
          <p:cNvPr id="12" name="Synthesizer">
            <a:extLst xmlns:a="http://schemas.openxmlformats.org/drawingml/2006/main">
              <a:ext uri="{FF2B5EF4-FFF2-40B4-BE49-F238E27FC236}">
                <a16:creationId xmlns:a16="http://schemas.microsoft.com/office/drawing/2014/main" id="{AE4F73AA-08D7-4387-90E0-1951F17D91F0}"/>
              </a:ext>
            </a:extLst>
          </p:cNvPr>
          <p:cNvSpPr>
            <a:spLocks xmlns:a="http://schemas.openxmlformats.org/drawingml/2006/main" noGrp="1"/>
          </p:cNvSpPr>
          <p:nvPr/>
        </p:nvSpPr>
        <p:spPr>
          <a:xfrm xmlns:a="http://schemas.openxmlformats.org/drawingml/2006/main">
            <a:off x="5651500" y="3286125"/>
            <a:ext cx="393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Synthesizer</a:t>
            </a:r>
          </a:p>
        </p:txBody>
      </p:sp>
      <p:sp>
        <p:nvSpPr>
          <p:cNvPr id="13" name="Executive summary and actions">
            <a:extLst xmlns:a="http://schemas.openxmlformats.org/drawingml/2006/main">
              <a:ext uri="{FF2B5EF4-FFF2-40B4-BE49-F238E27FC236}">
                <a16:creationId xmlns:a16="http://schemas.microsoft.com/office/drawing/2014/main" id="{721B6636-3DA0-4D12-9B95-80E77C84708C}"/>
              </a:ext>
            </a:extLst>
          </p:cNvPr>
          <p:cNvSpPr>
            <a:spLocks xmlns:a="http://schemas.openxmlformats.org/drawingml/2006/main" noGrp="1"/>
          </p:cNvSpPr>
          <p:nvPr/>
        </p:nvSpPr>
        <p:spPr>
          <a:xfrm xmlns:a="http://schemas.openxmlformats.org/drawingml/2006/main">
            <a:off x="5651500" y="3895725"/>
            <a:ext cx="393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Executive summary and actions</a:t>
            </a:r>
          </a:p>
        </p:txBody>
      </p:sp>
      <p:cxnSp>
        <p:nvCxnSpPr>
          <p:cNvPr id="38" name=""/>
          <p:cNvCxnSpPr>
            <a:stCxn xmlns:a="http://schemas.openxmlformats.org/drawingml/2006/main" id="6" idx="3"/>
            <a:endCxn xmlns:a="http://schemas.openxmlformats.org/drawingml/2006/main" id="10" idx="1"/>
          </p:cNvCxnSpPr>
          <p:nvPr/>
        </p:nvCxnSpPr>
        <p:spPr>
          <a:xfrm xmlns:a="http://schemas.openxmlformats.org/drawingml/2006/main">
            <a:off x="5080000" y="3786188"/>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5" name="">
            <a:extLst xmlns:a="http://schemas.openxmlformats.org/drawingml/2006/main">
              <a:ext uri="{FF2B5EF4-FFF2-40B4-BE49-F238E27FC236}">
                <a16:creationId xmlns:a16="http://schemas.microsoft.com/office/drawing/2014/main" id="{E77383C7-0489-4228-B8D9-70A1E37CC98F}"/>
              </a:ext>
            </a:extLst>
          </p:cNvPr>
          <p:cNvSpPr>
            <a:spLocks xmlns:a="http://schemas.openxmlformats.org/drawingml/2006/main" noGrp="1"/>
          </p:cNvSpPr>
          <p:nvPr/>
        </p:nvSpPr>
        <p:spPr>
          <a:xfrm xmlns:a="http://schemas.openxmlformats.org/drawingml/2006/main">
            <a:off x="10160000" y="2714625"/>
            <a:ext cx="4318000" cy="2143125"/>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6" name="03">
            <a:extLst xmlns:a="http://schemas.openxmlformats.org/drawingml/2006/main">
              <a:ext uri="{FF2B5EF4-FFF2-40B4-BE49-F238E27FC236}">
                <a16:creationId xmlns:a16="http://schemas.microsoft.com/office/drawing/2014/main" id="{40380B91-69CB-47AD-B54E-70FDC9F03C53}"/>
              </a:ext>
            </a:extLst>
          </p:cNvPr>
          <p:cNvSpPr>
            <a:spLocks xmlns:a="http://schemas.openxmlformats.org/drawingml/2006/main" noGrp="1"/>
          </p:cNvSpPr>
          <p:nvPr/>
        </p:nvSpPr>
        <p:spPr>
          <a:xfrm xmlns:a="http://schemas.openxmlformats.org/drawingml/2006/main">
            <a:off x="10350500" y="2905125"/>
            <a:ext cx="393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03</a:t>
            </a:r>
          </a:p>
        </p:txBody>
      </p:sp>
      <p:sp>
        <p:nvSpPr>
          <p:cNvPr id="17" name="Critic">
            <a:extLst xmlns:a="http://schemas.openxmlformats.org/drawingml/2006/main">
              <a:ext uri="{FF2B5EF4-FFF2-40B4-BE49-F238E27FC236}">
                <a16:creationId xmlns:a16="http://schemas.microsoft.com/office/drawing/2014/main" id="{EF652A7E-0D7A-4BE6-8315-40A7CD59FC7A}"/>
              </a:ext>
            </a:extLst>
          </p:cNvPr>
          <p:cNvSpPr>
            <a:spLocks xmlns:a="http://schemas.openxmlformats.org/drawingml/2006/main" noGrp="1"/>
          </p:cNvSpPr>
          <p:nvPr/>
        </p:nvSpPr>
        <p:spPr>
          <a:xfrm xmlns:a="http://schemas.openxmlformats.org/drawingml/2006/main">
            <a:off x="10350500" y="3286125"/>
            <a:ext cx="393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Critic</a:t>
            </a:r>
          </a:p>
        </p:txBody>
      </p:sp>
      <p:sp>
        <p:nvSpPr>
          <p:cNvPr id="18" name="Check narrative against data">
            <a:extLst xmlns:a="http://schemas.openxmlformats.org/drawingml/2006/main">
              <a:ext uri="{FF2B5EF4-FFF2-40B4-BE49-F238E27FC236}">
                <a16:creationId xmlns:a16="http://schemas.microsoft.com/office/drawing/2014/main" id="{6CD07E35-A231-4B38-9775-A7BCE6CFE270}"/>
              </a:ext>
            </a:extLst>
          </p:cNvPr>
          <p:cNvSpPr>
            <a:spLocks xmlns:a="http://schemas.openxmlformats.org/drawingml/2006/main" noGrp="1"/>
          </p:cNvSpPr>
          <p:nvPr/>
        </p:nvSpPr>
        <p:spPr>
          <a:xfrm xmlns:a="http://schemas.openxmlformats.org/drawingml/2006/main">
            <a:off x="10350500" y="3895725"/>
            <a:ext cx="393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Check narrative against data</a:t>
            </a:r>
          </a:p>
        </p:txBody>
      </p:sp>
      <p:cxnSp>
        <p:nvCxnSpPr>
          <p:cNvPr id="43" name=""/>
          <p:cNvCxnSpPr>
            <a:stCxn xmlns:a="http://schemas.openxmlformats.org/drawingml/2006/main" id="10" idx="3"/>
            <a:endCxn xmlns:a="http://schemas.openxmlformats.org/drawingml/2006/main" id="15" idx="1"/>
          </p:cNvCxnSpPr>
          <p:nvPr/>
        </p:nvCxnSpPr>
        <p:spPr>
          <a:xfrm xmlns:a="http://schemas.openxmlformats.org/drawingml/2006/main">
            <a:off x="9779000" y="3786188"/>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0" name="Example check">
            <a:extLst xmlns:a="http://schemas.openxmlformats.org/drawingml/2006/main">
              <a:ext uri="{FF2B5EF4-FFF2-40B4-BE49-F238E27FC236}">
                <a16:creationId xmlns:a16="http://schemas.microsoft.com/office/drawing/2014/main" id="{4C05EE70-BC4A-43C1-8A4C-5F0272D85322}"/>
              </a:ext>
            </a:extLst>
          </p:cNvPr>
          <p:cNvSpPr>
            <a:spLocks xmlns:a="http://schemas.openxmlformats.org/drawingml/2006/main" noGrp="1"/>
          </p:cNvSpPr>
          <p:nvPr/>
        </p:nvSpPr>
        <p:spPr>
          <a:xfrm xmlns:a="http://schemas.openxmlformats.org/drawingml/2006/main">
            <a:off x="762000" y="54006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Example check</a:t>
            </a:r>
          </a:p>
        </p:txBody>
      </p:sp>
      <p:sp>
        <p:nvSpPr>
          <p:cNvPr id="21" name="The brief says coverage is 0.13. Critic compares that s">
            <a:extLst xmlns:a="http://schemas.openxmlformats.org/drawingml/2006/main">
              <a:ext uri="{FF2B5EF4-FFF2-40B4-BE49-F238E27FC236}">
                <a16:creationId xmlns:a16="http://schemas.microsoft.com/office/drawing/2014/main" id="{0D1FCE32-903F-4890-B7DA-B029EF68663F}"/>
              </a:ext>
            </a:extLst>
          </p:cNvPr>
          <p:cNvSpPr>
            <a:spLocks xmlns:a="http://schemas.openxmlformats.org/drawingml/2006/main" noGrp="1"/>
          </p:cNvSpPr>
          <p:nvPr/>
        </p:nvSpPr>
        <p:spPr>
          <a:xfrm xmlns:a="http://schemas.openxmlformats.org/drawingml/2006/main">
            <a:off x="762000" y="6010275"/>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The brief says coverage is 0.13. Critic compares that statement with the supplied gap table.</a:t>
            </a:r>
          </a:p>
        </p:txBody>
      </p:sp>
      <p:sp>
        <p:nvSpPr>
          <p:cNvPr id="22" name="Decision boundary">
            <a:extLst xmlns:a="http://schemas.openxmlformats.org/drawingml/2006/main">
              <a:ext uri="{FF2B5EF4-FFF2-40B4-BE49-F238E27FC236}">
                <a16:creationId xmlns:a16="http://schemas.microsoft.com/office/drawing/2014/main" id="{5ED862C4-8923-4E21-A885-F9397501FC9A}"/>
              </a:ext>
            </a:extLst>
          </p:cNvPr>
          <p:cNvSpPr>
            <a:spLocks xmlns:a="http://schemas.openxmlformats.org/drawingml/2006/main" noGrp="1"/>
          </p:cNvSpPr>
          <p:nvPr/>
        </p:nvSpPr>
        <p:spPr>
          <a:xfrm xmlns:a="http://schemas.openxmlformats.org/drawingml/2006/main">
            <a:off x="8096250" y="54006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Decision boundary</a:t>
            </a:r>
          </a:p>
        </p:txBody>
      </p:sp>
      <p:sp>
        <p:nvSpPr>
          <p:cNvPr id="23" name="The analyst reviews the recommendation. The model does ">
            <a:extLst xmlns:a="http://schemas.openxmlformats.org/drawingml/2006/main">
              <a:ext uri="{FF2B5EF4-FFF2-40B4-BE49-F238E27FC236}">
                <a16:creationId xmlns:a16="http://schemas.microsoft.com/office/drawing/2014/main" id="{4C5825C1-DE4C-4A86-967F-E69CA1024D62}"/>
              </a:ext>
            </a:extLst>
          </p:cNvPr>
          <p:cNvSpPr>
            <a:spLocks xmlns:a="http://schemas.openxmlformats.org/drawingml/2006/main" noGrp="1"/>
          </p:cNvSpPr>
          <p:nvPr/>
        </p:nvSpPr>
        <p:spPr>
          <a:xfrm xmlns:a="http://schemas.openxmlformats.org/drawingml/2006/main">
            <a:off x="8096250" y="6010275"/>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The analyst reviews the recommendation. The model does not publish research or allocate a budget.</a:t>
            </a:r>
          </a:p>
        </p:txBody>
      </p:sp>
      <p:sp>
        <p:nvSpPr>
          <p:cNvPr id="24" name="A consistency estimate evaluates the generated brief ag">
            <a:extLst xmlns:a="http://schemas.openxmlformats.org/drawingml/2006/main">
              <a:ext uri="{FF2B5EF4-FFF2-40B4-BE49-F238E27FC236}">
                <a16:creationId xmlns:a16="http://schemas.microsoft.com/office/drawing/2014/main" id="{B0D884EA-9423-44EE-A3F7-C6BD785E3D05}"/>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A consistency estimate evaluates the generated brief against supplied analytics. It is not external truth validation.</a:t>
            </a:r>
          </a:p>
        </p:txBody>
      </p:sp>
    </p:spTree>
    <p:extLst>
      <p:ext uri="{BB962C8B-B14F-4D97-AF65-F5344CB8AC3E}">
        <p14:creationId xmlns:p14="http://schemas.microsoft.com/office/powerpoint/2010/main" val="9535291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ITED ANSWERS">
            <a:extLst xmlns:a="http://schemas.openxmlformats.org/drawingml/2006/main">
              <a:ext uri="{FF2B5EF4-FFF2-40B4-BE49-F238E27FC236}">
                <a16:creationId xmlns:a16="http://schemas.microsoft.com/office/drawing/2014/main" id="{1B32ABAB-3341-4D2B-BCEB-9DC2A52CC766}"/>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CITED ANSWERS</a:t>
            </a:r>
          </a:p>
        </p:txBody>
      </p:sp>
      <p:sp>
        <p:nvSpPr>
          <p:cNvPr id="2" name="Library QA uses a separate retrieval path">
            <a:extLst xmlns:a="http://schemas.openxmlformats.org/drawingml/2006/main">
              <a:ext uri="{FF2B5EF4-FFF2-40B4-BE49-F238E27FC236}">
                <a16:creationId xmlns:a16="http://schemas.microsoft.com/office/drawing/2014/main" id="{B791136D-187C-402F-89C7-3B6AD7E95C96}"/>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Library QA uses a separate retrieval path</a:t>
            </a:r>
          </a:p>
        </p:txBody>
      </p:sp>
      <p:sp>
        <p:nvSpPr>
          <p:cNvPr id="3" name="">
            <a:extLst xmlns:a="http://schemas.openxmlformats.org/drawingml/2006/main">
              <a:ext uri="{FF2B5EF4-FFF2-40B4-BE49-F238E27FC236}">
                <a16:creationId xmlns:a16="http://schemas.microsoft.com/office/drawing/2014/main" id="{1E055BAB-14E1-44DF-AC9E-AFC08F745305}"/>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282C1A74-3D6E-4175-8BD3-FBEF007A40BB}"/>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15">
            <a:extLst xmlns:a="http://schemas.openxmlformats.org/drawingml/2006/main">
              <a:ext uri="{FF2B5EF4-FFF2-40B4-BE49-F238E27FC236}">
                <a16:creationId xmlns:a16="http://schemas.microsoft.com/office/drawing/2014/main" id="{43D8BAF0-B20B-41E7-A06E-671FFDAF993E}"/>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15</a:t>
            </a:r>
          </a:p>
        </p:txBody>
      </p:sp>
      <p:sp>
        <p:nvSpPr>
          <p:cNvPr id="6" name="“What governance practices does our research recommend ">
            <a:extLst xmlns:a="http://schemas.openxmlformats.org/drawingml/2006/main">
              <a:ext uri="{FF2B5EF4-FFF2-40B4-BE49-F238E27FC236}">
                <a16:creationId xmlns:a16="http://schemas.microsoft.com/office/drawing/2014/main" id="{2341F929-7355-48B6-9AD2-934D997D66CA}"/>
              </a:ext>
            </a:extLst>
          </p:cNvPr>
          <p:cNvSpPr>
            <a:spLocks xmlns:a="http://schemas.openxmlformats.org/drawingml/2006/main" noGrp="1"/>
          </p:cNvSpPr>
          <p:nvPr/>
        </p:nvSpPr>
        <p:spPr>
          <a:xfrm xmlns:a="http://schemas.openxmlformats.org/drawingml/2006/main">
            <a:off x="762000" y="2295525"/>
            <a:ext cx="1371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102C43"/>
                </a:solidFill>
                <a:latin typeface="Segoe UI"/>
                <a:ea typeface="Segoe UI"/>
                <a:cs typeface="Segoe UI"/>
              </a:defRPr>
            </a:pPr>
            <a:r>
              <a:rPr sz="2775" b="1">
                <a:solidFill>
                  <a:srgbClr val="102C43"/>
                </a:solidFill>
                <a:latin typeface="Segoe UI"/>
                <a:ea typeface="Segoe UI"/>
                <a:cs typeface="Segoe UI"/>
              </a:rPr>
              <a:t>“What governance practices does our research recommend for clinical AI?”</a:t>
            </a:r>
          </a:p>
        </p:txBody>
      </p:sp>
      <p:sp>
        <p:nvSpPr>
          <p:cNvPr id="7" name="">
            <a:extLst xmlns:a="http://schemas.openxmlformats.org/drawingml/2006/main">
              <a:ext uri="{FF2B5EF4-FFF2-40B4-BE49-F238E27FC236}">
                <a16:creationId xmlns:a16="http://schemas.microsoft.com/office/drawing/2014/main" id="{3C3068F5-7F3C-4FE5-BF5A-1200CAF56752}"/>
              </a:ext>
            </a:extLst>
          </p:cNvPr>
          <p:cNvSpPr>
            <a:spLocks xmlns:a="http://schemas.openxmlformats.org/drawingml/2006/main" noGrp="1"/>
          </p:cNvSpPr>
          <p:nvPr/>
        </p:nvSpPr>
        <p:spPr>
          <a:xfrm xmlns:a="http://schemas.openxmlformats.org/drawingml/2006/main">
            <a:off x="762000" y="3800475"/>
            <a:ext cx="4318000" cy="200025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8" name="01">
            <a:extLst xmlns:a="http://schemas.openxmlformats.org/drawingml/2006/main">
              <a:ext uri="{FF2B5EF4-FFF2-40B4-BE49-F238E27FC236}">
                <a16:creationId xmlns:a16="http://schemas.microsoft.com/office/drawing/2014/main" id="{3ADB039F-578B-43FD-805A-4979FD45F23E}"/>
              </a:ext>
            </a:extLst>
          </p:cNvPr>
          <p:cNvSpPr>
            <a:spLocks xmlns:a="http://schemas.openxmlformats.org/drawingml/2006/main" noGrp="1"/>
          </p:cNvSpPr>
          <p:nvPr/>
        </p:nvSpPr>
        <p:spPr>
          <a:xfrm xmlns:a="http://schemas.openxmlformats.org/drawingml/2006/main">
            <a:off x="952500" y="3990975"/>
            <a:ext cx="393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01</a:t>
            </a:r>
          </a:p>
        </p:txBody>
      </p:sp>
      <p:sp>
        <p:nvSpPr>
          <p:cNvPr id="9" name="Retrieve">
            <a:extLst xmlns:a="http://schemas.openxmlformats.org/drawingml/2006/main">
              <a:ext uri="{FF2B5EF4-FFF2-40B4-BE49-F238E27FC236}">
                <a16:creationId xmlns:a16="http://schemas.microsoft.com/office/drawing/2014/main" id="{FCCBA6A1-BF98-447D-A717-1D454B483F88}"/>
              </a:ext>
            </a:extLst>
          </p:cNvPr>
          <p:cNvSpPr>
            <a:spLocks xmlns:a="http://schemas.openxmlformats.org/drawingml/2006/main" noGrp="1"/>
          </p:cNvSpPr>
          <p:nvPr/>
        </p:nvSpPr>
        <p:spPr>
          <a:xfrm xmlns:a="http://schemas.openxmlformats.org/drawingml/2006/main">
            <a:off x="952500" y="4371975"/>
            <a:ext cx="393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Retrieve</a:t>
            </a:r>
          </a:p>
        </p:txBody>
      </p:sp>
      <p:sp>
        <p:nvSpPr>
          <p:cNvPr id="10" name="Up to 6 internal passages">
            <a:extLst xmlns:a="http://schemas.openxmlformats.org/drawingml/2006/main">
              <a:ext uri="{FF2B5EF4-FFF2-40B4-BE49-F238E27FC236}">
                <a16:creationId xmlns:a16="http://schemas.microsoft.com/office/drawing/2014/main" id="{785A62EF-CE3F-4AF3-931F-242DA1F883D1}"/>
              </a:ext>
            </a:extLst>
          </p:cNvPr>
          <p:cNvSpPr>
            <a:spLocks xmlns:a="http://schemas.openxmlformats.org/drawingml/2006/main" noGrp="1"/>
          </p:cNvSpPr>
          <p:nvPr/>
        </p:nvSpPr>
        <p:spPr>
          <a:xfrm xmlns:a="http://schemas.openxmlformats.org/drawingml/2006/main">
            <a:off x="952500" y="4981575"/>
            <a:ext cx="393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Up to 6 internal passages</a:t>
            </a:r>
          </a:p>
        </p:txBody>
      </p:sp>
      <p:sp>
        <p:nvSpPr>
          <p:cNvPr id="11" name="">
            <a:extLst xmlns:a="http://schemas.openxmlformats.org/drawingml/2006/main">
              <a:ext uri="{FF2B5EF4-FFF2-40B4-BE49-F238E27FC236}">
                <a16:creationId xmlns:a16="http://schemas.microsoft.com/office/drawing/2014/main" id="{2104D4EC-A6C8-43D4-9CF0-8AC7C691291D}"/>
              </a:ext>
            </a:extLst>
          </p:cNvPr>
          <p:cNvSpPr>
            <a:spLocks xmlns:a="http://schemas.openxmlformats.org/drawingml/2006/main" noGrp="1"/>
          </p:cNvSpPr>
          <p:nvPr/>
        </p:nvSpPr>
        <p:spPr>
          <a:xfrm xmlns:a="http://schemas.openxmlformats.org/drawingml/2006/main">
            <a:off x="5461000" y="3800475"/>
            <a:ext cx="4318000" cy="200025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2" name="02">
            <a:extLst xmlns:a="http://schemas.openxmlformats.org/drawingml/2006/main">
              <a:ext uri="{FF2B5EF4-FFF2-40B4-BE49-F238E27FC236}">
                <a16:creationId xmlns:a16="http://schemas.microsoft.com/office/drawing/2014/main" id="{F49E4DA8-34B8-413E-836F-3BCE533195BC}"/>
              </a:ext>
            </a:extLst>
          </p:cNvPr>
          <p:cNvSpPr>
            <a:spLocks xmlns:a="http://schemas.openxmlformats.org/drawingml/2006/main" noGrp="1"/>
          </p:cNvSpPr>
          <p:nvPr/>
        </p:nvSpPr>
        <p:spPr>
          <a:xfrm xmlns:a="http://schemas.openxmlformats.org/drawingml/2006/main">
            <a:off x="5651500" y="3990975"/>
            <a:ext cx="393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02</a:t>
            </a:r>
          </a:p>
        </p:txBody>
      </p:sp>
      <p:sp>
        <p:nvSpPr>
          <p:cNvPr id="13" name="Answer">
            <a:extLst xmlns:a="http://schemas.openxmlformats.org/drawingml/2006/main">
              <a:ext uri="{FF2B5EF4-FFF2-40B4-BE49-F238E27FC236}">
                <a16:creationId xmlns:a16="http://schemas.microsoft.com/office/drawing/2014/main" id="{9BBDC869-FD8E-4C35-9682-D7F46DB31D56}"/>
              </a:ext>
            </a:extLst>
          </p:cNvPr>
          <p:cNvSpPr>
            <a:spLocks xmlns:a="http://schemas.openxmlformats.org/drawingml/2006/main" noGrp="1"/>
          </p:cNvSpPr>
          <p:nvPr/>
        </p:nvSpPr>
        <p:spPr>
          <a:xfrm xmlns:a="http://schemas.openxmlformats.org/drawingml/2006/main">
            <a:off x="5651500" y="4371975"/>
            <a:ext cx="393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Answer</a:t>
            </a:r>
          </a:p>
        </p:txBody>
      </p:sp>
      <p:sp>
        <p:nvSpPr>
          <p:cNvPr id="14" name="Claims with document IDs">
            <a:extLst xmlns:a="http://schemas.openxmlformats.org/drawingml/2006/main">
              <a:ext uri="{FF2B5EF4-FFF2-40B4-BE49-F238E27FC236}">
                <a16:creationId xmlns:a16="http://schemas.microsoft.com/office/drawing/2014/main" id="{055F5A62-457E-45B1-B20A-BED6C8F71B60}"/>
              </a:ext>
            </a:extLst>
          </p:cNvPr>
          <p:cNvSpPr>
            <a:spLocks xmlns:a="http://schemas.openxmlformats.org/drawingml/2006/main" noGrp="1"/>
          </p:cNvSpPr>
          <p:nvPr/>
        </p:nvSpPr>
        <p:spPr>
          <a:xfrm xmlns:a="http://schemas.openxmlformats.org/drawingml/2006/main">
            <a:off x="5651500" y="4981575"/>
            <a:ext cx="393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Claims with document IDs</a:t>
            </a:r>
          </a:p>
        </p:txBody>
      </p:sp>
      <p:cxnSp>
        <p:nvCxnSpPr>
          <p:cNvPr id="37" name=""/>
          <p:cNvCxnSpPr>
            <a:stCxn xmlns:a="http://schemas.openxmlformats.org/drawingml/2006/main" id="7" idx="3"/>
            <a:endCxn xmlns:a="http://schemas.openxmlformats.org/drawingml/2006/main" id="11" idx="1"/>
          </p:cNvCxnSpPr>
          <p:nvPr/>
        </p:nvCxnSpPr>
        <p:spPr>
          <a:xfrm xmlns:a="http://schemas.openxmlformats.org/drawingml/2006/main">
            <a:off x="5080000" y="4800600"/>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6" name="">
            <a:extLst xmlns:a="http://schemas.openxmlformats.org/drawingml/2006/main">
              <a:ext uri="{FF2B5EF4-FFF2-40B4-BE49-F238E27FC236}">
                <a16:creationId xmlns:a16="http://schemas.microsoft.com/office/drawing/2014/main" id="{D9DF92CD-3C68-46F2-A345-F2BBCB7EB3A4}"/>
              </a:ext>
            </a:extLst>
          </p:cNvPr>
          <p:cNvSpPr>
            <a:spLocks xmlns:a="http://schemas.openxmlformats.org/drawingml/2006/main" noGrp="1"/>
          </p:cNvSpPr>
          <p:nvPr/>
        </p:nvSpPr>
        <p:spPr>
          <a:xfrm xmlns:a="http://schemas.openxmlformats.org/drawingml/2006/main">
            <a:off x="10160000" y="3800475"/>
            <a:ext cx="4318000" cy="200025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7" name="03">
            <a:extLst xmlns:a="http://schemas.openxmlformats.org/drawingml/2006/main">
              <a:ext uri="{FF2B5EF4-FFF2-40B4-BE49-F238E27FC236}">
                <a16:creationId xmlns:a16="http://schemas.microsoft.com/office/drawing/2014/main" id="{ABB7A1AD-65FB-497C-A565-89092CEB4B09}"/>
              </a:ext>
            </a:extLst>
          </p:cNvPr>
          <p:cNvSpPr>
            <a:spLocks xmlns:a="http://schemas.openxmlformats.org/drawingml/2006/main" noGrp="1"/>
          </p:cNvSpPr>
          <p:nvPr/>
        </p:nvSpPr>
        <p:spPr>
          <a:xfrm xmlns:a="http://schemas.openxmlformats.org/drawingml/2006/main">
            <a:off x="10350500" y="3990975"/>
            <a:ext cx="393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03</a:t>
            </a:r>
          </a:p>
        </p:txBody>
      </p:sp>
      <p:sp>
        <p:nvSpPr>
          <p:cNvPr id="18" name="Assess support">
            <a:extLst xmlns:a="http://schemas.openxmlformats.org/drawingml/2006/main">
              <a:ext uri="{FF2B5EF4-FFF2-40B4-BE49-F238E27FC236}">
                <a16:creationId xmlns:a16="http://schemas.microsoft.com/office/drawing/2014/main" id="{DD37135B-8BDA-4716-A8C3-3CB0216CB873}"/>
              </a:ext>
            </a:extLst>
          </p:cNvPr>
          <p:cNvSpPr>
            <a:spLocks xmlns:a="http://schemas.openxmlformats.org/drawingml/2006/main" noGrp="1"/>
          </p:cNvSpPr>
          <p:nvPr/>
        </p:nvSpPr>
        <p:spPr>
          <a:xfrm xmlns:a="http://schemas.openxmlformats.org/drawingml/2006/main">
            <a:off x="10350500" y="4371975"/>
            <a:ext cx="393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Assess support</a:t>
            </a:r>
          </a:p>
        </p:txBody>
      </p:sp>
      <p:sp>
        <p:nvSpPr>
          <p:cNvPr id="19" name="Supported and unsupported claims">
            <a:extLst xmlns:a="http://schemas.openxmlformats.org/drawingml/2006/main">
              <a:ext uri="{FF2B5EF4-FFF2-40B4-BE49-F238E27FC236}">
                <a16:creationId xmlns:a16="http://schemas.microsoft.com/office/drawing/2014/main" id="{4588174B-1F6D-4CC6-8E64-AEC0773E70B7}"/>
              </a:ext>
            </a:extLst>
          </p:cNvPr>
          <p:cNvSpPr>
            <a:spLocks xmlns:a="http://schemas.openxmlformats.org/drawingml/2006/main" noGrp="1"/>
          </p:cNvSpPr>
          <p:nvPr/>
        </p:nvSpPr>
        <p:spPr>
          <a:xfrm xmlns:a="http://schemas.openxmlformats.org/drawingml/2006/main">
            <a:off x="10350500" y="4981575"/>
            <a:ext cx="393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Supported and unsupported claims</a:t>
            </a:r>
          </a:p>
        </p:txBody>
      </p:sp>
      <p:cxnSp>
        <p:nvCxnSpPr>
          <p:cNvPr id="42" name=""/>
          <p:cNvCxnSpPr>
            <a:stCxn xmlns:a="http://schemas.openxmlformats.org/drawingml/2006/main" id="11" idx="3"/>
            <a:endCxn xmlns:a="http://schemas.openxmlformats.org/drawingml/2006/main" id="16" idx="1"/>
          </p:cNvCxnSpPr>
          <p:nvPr/>
        </p:nvCxnSpPr>
        <p:spPr>
          <a:xfrm xmlns:a="http://schemas.openxmlformats.org/drawingml/2006/main">
            <a:off x="9779000" y="4800600"/>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1" name="Coverage asks whether research addresses a topic. Libra">
            <a:extLst xmlns:a="http://schemas.openxmlformats.org/drawingml/2006/main">
              <a:ext uri="{FF2B5EF4-FFF2-40B4-BE49-F238E27FC236}">
                <a16:creationId xmlns:a16="http://schemas.microsoft.com/office/drawing/2014/main" id="{E56014B6-D3E5-4513-8F6C-118DC2460FD6}"/>
              </a:ext>
            </a:extLst>
          </p:cNvPr>
          <p:cNvSpPr>
            <a:spLocks xmlns:a="http://schemas.openxmlformats.org/drawingml/2006/main" noGrp="1"/>
          </p:cNvSpPr>
          <p:nvPr/>
        </p:nvSpPr>
        <p:spPr>
          <a:xfrm xmlns:a="http://schemas.openxmlformats.org/drawingml/2006/main">
            <a:off x="762000" y="6276975"/>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007D82"/>
                </a:solidFill>
                <a:latin typeface="Segoe UI"/>
                <a:ea typeface="Segoe UI"/>
                <a:cs typeface="Segoe UI"/>
              </a:defRPr>
            </a:pPr>
            <a:r>
              <a:rPr sz="2400" b="1">
                <a:solidFill>
                  <a:srgbClr val="007D82"/>
                </a:solidFill>
                <a:latin typeface="Segoe UI"/>
                <a:ea typeface="Segoe UI"/>
                <a:cs typeface="Segoe UI"/>
              </a:rPr>
              <a:t>Coverage asks whether research addresses a topic. Library QA answers the client’s question.</a:t>
            </a:r>
          </a:p>
        </p:txBody>
      </p:sp>
      <p:sp>
        <p:nvSpPr>
          <p:cNvPr id="22" name="No relevant passages: abstain. Returned citations must ">
            <a:extLst xmlns:a="http://schemas.openxmlformats.org/drawingml/2006/main">
              <a:ext uri="{FF2B5EF4-FFF2-40B4-BE49-F238E27FC236}">
                <a16:creationId xmlns:a16="http://schemas.microsoft.com/office/drawing/2014/main" id="{5847E675-4863-4F30-9CB5-4D408623BDAD}"/>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No relevant passages: abstain. Returned citations must refer to documents supplied to the answer model.</a:t>
            </a:r>
          </a:p>
        </p:txBody>
      </p:sp>
    </p:spTree>
    <p:extLst>
      <p:ext uri="{BB962C8B-B14F-4D97-AF65-F5344CB8AC3E}">
        <p14:creationId xmlns:p14="http://schemas.microsoft.com/office/powerpoint/2010/main" val="10137713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OPERATIONAL EVIDENCE">
            <a:extLst xmlns:a="http://schemas.openxmlformats.org/drawingml/2006/main">
              <a:ext uri="{FF2B5EF4-FFF2-40B4-BE49-F238E27FC236}">
                <a16:creationId xmlns:a16="http://schemas.microsoft.com/office/drawing/2014/main" id="{3255E084-2079-4420-B08C-0726DE5BD92F}"/>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OPERATIONAL EVIDENCE</a:t>
            </a:r>
          </a:p>
        </p:txBody>
      </p:sp>
      <p:sp>
        <p:nvSpPr>
          <p:cNvPr id="2" name="Recorded runs preserve the complete demonstration">
            <a:extLst xmlns:a="http://schemas.openxmlformats.org/drawingml/2006/main">
              <a:ext uri="{FF2B5EF4-FFF2-40B4-BE49-F238E27FC236}">
                <a16:creationId xmlns:a16="http://schemas.microsoft.com/office/drawing/2014/main" id="{2F50A3A3-200F-4BEA-8CE2-6DFBB04B3AF4}"/>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Recorded runs preserve the complete demonstration</a:t>
            </a:r>
          </a:p>
        </p:txBody>
      </p:sp>
      <p:sp>
        <p:nvSpPr>
          <p:cNvPr id="3" name="">
            <a:extLst xmlns:a="http://schemas.openxmlformats.org/drawingml/2006/main">
              <a:ext uri="{FF2B5EF4-FFF2-40B4-BE49-F238E27FC236}">
                <a16:creationId xmlns:a16="http://schemas.microsoft.com/office/drawing/2014/main" id="{7ADE37A7-BDDE-437A-B6EA-5C939FD538D1}"/>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8C620E70-A489-4586-8960-EBE027E30A7B}"/>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16">
            <a:extLst xmlns:a="http://schemas.openxmlformats.org/drawingml/2006/main">
              <a:ext uri="{FF2B5EF4-FFF2-40B4-BE49-F238E27FC236}">
                <a16:creationId xmlns:a16="http://schemas.microsoft.com/office/drawing/2014/main" id="{D81EA63A-8041-4D66-8FC7-1AB78FF96E2C}"/>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16</a:t>
            </a:r>
          </a:p>
        </p:txBody>
      </p:sp>
      <p:sp>
        <p:nvSpPr>
          <p:cNvPr id="6" name="23">
            <a:extLst xmlns:a="http://schemas.openxmlformats.org/drawingml/2006/main">
              <a:ext uri="{FF2B5EF4-FFF2-40B4-BE49-F238E27FC236}">
                <a16:creationId xmlns:a16="http://schemas.microsoft.com/office/drawing/2014/main" id="{B97713E7-A8DC-4CBD-BB80-16A71BF7D26A}"/>
              </a:ext>
            </a:extLst>
          </p:cNvPr>
          <p:cNvSpPr>
            <a:spLocks xmlns:a="http://schemas.openxmlformats.org/drawingml/2006/main" noGrp="1"/>
          </p:cNvSpPr>
          <p:nvPr/>
        </p:nvSpPr>
        <p:spPr>
          <a:xfrm xmlns:a="http://schemas.openxmlformats.org/drawingml/2006/main">
            <a:off x="762000" y="243840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375" b="1">
                <a:solidFill>
                  <a:srgbClr val="007D82"/>
                </a:solidFill>
                <a:latin typeface="Segoe UI"/>
                <a:ea typeface="Segoe UI"/>
                <a:cs typeface="Segoe UI"/>
              </a:defRPr>
            </a:pPr>
            <a:r>
              <a:rPr sz="6375" b="1">
                <a:solidFill>
                  <a:srgbClr val="007D82"/>
                </a:solidFill>
                <a:latin typeface="Segoe UI"/>
                <a:ea typeface="Segoe UI"/>
                <a:cs typeface="Segoe UI"/>
              </a:rPr>
              <a:t>23</a:t>
            </a:r>
          </a:p>
        </p:txBody>
      </p:sp>
      <p:sp>
        <p:nvSpPr>
          <p:cNvPr id="7" name="Unique articles">
            <a:extLst xmlns:a="http://schemas.openxmlformats.org/drawingml/2006/main">
              <a:ext uri="{FF2B5EF4-FFF2-40B4-BE49-F238E27FC236}">
                <a16:creationId xmlns:a16="http://schemas.microsoft.com/office/drawing/2014/main" id="{5C1B3DF9-B017-426F-BB69-D3D7CE7BD3C8}"/>
              </a:ext>
            </a:extLst>
          </p:cNvPr>
          <p:cNvSpPr>
            <a:spLocks xmlns:a="http://schemas.openxmlformats.org/drawingml/2006/main" noGrp="1"/>
          </p:cNvSpPr>
          <p:nvPr/>
        </p:nvSpPr>
        <p:spPr>
          <a:xfrm xmlns:a="http://schemas.openxmlformats.org/drawingml/2006/main">
            <a:off x="762000" y="35337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Unique articles</a:t>
            </a:r>
          </a:p>
        </p:txBody>
      </p:sp>
      <p:sp>
        <p:nvSpPr>
          <p:cNvPr id="8" name="9">
            <a:extLst xmlns:a="http://schemas.openxmlformats.org/drawingml/2006/main">
              <a:ext uri="{FF2B5EF4-FFF2-40B4-BE49-F238E27FC236}">
                <a16:creationId xmlns:a16="http://schemas.microsoft.com/office/drawing/2014/main" id="{2B2B8942-76A6-408F-9639-FFFD7E9FFA09}"/>
              </a:ext>
            </a:extLst>
          </p:cNvPr>
          <p:cNvSpPr>
            <a:spLocks xmlns:a="http://schemas.openxmlformats.org/drawingml/2006/main" noGrp="1"/>
          </p:cNvSpPr>
          <p:nvPr/>
        </p:nvSpPr>
        <p:spPr>
          <a:xfrm xmlns:a="http://schemas.openxmlformats.org/drawingml/2006/main">
            <a:off x="5429250" y="243840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375" b="1">
                <a:solidFill>
                  <a:srgbClr val="007D82"/>
                </a:solidFill>
                <a:latin typeface="Segoe UI"/>
                <a:ea typeface="Segoe UI"/>
                <a:cs typeface="Segoe UI"/>
              </a:defRPr>
            </a:pPr>
            <a:r>
              <a:rPr sz="6375" b="1">
                <a:solidFill>
                  <a:srgbClr val="007D82"/>
                </a:solidFill>
                <a:latin typeface="Segoe UI"/>
                <a:ea typeface="Segoe UI"/>
                <a:cs typeface="Segoe UI"/>
              </a:rPr>
              <a:t>9</a:t>
            </a:r>
          </a:p>
        </p:txBody>
      </p:sp>
      <p:sp>
        <p:nvSpPr>
          <p:cNvPr id="9" name="Canonical topics">
            <a:extLst xmlns:a="http://schemas.openxmlformats.org/drawingml/2006/main">
              <a:ext uri="{FF2B5EF4-FFF2-40B4-BE49-F238E27FC236}">
                <a16:creationId xmlns:a16="http://schemas.microsoft.com/office/drawing/2014/main" id="{B421BF8C-6B19-42A8-89EA-D27EBAE03D7E}"/>
              </a:ext>
            </a:extLst>
          </p:cNvPr>
          <p:cNvSpPr>
            <a:spLocks xmlns:a="http://schemas.openxmlformats.org/drawingml/2006/main" noGrp="1"/>
          </p:cNvSpPr>
          <p:nvPr/>
        </p:nvSpPr>
        <p:spPr>
          <a:xfrm xmlns:a="http://schemas.openxmlformats.org/drawingml/2006/main">
            <a:off x="5429250" y="3533775"/>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Canonical topics</a:t>
            </a:r>
          </a:p>
        </p:txBody>
      </p:sp>
      <p:sp>
        <p:nvSpPr>
          <p:cNvPr id="10" name="64 s">
            <a:extLst xmlns:a="http://schemas.openxmlformats.org/drawingml/2006/main">
              <a:ext uri="{FF2B5EF4-FFF2-40B4-BE49-F238E27FC236}">
                <a16:creationId xmlns:a16="http://schemas.microsoft.com/office/drawing/2014/main" id="{F0445891-3F0F-4B63-8653-87459C644B93}"/>
              </a:ext>
            </a:extLst>
          </p:cNvPr>
          <p:cNvSpPr>
            <a:spLocks xmlns:a="http://schemas.openxmlformats.org/drawingml/2006/main" noGrp="1"/>
          </p:cNvSpPr>
          <p:nvPr/>
        </p:nvSpPr>
        <p:spPr>
          <a:xfrm xmlns:a="http://schemas.openxmlformats.org/drawingml/2006/main">
            <a:off x="10477500" y="2438400"/>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375" b="1">
                <a:solidFill>
                  <a:srgbClr val="007D82"/>
                </a:solidFill>
                <a:latin typeface="Segoe UI"/>
                <a:ea typeface="Segoe UI"/>
                <a:cs typeface="Segoe UI"/>
              </a:defRPr>
            </a:pPr>
            <a:r>
              <a:rPr sz="6375" b="1">
                <a:solidFill>
                  <a:srgbClr val="007D82"/>
                </a:solidFill>
                <a:latin typeface="Segoe UI"/>
                <a:ea typeface="Segoe UI"/>
                <a:cs typeface="Segoe UI"/>
              </a:rPr>
              <a:t>64 s</a:t>
            </a:r>
          </a:p>
        </p:txBody>
      </p:sp>
      <p:sp>
        <p:nvSpPr>
          <p:cNvPr id="11" name="Observed runtime">
            <a:extLst xmlns:a="http://schemas.openxmlformats.org/drawingml/2006/main">
              <a:ext uri="{FF2B5EF4-FFF2-40B4-BE49-F238E27FC236}">
                <a16:creationId xmlns:a16="http://schemas.microsoft.com/office/drawing/2014/main" id="{85DDF924-1005-484F-BEBD-2E61F3A84FC0}"/>
              </a:ext>
            </a:extLst>
          </p:cNvPr>
          <p:cNvSpPr>
            <a:spLocks xmlns:a="http://schemas.openxmlformats.org/drawingml/2006/main" noGrp="1"/>
          </p:cNvSpPr>
          <p:nvPr/>
        </p:nvSpPr>
        <p:spPr>
          <a:xfrm xmlns:a="http://schemas.openxmlformats.org/drawingml/2006/main">
            <a:off x="10477500" y="3533775"/>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C80"/>
                </a:solidFill>
                <a:latin typeface="Segoe UI"/>
                <a:ea typeface="Segoe UI"/>
                <a:cs typeface="Segoe UI"/>
              </a:defRPr>
            </a:pPr>
            <a:r>
              <a:rPr sz="1875" b="0">
                <a:solidFill>
                  <a:srgbClr val="536C80"/>
                </a:solidFill>
                <a:latin typeface="Segoe UI"/>
                <a:ea typeface="Segoe UI"/>
                <a:cs typeface="Segoe UI"/>
              </a:rPr>
              <a:t>Observed runtime</a:t>
            </a:r>
          </a:p>
        </p:txBody>
      </p:sp>
      <p:sp>
        <p:nvSpPr>
          <p:cNvPr id="12" name="Live demonstration">
            <a:extLst xmlns:a="http://schemas.openxmlformats.org/drawingml/2006/main">
              <a:ext uri="{FF2B5EF4-FFF2-40B4-BE49-F238E27FC236}">
                <a16:creationId xmlns:a16="http://schemas.microsoft.com/office/drawing/2014/main" id="{6802B32D-FABA-45A5-B5BA-17E1DBBD9A51}"/>
              </a:ext>
            </a:extLst>
          </p:cNvPr>
          <p:cNvSpPr>
            <a:spLocks xmlns:a="http://schemas.openxmlformats.org/drawingml/2006/main" noGrp="1"/>
          </p:cNvSpPr>
          <p:nvPr/>
        </p:nvSpPr>
        <p:spPr>
          <a:xfrm xmlns:a="http://schemas.openxmlformats.org/drawingml/2006/main">
            <a:off x="762000" y="52197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Live demonstration</a:t>
            </a:r>
          </a:p>
        </p:txBody>
      </p:sp>
      <p:sp>
        <p:nvSpPr>
          <p:cNvPr id="13" name="Show the submitted question, agent outputs, coverage ra">
            <a:extLst xmlns:a="http://schemas.openxmlformats.org/drawingml/2006/main">
              <a:ext uri="{FF2B5EF4-FFF2-40B4-BE49-F238E27FC236}">
                <a16:creationId xmlns:a16="http://schemas.microsoft.com/office/drawing/2014/main" id="{29389E07-36D2-42BE-9026-CA2A1A3D2562}"/>
              </a:ext>
            </a:extLst>
          </p:cNvPr>
          <p:cNvSpPr>
            <a:spLocks xmlns:a="http://schemas.openxmlformats.org/drawingml/2006/main" noGrp="1"/>
          </p:cNvSpPr>
          <p:nvPr/>
        </p:nvSpPr>
        <p:spPr>
          <a:xfrm xmlns:a="http://schemas.openxmlformats.org/drawingml/2006/main">
            <a:off x="762000" y="5829300"/>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Show the submitted question, agent outputs, coverage rationale and query-scoped graph.</a:t>
            </a:r>
          </a:p>
        </p:txBody>
      </p:sp>
      <p:sp>
        <p:nvSpPr>
          <p:cNvPr id="14" name="Recorded demonstration">
            <a:extLst xmlns:a="http://schemas.openxmlformats.org/drawingml/2006/main">
              <a:ext uri="{FF2B5EF4-FFF2-40B4-BE49-F238E27FC236}">
                <a16:creationId xmlns:a16="http://schemas.microsoft.com/office/drawing/2014/main" id="{9C30C37D-6555-4871-8968-BFB5EC4FBFC8}"/>
              </a:ext>
            </a:extLst>
          </p:cNvPr>
          <p:cNvSpPr>
            <a:spLocks xmlns:a="http://schemas.openxmlformats.org/drawingml/2006/main" noGrp="1"/>
          </p:cNvSpPr>
          <p:nvPr/>
        </p:nvSpPr>
        <p:spPr>
          <a:xfrm xmlns:a="http://schemas.openxmlformats.org/drawingml/2006/main">
            <a:off x="8096250" y="52197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Recorded demonstration</a:t>
            </a:r>
          </a:p>
        </p:txBody>
      </p:sp>
      <p:sp>
        <p:nvSpPr>
          <p:cNvPr id="15" name="Open the same run from Previous runs. Its question, tim">
            <a:extLst xmlns:a="http://schemas.openxmlformats.org/drawingml/2006/main">
              <a:ext uri="{FF2B5EF4-FFF2-40B4-BE49-F238E27FC236}">
                <a16:creationId xmlns:a16="http://schemas.microsoft.com/office/drawing/2014/main" id="{30727C79-0B61-4D53-9CFD-70C06E6FA3C2}"/>
              </a:ext>
            </a:extLst>
          </p:cNvPr>
          <p:cNvSpPr>
            <a:spLocks xmlns:a="http://schemas.openxmlformats.org/drawingml/2006/main" noGrp="1"/>
          </p:cNvSpPr>
          <p:nvPr/>
        </p:nvSpPr>
        <p:spPr>
          <a:xfrm xmlns:a="http://schemas.openxmlformats.org/drawingml/2006/main">
            <a:off x="8096250" y="5829300"/>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Open the same run from Previous runs. Its question, timestamp, evidence and graph remain together.</a:t>
            </a:r>
          </a:p>
        </p:txBody>
      </p:sp>
      <p:sp>
        <p:nvSpPr>
          <p:cNvPr id="16" name="Observed run #9, 17 Sep 2026. Cached search results. Ni">
            <a:extLst xmlns:a="http://schemas.openxmlformats.org/drawingml/2006/main">
              <a:ext uri="{FF2B5EF4-FFF2-40B4-BE49-F238E27FC236}">
                <a16:creationId xmlns:a16="http://schemas.microsoft.com/office/drawing/2014/main" id="{7815BC42-42AA-4F02-9721-F69080EF021F}"/>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Observed run #9, 17 Sep 2026. Cached search results. Nine agents completed with no recorded review issues.</a:t>
            </a:r>
          </a:p>
        </p:txBody>
      </p:sp>
    </p:spTree>
    <p:extLst>
      <p:ext uri="{BB962C8B-B14F-4D97-AF65-F5344CB8AC3E}">
        <p14:creationId xmlns:p14="http://schemas.microsoft.com/office/powerpoint/2010/main" val="343199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PIS AND EVALUATION">
            <a:extLst xmlns:a="http://schemas.openxmlformats.org/drawingml/2006/main">
              <a:ext uri="{FF2B5EF4-FFF2-40B4-BE49-F238E27FC236}">
                <a16:creationId xmlns:a16="http://schemas.microsoft.com/office/drawing/2014/main" id="{484EDBD4-67F9-49D2-88C5-34912E01CE11}"/>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KPIS AND EVALUATION</a:t>
            </a:r>
          </a:p>
        </p:txBody>
      </p:sp>
      <p:sp>
        <p:nvSpPr>
          <p:cNvPr id="2" name="Quality measurement needs an analyst-labelled test set">
            <a:extLst xmlns:a="http://schemas.openxmlformats.org/drawingml/2006/main">
              <a:ext uri="{FF2B5EF4-FFF2-40B4-BE49-F238E27FC236}">
                <a16:creationId xmlns:a16="http://schemas.microsoft.com/office/drawing/2014/main" id="{963342DA-864C-4471-BEA7-9F0D4FF11552}"/>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Quality measurement needs an analyst-labelled test set</a:t>
            </a:r>
          </a:p>
        </p:txBody>
      </p:sp>
      <p:sp>
        <p:nvSpPr>
          <p:cNvPr id="3" name="">
            <a:extLst xmlns:a="http://schemas.openxmlformats.org/drawingml/2006/main">
              <a:ext uri="{FF2B5EF4-FFF2-40B4-BE49-F238E27FC236}">
                <a16:creationId xmlns:a16="http://schemas.microsoft.com/office/drawing/2014/main" id="{9DE251E6-B456-46DB-B8E6-5184F0CD240F}"/>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BE65137E-F26A-4123-BEEA-D7C8802E560D}"/>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17">
            <a:extLst xmlns:a="http://schemas.openxmlformats.org/drawingml/2006/main">
              <a:ext uri="{FF2B5EF4-FFF2-40B4-BE49-F238E27FC236}">
                <a16:creationId xmlns:a16="http://schemas.microsoft.com/office/drawing/2014/main" id="{0780CFC4-54F7-4B99-870E-FEA5879D067E}"/>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17</a:t>
            </a:r>
          </a:p>
        </p:txBody>
      </p:sp>
      <p:graphicFrame>
        <p:nvGraphicFramePr>
          <p:cNvPr id="13" name=""/>
          <p:cNvGraphicFramePr/>
          <p:nvPr/>
        </p:nvGraphicFramePr>
        <p:xfrm>
          <a:off xmlns:a="http://schemas.openxmlformats.org/drawingml/2006/main" x="762000" y="2343150"/>
          <a:ext xmlns:a="http://schemas.openxmlformats.org/drawingml/2006/main" cx="13716000" cy="4581525"/>
        </p:xfrm>
        <a:graphic xmlns:a="http://schemas.openxmlformats.org/drawingml/2006/main">
          <a:graphicData uri="http://schemas.openxmlformats.org/drawingml/2006/table">
            <a:tbl>
              <a:tblPr/>
              <a:tblGrid>
                <a:gridCol w="3190875"/>
                <a:gridCol w="4953000"/>
                <a:gridCol w="5572125"/>
              </a:tblGrid>
              <a:tr h="763588">
                <a:tc>
                  <a:txBody>
                    <a:bodyPr lIns="152400" tIns="114300" rIns="152400" bIns="95250">
                      <a:noAutofit/>
                    </a:bodyPr>
                    <a:lstStyle/>
                    <a:p>
                      <a:r>
                        <a:rPr sz="1725" b="1">
                          <a:solidFill>
                            <a:srgbClr val="FFFFFF"/>
                          </a:solidFill>
                          <a:latin typeface="Segoe UI"/>
                          <a:ea typeface="Segoe UI"/>
                          <a:cs typeface="Segoe UI"/>
                        </a:rPr>
                        <a:t>Measure</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Available today</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Evaluation for a pilot</a:t>
                      </a:r>
                    </a:p>
                  </a:txBody>
                  <a:tcPr marL="91440" marR="91440" marT="45720" marB="45720">
                    <a:solidFill>
                      <a:srgbClr val="0B2238"/>
                    </a:solidFill>
                  </a:tcPr>
                </a:tc>
              </a:tr>
              <a:tr h="763588">
                <a:tc>
                  <a:txBody>
                    <a:bodyPr lIns="152400" tIns="114300" rIns="152400" bIns="95250">
                      <a:noAutofit/>
                    </a:bodyPr>
                    <a:lstStyle/>
                    <a:p>
                      <a:r>
                        <a:rPr sz="1800" b="1">
                          <a:solidFill>
                            <a:srgbClr val="102C43"/>
                          </a:solidFill>
                          <a:latin typeface="Segoe UI"/>
                          <a:ea typeface="Segoe UI"/>
                          <a:cs typeface="Segoe UI"/>
                        </a:rPr>
                        <a:t>Speed and cost</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Latency, provider calls and tokens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p50/p95 latency and cost per successful run</a:t>
                      </a:r>
                    </a:p>
                  </a:txBody>
                  <a:tcPr marL="91440" marR="91440" marT="45720" marB="45720">
                    <a:solidFill>
                      <a:srgbClr val="F5F8FB"/>
                    </a:solidFill>
                  </a:tcPr>
                </a:tc>
              </a:tr>
              <a:tr h="763588">
                <a:tc>
                  <a:txBody>
                    <a:bodyPr lIns="152400" tIns="114300" rIns="152400" bIns="95250">
                      <a:noAutofit/>
                    </a:bodyPr>
                    <a:lstStyle/>
                    <a:p>
                      <a:r>
                        <a:rPr sz="1800" b="1">
                          <a:solidFill>
                            <a:srgbClr val="102C43"/>
                          </a:solidFill>
                          <a:latin typeface="Segoe UI"/>
                          <a:ea typeface="Segoe UI"/>
                          <a:cs typeface="Segoe UI"/>
                        </a:rPr>
                        <a:t>Retrieval quality</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Passages and document IDs</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Recall@k and citation precision</a:t>
                      </a:r>
                    </a:p>
                  </a:txBody>
                  <a:tcPr marL="91440" marR="91440" marT="45720" marB="45720">
                    <a:solidFill>
                      <a:srgbClr val="FFFFFF"/>
                    </a:solidFill>
                  </a:tcPr>
                </a:tc>
              </a:tr>
              <a:tr h="763588">
                <a:tc>
                  <a:txBody>
                    <a:bodyPr lIns="152400" tIns="114300" rIns="152400" bIns="95250">
                      <a:noAutofit/>
                    </a:bodyPr>
                    <a:lstStyle/>
                    <a:p>
                      <a:r>
                        <a:rPr sz="1800" b="1">
                          <a:solidFill>
                            <a:srgbClr val="102C43"/>
                          </a:solidFill>
                          <a:latin typeface="Segoe UI"/>
                          <a:ea typeface="Segoe UI"/>
                          <a:cs typeface="Segoe UI"/>
                        </a:rPr>
                        <a:t>Coverage quality</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Verdicts, reasons and scores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Agreement with analyst labels</a:t>
                      </a:r>
                    </a:p>
                  </a:txBody>
                  <a:tcPr marL="91440" marR="91440" marT="45720" marB="45720">
                    <a:solidFill>
                      <a:srgbClr val="F5F8FB"/>
                    </a:solidFill>
                  </a:tcPr>
                </a:tc>
              </a:tr>
              <a:tr h="763588">
                <a:tc>
                  <a:txBody>
                    <a:bodyPr lIns="152400" tIns="114300" rIns="152400" bIns="95250">
                      <a:noAutofit/>
                    </a:bodyPr>
                    <a:lstStyle/>
                    <a:p>
                      <a:r>
                        <a:rPr sz="1800" b="1">
                          <a:solidFill>
                            <a:srgbClr val="102C43"/>
                          </a:solidFill>
                          <a:latin typeface="Segoe UI"/>
                          <a:ea typeface="Segoe UI"/>
                          <a:cs typeface="Segoe UI"/>
                        </a:rPr>
                        <a:t>Answer quality</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Model support/consistency estimates</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Human review of claims and omissions</a:t>
                      </a:r>
                    </a:p>
                  </a:txBody>
                  <a:tcPr marL="91440" marR="91440" marT="45720" marB="45720">
                    <a:solidFill>
                      <a:srgbClr val="FFFFFF"/>
                    </a:solidFill>
                  </a:tcPr>
                </a:tc>
              </a:tr>
              <a:tr h="763588">
                <a:tc>
                  <a:txBody>
                    <a:bodyPr lIns="152400" tIns="114300" rIns="152400" bIns="95250">
                      <a:noAutofit/>
                    </a:bodyPr>
                    <a:lstStyle/>
                    <a:p>
                      <a:r>
                        <a:rPr sz="1800" b="1">
                          <a:solidFill>
                            <a:srgbClr val="102C43"/>
                          </a:solidFill>
                          <a:latin typeface="Segoe UI"/>
                          <a:ea typeface="Segoe UI"/>
                          <a:cs typeface="Segoe UI"/>
                        </a:rPr>
                        <a:t>Business usefulness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Proposed research actions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Accepted recommendations and analyst time saved</a:t>
                      </a:r>
                    </a:p>
                  </a:txBody>
                  <a:tcPr marL="91440" marR="91440" marT="45720" marB="45720">
                    <a:solidFill>
                      <a:srgbClr val="F5F8FB"/>
                    </a:solidFill>
                  </a:tcPr>
                </a:tc>
              </a:tr>
            </a:tbl>
          </a:graphicData>
        </a:graphic>
      </p:graphicFrame>
      <p:sp>
        <p:nvSpPr>
          <p:cNvPr id="7" name="The recorded demo is operational evidence. It does not ">
            <a:extLst xmlns:a="http://schemas.openxmlformats.org/drawingml/2006/main">
              <a:ext uri="{FF2B5EF4-FFF2-40B4-BE49-F238E27FC236}">
                <a16:creationId xmlns:a16="http://schemas.microsoft.com/office/drawing/2014/main" id="{AB325935-6F93-46FF-B854-D2CF0BF3FD4A}"/>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The recorded demo is operational evidence. It does not establish production accuracy or business impact.</a:t>
            </a:r>
          </a:p>
        </p:txBody>
      </p:sp>
    </p:spTree>
    <p:extLst>
      <p:ext uri="{BB962C8B-B14F-4D97-AF65-F5344CB8AC3E}">
        <p14:creationId xmlns:p14="http://schemas.microsoft.com/office/powerpoint/2010/main" val="67342215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SIGN DECISIONS">
            <a:extLst xmlns:a="http://schemas.openxmlformats.org/drawingml/2006/main">
              <a:ext uri="{FF2B5EF4-FFF2-40B4-BE49-F238E27FC236}">
                <a16:creationId xmlns:a16="http://schemas.microsoft.com/office/drawing/2014/main" id="{5F7A6A44-3FD0-47DD-A4FF-C1E56A0F1C9B}"/>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DESIGN DECISIONS</a:t>
            </a:r>
          </a:p>
        </p:txBody>
      </p:sp>
      <p:sp>
        <p:nvSpPr>
          <p:cNvPr id="2" name="Technology choices fit the prototype’s scope">
            <a:extLst xmlns:a="http://schemas.openxmlformats.org/drawingml/2006/main">
              <a:ext uri="{FF2B5EF4-FFF2-40B4-BE49-F238E27FC236}">
                <a16:creationId xmlns:a16="http://schemas.microsoft.com/office/drawing/2014/main" id="{99D07755-6C32-4028-8914-DDDFFB231AF2}"/>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Technology choices fit the prototype’s scope</a:t>
            </a:r>
          </a:p>
        </p:txBody>
      </p:sp>
      <p:sp>
        <p:nvSpPr>
          <p:cNvPr id="3" name="">
            <a:extLst xmlns:a="http://schemas.openxmlformats.org/drawingml/2006/main">
              <a:ext uri="{FF2B5EF4-FFF2-40B4-BE49-F238E27FC236}">
                <a16:creationId xmlns:a16="http://schemas.microsoft.com/office/drawing/2014/main" id="{59971707-52EA-42E3-AFFB-4F4EF7B875C7}"/>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44FFB3D5-1123-494B-B510-3495929156F0}"/>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18">
            <a:extLst xmlns:a="http://schemas.openxmlformats.org/drawingml/2006/main">
              <a:ext uri="{FF2B5EF4-FFF2-40B4-BE49-F238E27FC236}">
                <a16:creationId xmlns:a16="http://schemas.microsoft.com/office/drawing/2014/main" id="{25A1B6C0-329C-4B4D-B27A-57F2C205943D}"/>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18</a:t>
            </a:r>
          </a:p>
        </p:txBody>
      </p:sp>
      <p:graphicFrame>
        <p:nvGraphicFramePr>
          <p:cNvPr id="13" name=""/>
          <p:cNvGraphicFramePr/>
          <p:nvPr/>
        </p:nvGraphicFramePr>
        <p:xfrm>
          <a:off xmlns:a="http://schemas.openxmlformats.org/drawingml/2006/main" x="762000" y="2343150"/>
          <a:ext xmlns:a="http://schemas.openxmlformats.org/drawingml/2006/main" cx="13716000" cy="4600575"/>
        </p:xfrm>
        <a:graphic xmlns:a="http://schemas.openxmlformats.org/drawingml/2006/main">
          <a:graphicData uri="http://schemas.openxmlformats.org/drawingml/2006/table">
            <a:tbl>
              <a:tblPr/>
              <a:tblGrid>
                <a:gridCol w="2857500"/>
                <a:gridCol w="5334000"/>
                <a:gridCol w="5524500"/>
              </a:tblGrid>
              <a:tr h="766763">
                <a:tc>
                  <a:txBody>
                    <a:bodyPr lIns="152400" tIns="114300" rIns="152400" bIns="95250">
                      <a:noAutofit/>
                    </a:bodyPr>
                    <a:lstStyle/>
                    <a:p>
                      <a:r>
                        <a:rPr sz="1725" b="1">
                          <a:solidFill>
                            <a:srgbClr val="FFFFFF"/>
                          </a:solidFill>
                          <a:latin typeface="Segoe UI"/>
                          <a:ea typeface="Segoe UI"/>
                          <a:cs typeface="Segoe UI"/>
                        </a:rPr>
                        <a:t>Choice</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Why it fits</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Trade-off</a:t>
                      </a:r>
                    </a:p>
                  </a:txBody>
                  <a:tcPr marL="91440" marR="91440" marT="45720" marB="45720">
                    <a:solidFill>
                      <a:srgbClr val="0B2238"/>
                    </a:solidFill>
                  </a:tcPr>
                </a:tc>
              </a:tr>
              <a:tr h="766763">
                <a:tc>
                  <a:txBody>
                    <a:bodyPr lIns="152400" tIns="114300" rIns="152400" bIns="95250">
                      <a:noAutofit/>
                    </a:bodyPr>
                    <a:lstStyle/>
                    <a:p>
                      <a:r>
                        <a:rPr sz="1800" b="1">
                          <a:solidFill>
                            <a:srgbClr val="102C43"/>
                          </a:solidFill>
                          <a:latin typeface="Segoe UI"/>
                          <a:ea typeface="Segoe UI"/>
                          <a:cs typeface="Segoe UI"/>
                        </a:rPr>
                        <a:t>LangGraph</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Explicit state and conditional routes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Sequential scans accumulate model latency</a:t>
                      </a:r>
                    </a:p>
                  </a:txBody>
                  <a:tcPr marL="91440" marR="91440" marT="45720" marB="45720">
                    <a:solidFill>
                      <a:srgbClr val="F5F8FB"/>
                    </a:solidFill>
                  </a:tcPr>
                </a:tc>
              </a:tr>
              <a:tr h="766763">
                <a:tc>
                  <a:txBody>
                    <a:bodyPr lIns="152400" tIns="114300" rIns="152400" bIns="95250">
                      <a:noAutofit/>
                    </a:bodyPr>
                    <a:lstStyle/>
                    <a:p>
                      <a:r>
                        <a:rPr sz="1800" b="1">
                          <a:solidFill>
                            <a:srgbClr val="102C43"/>
                          </a:solidFill>
                          <a:latin typeface="Segoe UI"/>
                          <a:ea typeface="Segoe UI"/>
                          <a:cs typeface="Segoe UI"/>
                        </a:rPr>
                        <a:t>FAISS exact search</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Simple local retrieval with a document ID map</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Post-filtering can miss useful candidates</a:t>
                      </a:r>
                    </a:p>
                  </a:txBody>
                  <a:tcPr marL="91440" marR="91440" marT="45720" marB="45720">
                    <a:solidFill>
                      <a:srgbClr val="FFFFFF"/>
                    </a:solidFill>
                  </a:tcPr>
                </a:tc>
              </a:tr>
              <a:tr h="766763">
                <a:tc>
                  <a:txBody>
                    <a:bodyPr lIns="152400" tIns="114300" rIns="152400" bIns="95250">
                      <a:noAutofit/>
                    </a:bodyPr>
                    <a:lstStyle/>
                    <a:p>
                      <a:r>
                        <a:rPr sz="1800" b="1">
                          <a:solidFill>
                            <a:srgbClr val="102C43"/>
                          </a:solidFill>
                          <a:latin typeface="Segoe UI"/>
                          <a:ea typeface="Segoe UI"/>
                          <a:cs typeface="Segoe UI"/>
                        </a:rPr>
                        <a:t>LLM relevance judge</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Distinguishes same-domain text from coverage</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Short excerpts and model variability limit judgment</a:t>
                      </a:r>
                    </a:p>
                  </a:txBody>
                  <a:tcPr marL="91440" marR="91440" marT="45720" marB="45720">
                    <a:solidFill>
                      <a:srgbClr val="F5F8FB"/>
                    </a:solidFill>
                  </a:tcPr>
                </a:tc>
              </a:tr>
              <a:tr h="766763">
                <a:tc>
                  <a:txBody>
                    <a:bodyPr lIns="152400" tIns="114300" rIns="152400" bIns="95250">
                      <a:noAutofit/>
                    </a:bodyPr>
                    <a:lstStyle/>
                    <a:p>
                      <a:r>
                        <a:rPr sz="1800" b="1">
                          <a:solidFill>
                            <a:srgbClr val="102C43"/>
                          </a:solidFill>
                          <a:latin typeface="Segoe UI"/>
                          <a:ea typeface="Segoe UI"/>
                          <a:cs typeface="Segoe UI"/>
                        </a:rPr>
                        <a:t>NetworkX + SQLite</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Inspectable relationships and simple persistence</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Shared, multi-user scale needs further engineering</a:t>
                      </a:r>
                    </a:p>
                  </a:txBody>
                  <a:tcPr marL="91440" marR="91440" marT="45720" marB="45720">
                    <a:solidFill>
                      <a:srgbClr val="FFFFFF"/>
                    </a:solidFill>
                  </a:tcPr>
                </a:tc>
              </a:tr>
              <a:tr h="766763">
                <a:tc>
                  <a:txBody>
                    <a:bodyPr lIns="152400" tIns="114300" rIns="152400" bIns="95250">
                      <a:noAutofit/>
                    </a:bodyPr>
                    <a:lstStyle/>
                    <a:p>
                      <a:r>
                        <a:rPr sz="1800" b="1">
                          <a:solidFill>
                            <a:srgbClr val="102C43"/>
                          </a:solidFill>
                          <a:latin typeface="Segoe UI"/>
                          <a:ea typeface="Segoe UI"/>
                          <a:cs typeface="Segoe UI"/>
                        </a:rPr>
                        <a:t>Complete run snapshots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Repeatable historical demonstrations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Evidence and traces increase storage volume</a:t>
                      </a:r>
                    </a:p>
                  </a:txBody>
                  <a:tcPr marL="91440" marR="91440" marT="45720" marB="45720">
                    <a:solidFill>
                      <a:srgbClr val="F5F8FB"/>
                    </a:solidFill>
                  </a:tcPr>
                </a:tc>
              </a:tr>
            </a:tbl>
          </a:graphicData>
        </a:graphic>
      </p:graphicFrame>
      <p:sp>
        <p:nvSpPr>
          <p:cNvPr id="7" name="The case-study brief permits alternative technology cho">
            <a:extLst xmlns:a="http://schemas.openxmlformats.org/drawingml/2006/main">
              <a:ext uri="{FF2B5EF4-FFF2-40B4-BE49-F238E27FC236}">
                <a16:creationId xmlns:a16="http://schemas.microsoft.com/office/drawing/2014/main" id="{CB68632B-3B57-4F10-AA59-A8F5482AF49E}"/>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The case-study brief permits alternative technology choices. These choices support an integrated local MVP.</a:t>
            </a:r>
          </a:p>
        </p:txBody>
      </p:sp>
    </p:spTree>
    <p:extLst>
      <p:ext uri="{BB962C8B-B14F-4D97-AF65-F5344CB8AC3E}">
        <p14:creationId xmlns:p14="http://schemas.microsoft.com/office/powerpoint/2010/main" val="139906635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FUTURE WORK">
            <a:extLst xmlns:a="http://schemas.openxmlformats.org/drawingml/2006/main">
              <a:ext uri="{FF2B5EF4-FFF2-40B4-BE49-F238E27FC236}">
                <a16:creationId xmlns:a16="http://schemas.microsoft.com/office/drawing/2014/main" id="{504A5559-9F1D-4566-9C6D-FF54106BDCED}"/>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FUTURE WORK</a:t>
            </a:r>
          </a:p>
        </p:txBody>
      </p:sp>
      <p:sp>
        <p:nvSpPr>
          <p:cNvPr id="2" name="A staged path to a dependable research service">
            <a:extLst xmlns:a="http://schemas.openxmlformats.org/drawingml/2006/main">
              <a:ext uri="{FF2B5EF4-FFF2-40B4-BE49-F238E27FC236}">
                <a16:creationId xmlns:a16="http://schemas.microsoft.com/office/drawing/2014/main" id="{21F2125C-7C76-4313-8FCD-7FEFA958DEDD}"/>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A staged path to a dependable research service</a:t>
            </a:r>
          </a:p>
        </p:txBody>
      </p:sp>
      <p:sp>
        <p:nvSpPr>
          <p:cNvPr id="3" name="">
            <a:extLst xmlns:a="http://schemas.openxmlformats.org/drawingml/2006/main">
              <a:ext uri="{FF2B5EF4-FFF2-40B4-BE49-F238E27FC236}">
                <a16:creationId xmlns:a16="http://schemas.microsoft.com/office/drawing/2014/main" id="{092AD3AB-688B-45CE-9C0B-4669586711FD}"/>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7A00BABC-BF0A-439A-B9C5-0D61D49B3291}"/>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19">
            <a:extLst xmlns:a="http://schemas.openxmlformats.org/drawingml/2006/main">
              <a:ext uri="{FF2B5EF4-FFF2-40B4-BE49-F238E27FC236}">
                <a16:creationId xmlns:a16="http://schemas.microsoft.com/office/drawing/2014/main" id="{83121C60-B08D-4BD3-BF53-49B2035FFA50}"/>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19</a:t>
            </a:r>
          </a:p>
        </p:txBody>
      </p:sp>
      <p:sp>
        <p:nvSpPr>
          <p:cNvPr id="6" name="">
            <a:extLst xmlns:a="http://schemas.openxmlformats.org/drawingml/2006/main">
              <a:ext uri="{FF2B5EF4-FFF2-40B4-BE49-F238E27FC236}">
                <a16:creationId xmlns:a16="http://schemas.microsoft.com/office/drawing/2014/main" id="{E3B56113-C63E-4D2F-BD31-EDC033F01AA9}"/>
              </a:ext>
            </a:extLst>
          </p:cNvPr>
          <p:cNvSpPr>
            <a:spLocks xmlns:a="http://schemas.openxmlformats.org/drawingml/2006/main" noGrp="1"/>
          </p:cNvSpPr>
          <p:nvPr/>
        </p:nvSpPr>
        <p:spPr>
          <a:xfrm xmlns:a="http://schemas.openxmlformats.org/drawingml/2006/main">
            <a:off x="762000" y="2809875"/>
            <a:ext cx="3143250" cy="22860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7" name="01">
            <a:extLst xmlns:a="http://schemas.openxmlformats.org/drawingml/2006/main">
              <a:ext uri="{FF2B5EF4-FFF2-40B4-BE49-F238E27FC236}">
                <a16:creationId xmlns:a16="http://schemas.microsoft.com/office/drawing/2014/main" id="{99BC8FF0-3346-4A50-A92A-9136CF28043D}"/>
              </a:ext>
            </a:extLst>
          </p:cNvPr>
          <p:cNvSpPr>
            <a:spLocks xmlns:a="http://schemas.openxmlformats.org/drawingml/2006/main" noGrp="1"/>
          </p:cNvSpPr>
          <p:nvPr/>
        </p:nvSpPr>
        <p:spPr>
          <a:xfrm xmlns:a="http://schemas.openxmlformats.org/drawingml/2006/main">
            <a:off x="952500" y="30003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01</a:t>
            </a:r>
          </a:p>
        </p:txBody>
      </p:sp>
      <p:sp>
        <p:nvSpPr>
          <p:cNvPr id="8" name="Evaluate">
            <a:extLst xmlns:a="http://schemas.openxmlformats.org/drawingml/2006/main">
              <a:ext uri="{FF2B5EF4-FFF2-40B4-BE49-F238E27FC236}">
                <a16:creationId xmlns:a16="http://schemas.microsoft.com/office/drawing/2014/main" id="{23FA7CD0-7848-45E6-B5F3-377DAF81290D}"/>
              </a:ext>
            </a:extLst>
          </p:cNvPr>
          <p:cNvSpPr>
            <a:spLocks xmlns:a="http://schemas.openxmlformats.org/drawingml/2006/main" noGrp="1"/>
          </p:cNvSpPr>
          <p:nvPr/>
        </p:nvSpPr>
        <p:spPr>
          <a:xfrm xmlns:a="http://schemas.openxmlformats.org/drawingml/2006/main">
            <a:off x="952500" y="33813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Evaluate</a:t>
            </a:r>
          </a:p>
        </p:txBody>
      </p:sp>
      <p:sp>
        <p:nvSpPr>
          <p:cNvPr id="9" name="Analyst labels and calibrated rules">
            <a:extLst xmlns:a="http://schemas.openxmlformats.org/drawingml/2006/main">
              <a:ext uri="{FF2B5EF4-FFF2-40B4-BE49-F238E27FC236}">
                <a16:creationId xmlns:a16="http://schemas.microsoft.com/office/drawing/2014/main" id="{C815C38D-15BA-413F-8C3F-A73301AD99F9}"/>
              </a:ext>
            </a:extLst>
          </p:cNvPr>
          <p:cNvSpPr>
            <a:spLocks xmlns:a="http://schemas.openxmlformats.org/drawingml/2006/main" noGrp="1"/>
          </p:cNvSpPr>
          <p:nvPr/>
        </p:nvSpPr>
        <p:spPr>
          <a:xfrm xmlns:a="http://schemas.openxmlformats.org/drawingml/2006/main">
            <a:off x="952500" y="39909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Analyst labels and calibrated rules</a:t>
            </a:r>
          </a:p>
        </p:txBody>
      </p:sp>
      <p:sp>
        <p:nvSpPr>
          <p:cNvPr id="10" name="">
            <a:extLst xmlns:a="http://schemas.openxmlformats.org/drawingml/2006/main">
              <a:ext uri="{FF2B5EF4-FFF2-40B4-BE49-F238E27FC236}">
                <a16:creationId xmlns:a16="http://schemas.microsoft.com/office/drawing/2014/main" id="{6B1ED598-9158-4F60-8D75-2E4FCD9C8F9B}"/>
              </a:ext>
            </a:extLst>
          </p:cNvPr>
          <p:cNvSpPr>
            <a:spLocks xmlns:a="http://schemas.openxmlformats.org/drawingml/2006/main" noGrp="1"/>
          </p:cNvSpPr>
          <p:nvPr/>
        </p:nvSpPr>
        <p:spPr>
          <a:xfrm xmlns:a="http://schemas.openxmlformats.org/drawingml/2006/main">
            <a:off x="4286250" y="2809875"/>
            <a:ext cx="3143250" cy="22860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1" name="02">
            <a:extLst xmlns:a="http://schemas.openxmlformats.org/drawingml/2006/main">
              <a:ext uri="{FF2B5EF4-FFF2-40B4-BE49-F238E27FC236}">
                <a16:creationId xmlns:a16="http://schemas.microsoft.com/office/drawing/2014/main" id="{832560F8-BC46-432D-ADCD-AA11271DD344}"/>
              </a:ext>
            </a:extLst>
          </p:cNvPr>
          <p:cNvSpPr>
            <a:spLocks xmlns:a="http://schemas.openxmlformats.org/drawingml/2006/main" noGrp="1"/>
          </p:cNvSpPr>
          <p:nvPr/>
        </p:nvSpPr>
        <p:spPr>
          <a:xfrm xmlns:a="http://schemas.openxmlformats.org/drawingml/2006/main">
            <a:off x="4476750" y="30003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02</a:t>
            </a:r>
          </a:p>
        </p:txBody>
      </p:sp>
      <p:sp>
        <p:nvSpPr>
          <p:cNvPr id="12" name="Improve evidence">
            <a:extLst xmlns:a="http://schemas.openxmlformats.org/drawingml/2006/main">
              <a:ext uri="{FF2B5EF4-FFF2-40B4-BE49-F238E27FC236}">
                <a16:creationId xmlns:a16="http://schemas.microsoft.com/office/drawing/2014/main" id="{863B69A4-8AA8-43FF-84AB-6C405E00ED5C}"/>
              </a:ext>
            </a:extLst>
          </p:cNvPr>
          <p:cNvSpPr>
            <a:spLocks xmlns:a="http://schemas.openxmlformats.org/drawingml/2006/main" noGrp="1"/>
          </p:cNvSpPr>
          <p:nvPr/>
        </p:nvSpPr>
        <p:spPr>
          <a:xfrm xmlns:a="http://schemas.openxmlformats.org/drawingml/2006/main">
            <a:off x="4476750" y="33813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Improve evidence</a:t>
            </a:r>
          </a:p>
        </p:txBody>
      </p:sp>
      <p:sp>
        <p:nvSpPr>
          <p:cNvPr id="13" name="History, richer text and retrieval">
            <a:extLst xmlns:a="http://schemas.openxmlformats.org/drawingml/2006/main">
              <a:ext uri="{FF2B5EF4-FFF2-40B4-BE49-F238E27FC236}">
                <a16:creationId xmlns:a16="http://schemas.microsoft.com/office/drawing/2014/main" id="{140813FF-DFD1-4F73-B8D1-5F388953FDC7}"/>
              </a:ext>
            </a:extLst>
          </p:cNvPr>
          <p:cNvSpPr>
            <a:spLocks xmlns:a="http://schemas.openxmlformats.org/drawingml/2006/main" noGrp="1"/>
          </p:cNvSpPr>
          <p:nvPr/>
        </p:nvSpPr>
        <p:spPr>
          <a:xfrm xmlns:a="http://schemas.openxmlformats.org/drawingml/2006/main">
            <a:off x="4476750" y="39909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History, richer text and retrieval</a:t>
            </a:r>
          </a:p>
        </p:txBody>
      </p:sp>
      <p:cxnSp>
        <p:nvCxnSpPr>
          <p:cNvPr id="40" name=""/>
          <p:cNvCxnSpPr>
            <a:stCxn xmlns:a="http://schemas.openxmlformats.org/drawingml/2006/main" id="6" idx="3"/>
            <a:endCxn xmlns:a="http://schemas.openxmlformats.org/drawingml/2006/main" id="10" idx="1"/>
          </p:cNvCxnSpPr>
          <p:nvPr/>
        </p:nvCxnSpPr>
        <p:spPr>
          <a:xfrm xmlns:a="http://schemas.openxmlformats.org/drawingml/2006/main">
            <a:off x="3905250" y="3952875"/>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15" name="">
            <a:extLst xmlns:a="http://schemas.openxmlformats.org/drawingml/2006/main">
              <a:ext uri="{FF2B5EF4-FFF2-40B4-BE49-F238E27FC236}">
                <a16:creationId xmlns:a16="http://schemas.microsoft.com/office/drawing/2014/main" id="{15C98BEA-9E9E-49C9-AFF1-CBCD7272EDB4}"/>
              </a:ext>
            </a:extLst>
          </p:cNvPr>
          <p:cNvSpPr>
            <a:spLocks xmlns:a="http://schemas.openxmlformats.org/drawingml/2006/main" noGrp="1"/>
          </p:cNvSpPr>
          <p:nvPr/>
        </p:nvSpPr>
        <p:spPr>
          <a:xfrm xmlns:a="http://schemas.openxmlformats.org/drawingml/2006/main">
            <a:off x="7810500" y="2809875"/>
            <a:ext cx="3143250" cy="22860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16" name="03">
            <a:extLst xmlns:a="http://schemas.openxmlformats.org/drawingml/2006/main">
              <a:ext uri="{FF2B5EF4-FFF2-40B4-BE49-F238E27FC236}">
                <a16:creationId xmlns:a16="http://schemas.microsoft.com/office/drawing/2014/main" id="{E3C4ED85-8543-406C-8EF6-45B6268455D8}"/>
              </a:ext>
            </a:extLst>
          </p:cNvPr>
          <p:cNvSpPr>
            <a:spLocks xmlns:a="http://schemas.openxmlformats.org/drawingml/2006/main" noGrp="1"/>
          </p:cNvSpPr>
          <p:nvPr/>
        </p:nvSpPr>
        <p:spPr>
          <a:xfrm xmlns:a="http://schemas.openxmlformats.org/drawingml/2006/main">
            <a:off x="8001000" y="30003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03</a:t>
            </a:r>
          </a:p>
        </p:txBody>
      </p:sp>
      <p:sp>
        <p:nvSpPr>
          <p:cNvPr id="17" name="Harden operations">
            <a:extLst xmlns:a="http://schemas.openxmlformats.org/drawingml/2006/main">
              <a:ext uri="{FF2B5EF4-FFF2-40B4-BE49-F238E27FC236}">
                <a16:creationId xmlns:a16="http://schemas.microsoft.com/office/drawing/2014/main" id="{CFE091AA-D7A2-42AC-A464-41FC6E4B5566}"/>
              </a:ext>
            </a:extLst>
          </p:cNvPr>
          <p:cNvSpPr>
            <a:spLocks xmlns:a="http://schemas.openxmlformats.org/drawingml/2006/main" noGrp="1"/>
          </p:cNvSpPr>
          <p:nvPr/>
        </p:nvSpPr>
        <p:spPr>
          <a:xfrm xmlns:a="http://schemas.openxmlformats.org/drawingml/2006/main">
            <a:off x="8001000" y="33813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Harden operations</a:t>
            </a:r>
          </a:p>
        </p:txBody>
      </p:sp>
      <p:sp>
        <p:nvSpPr>
          <p:cNvPr id="18" name="Access control and durable jobs">
            <a:extLst xmlns:a="http://schemas.openxmlformats.org/drawingml/2006/main">
              <a:ext uri="{FF2B5EF4-FFF2-40B4-BE49-F238E27FC236}">
                <a16:creationId xmlns:a16="http://schemas.microsoft.com/office/drawing/2014/main" id="{68254583-2C50-4695-8DB2-6A6D02B71429}"/>
              </a:ext>
            </a:extLst>
          </p:cNvPr>
          <p:cNvSpPr>
            <a:spLocks xmlns:a="http://schemas.openxmlformats.org/drawingml/2006/main" noGrp="1"/>
          </p:cNvSpPr>
          <p:nvPr/>
        </p:nvSpPr>
        <p:spPr>
          <a:xfrm xmlns:a="http://schemas.openxmlformats.org/drawingml/2006/main">
            <a:off x="8001000" y="39909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Access control and durable jobs</a:t>
            </a:r>
          </a:p>
        </p:txBody>
      </p:sp>
      <p:cxnSp>
        <p:nvCxnSpPr>
          <p:cNvPr id="45" name=""/>
          <p:cNvCxnSpPr>
            <a:stCxn xmlns:a="http://schemas.openxmlformats.org/drawingml/2006/main" id="10" idx="3"/>
            <a:endCxn xmlns:a="http://schemas.openxmlformats.org/drawingml/2006/main" id="15" idx="1"/>
          </p:cNvCxnSpPr>
          <p:nvPr/>
        </p:nvCxnSpPr>
        <p:spPr>
          <a:xfrm xmlns:a="http://schemas.openxmlformats.org/drawingml/2006/main">
            <a:off x="7429500" y="3952875"/>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0" name="">
            <a:extLst xmlns:a="http://schemas.openxmlformats.org/drawingml/2006/main">
              <a:ext uri="{FF2B5EF4-FFF2-40B4-BE49-F238E27FC236}">
                <a16:creationId xmlns:a16="http://schemas.microsoft.com/office/drawing/2014/main" id="{2D8EB823-76EC-4835-9B1C-A77A5EEBF84E}"/>
              </a:ext>
            </a:extLst>
          </p:cNvPr>
          <p:cNvSpPr>
            <a:spLocks xmlns:a="http://schemas.openxmlformats.org/drawingml/2006/main" noGrp="1"/>
          </p:cNvSpPr>
          <p:nvPr/>
        </p:nvSpPr>
        <p:spPr>
          <a:xfrm xmlns:a="http://schemas.openxmlformats.org/drawingml/2006/main">
            <a:off x="11334750" y="2809875"/>
            <a:ext cx="3143250" cy="2286000"/>
          </a:xfrm>
          <a:prstGeom xmlns:a="http://schemas.openxmlformats.org/drawingml/2006/main" prst="rect">
            <a:avLst/>
          </a:prstGeom>
          <a:solidFill xmlns:a="http://schemas.openxmlformats.org/drawingml/2006/main">
            <a:srgbClr val="F5F8FB"/>
          </a:solidFill>
          <a:ln xmlns:a="http://schemas.openxmlformats.org/drawingml/2006/main" w="14288">
            <a:solidFill>
              <a:srgbClr val="CCD9E2"/>
            </a:solidFill>
          </a:ln>
        </p:spPr>
      </p:sp>
      <p:sp>
        <p:nvSpPr>
          <p:cNvPr id="21" name="04">
            <a:extLst xmlns:a="http://schemas.openxmlformats.org/drawingml/2006/main">
              <a:ext uri="{FF2B5EF4-FFF2-40B4-BE49-F238E27FC236}">
                <a16:creationId xmlns:a16="http://schemas.microsoft.com/office/drawing/2014/main" id="{D2B153A2-1F49-4B0D-A685-2083BBD9FC90}"/>
              </a:ext>
            </a:extLst>
          </p:cNvPr>
          <p:cNvSpPr>
            <a:spLocks xmlns:a="http://schemas.openxmlformats.org/drawingml/2006/main" noGrp="1"/>
          </p:cNvSpPr>
          <p:nvPr/>
        </p:nvSpPr>
        <p:spPr>
          <a:xfrm xmlns:a="http://schemas.openxmlformats.org/drawingml/2006/main">
            <a:off x="11525250" y="30003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04</a:t>
            </a:r>
          </a:p>
        </p:txBody>
      </p:sp>
      <p:sp>
        <p:nvSpPr>
          <p:cNvPr id="22" name="Scale selectively">
            <a:extLst xmlns:a="http://schemas.openxmlformats.org/drawingml/2006/main">
              <a:ext uri="{FF2B5EF4-FFF2-40B4-BE49-F238E27FC236}">
                <a16:creationId xmlns:a16="http://schemas.microsoft.com/office/drawing/2014/main" id="{68C13BA8-1D12-4274-B7FD-2DFD4E88B491}"/>
              </a:ext>
            </a:extLst>
          </p:cNvPr>
          <p:cNvSpPr>
            <a:spLocks xmlns:a="http://schemas.openxmlformats.org/drawingml/2006/main" noGrp="1"/>
          </p:cNvSpPr>
          <p:nvPr/>
        </p:nvSpPr>
        <p:spPr>
          <a:xfrm xmlns:a="http://schemas.openxmlformats.org/drawingml/2006/main">
            <a:off x="11525250" y="3381375"/>
            <a:ext cx="276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43"/>
                </a:solidFill>
                <a:latin typeface="Segoe UI"/>
                <a:ea typeface="Segoe UI"/>
                <a:cs typeface="Segoe UI"/>
              </a:defRPr>
            </a:pPr>
            <a:r>
              <a:rPr sz="2175" b="1">
                <a:solidFill>
                  <a:srgbClr val="102C43"/>
                </a:solidFill>
                <a:latin typeface="Segoe UI"/>
                <a:ea typeface="Segoe UI"/>
                <a:cs typeface="Segoe UI"/>
              </a:rPr>
              <a:t>Scale selectively</a:t>
            </a:r>
          </a:p>
        </p:txBody>
      </p:sp>
      <p:sp>
        <p:nvSpPr>
          <p:cNvPr id="23" name="Shared services when needed">
            <a:extLst xmlns:a="http://schemas.openxmlformats.org/drawingml/2006/main">
              <a:ext uri="{FF2B5EF4-FFF2-40B4-BE49-F238E27FC236}">
                <a16:creationId xmlns:a16="http://schemas.microsoft.com/office/drawing/2014/main" id="{32FBB865-1B92-46F4-84F9-CE3A3BC72BEC}"/>
              </a:ext>
            </a:extLst>
          </p:cNvPr>
          <p:cNvSpPr>
            <a:spLocks xmlns:a="http://schemas.openxmlformats.org/drawingml/2006/main" noGrp="1"/>
          </p:cNvSpPr>
          <p:nvPr/>
        </p:nvSpPr>
        <p:spPr>
          <a:xfrm xmlns:a="http://schemas.openxmlformats.org/drawingml/2006/main">
            <a:off x="11525250" y="39909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C80"/>
                </a:solidFill>
                <a:latin typeface="Segoe UI"/>
                <a:ea typeface="Segoe UI"/>
                <a:cs typeface="Segoe UI"/>
              </a:defRPr>
            </a:pPr>
            <a:r>
              <a:rPr sz="1725" b="0">
                <a:solidFill>
                  <a:srgbClr val="536C80"/>
                </a:solidFill>
                <a:latin typeface="Segoe UI"/>
                <a:ea typeface="Segoe UI"/>
                <a:cs typeface="Segoe UI"/>
              </a:rPr>
              <a:t>Shared services when needed</a:t>
            </a:r>
          </a:p>
        </p:txBody>
      </p:sp>
      <p:cxnSp>
        <p:nvCxnSpPr>
          <p:cNvPr id="50" name=""/>
          <p:cNvCxnSpPr>
            <a:stCxn xmlns:a="http://schemas.openxmlformats.org/drawingml/2006/main" id="15" idx="3"/>
            <a:endCxn xmlns:a="http://schemas.openxmlformats.org/drawingml/2006/main" id="20" idx="1"/>
          </p:cNvCxnSpPr>
          <p:nvPr/>
        </p:nvCxnSpPr>
        <p:spPr>
          <a:xfrm xmlns:a="http://schemas.openxmlformats.org/drawingml/2006/main">
            <a:off x="10953750" y="3952875"/>
            <a:ext cx="381000" cy="0"/>
          </a:xfrm>
          <a:prstGeom xmlns:a="http://schemas.openxmlformats.org/drawingml/2006/main" prst="straightConnector1">
            <a:avLst/>
          </a:prstGeom>
          <a:ln xmlns:a="http://schemas.openxmlformats.org/drawingml/2006/main" w="23813">
            <a:solidFill>
              <a:srgbClr val="007D82"/>
            </a:solidFill>
            <a:tailEnd type="triangle" w="med" len="med"/>
          </a:ln>
        </p:spPr>
      </p:cxnSp>
      <p:sp>
        <p:nvSpPr>
          <p:cNvPr id="25" name="Pilot exit criteria">
            <a:extLst xmlns:a="http://schemas.openxmlformats.org/drawingml/2006/main">
              <a:ext uri="{FF2B5EF4-FFF2-40B4-BE49-F238E27FC236}">
                <a16:creationId xmlns:a16="http://schemas.microsoft.com/office/drawing/2014/main" id="{1BD59E89-C642-4F24-B17F-8724A1A81182}"/>
              </a:ext>
            </a:extLst>
          </p:cNvPr>
          <p:cNvSpPr>
            <a:spLocks xmlns:a="http://schemas.openxmlformats.org/drawingml/2006/main" noGrp="1"/>
          </p:cNvSpPr>
          <p:nvPr/>
        </p:nvSpPr>
        <p:spPr>
          <a:xfrm xmlns:a="http://schemas.openxmlformats.org/drawingml/2006/main">
            <a:off x="762000" y="5695950"/>
            <a:ext cx="1352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007D82"/>
                </a:solidFill>
                <a:latin typeface="Segoe UI"/>
                <a:ea typeface="Segoe UI"/>
                <a:cs typeface="Segoe UI"/>
              </a:defRPr>
            </a:pPr>
            <a:r>
              <a:rPr sz="2475" b="1">
                <a:solidFill>
                  <a:srgbClr val="007D82"/>
                </a:solidFill>
                <a:latin typeface="Segoe UI"/>
                <a:ea typeface="Segoe UI"/>
                <a:cs typeface="Segoe UI"/>
              </a:rPr>
              <a:t>Pilot exit criteria</a:t>
            </a:r>
          </a:p>
        </p:txBody>
      </p:sp>
      <p:sp>
        <p:nvSpPr>
          <p:cNvPr id="26" name="Agreed retrieval quality, useful recommendations, accep">
            <a:extLst xmlns:a="http://schemas.openxmlformats.org/drawingml/2006/main">
              <a:ext uri="{FF2B5EF4-FFF2-40B4-BE49-F238E27FC236}">
                <a16:creationId xmlns:a16="http://schemas.microsoft.com/office/drawing/2014/main" id="{4DFA59D1-4751-436B-B59E-3D72BDECAD79}"/>
              </a:ext>
            </a:extLst>
          </p:cNvPr>
          <p:cNvSpPr>
            <a:spLocks xmlns:a="http://schemas.openxmlformats.org/drawingml/2006/main" noGrp="1"/>
          </p:cNvSpPr>
          <p:nvPr/>
        </p:nvSpPr>
        <p:spPr>
          <a:xfrm xmlns:a="http://schemas.openxmlformats.org/drawingml/2006/main">
            <a:off x="762000" y="6372225"/>
            <a:ext cx="1352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0">
                <a:solidFill>
                  <a:srgbClr val="102C43"/>
                </a:solidFill>
                <a:latin typeface="Segoe UI"/>
                <a:ea typeface="Segoe UI"/>
                <a:cs typeface="Segoe UI"/>
              </a:defRPr>
            </a:pPr>
            <a:r>
              <a:rPr sz="2475" b="0">
                <a:solidFill>
                  <a:srgbClr val="102C43"/>
                </a:solidFill>
                <a:latin typeface="Segoe UI"/>
                <a:ea typeface="Segoe UI"/>
                <a:cs typeface="Segoe UI"/>
              </a:rPr>
              <a:t>Agreed retrieval quality, useful recommendations, acceptable latency and a clear human review process.</a:t>
            </a:r>
          </a:p>
        </p:txBody>
      </p:sp>
    </p:spTree>
    <p:extLst>
      <p:ext uri="{BB962C8B-B14F-4D97-AF65-F5344CB8AC3E}">
        <p14:creationId xmlns:p14="http://schemas.microsoft.com/office/powerpoint/2010/main" val="205246702"/>
      </p:ext>
    </p:extLst>
  </p:cSld>
</p:sld>
</file>

<file path=ppt/slides/slide20.xml><?xml version="1.0" encoding="utf-8"?>
<p:sld xmlns:p="http://schemas.openxmlformats.org/presentationml/2006/main">
  <p:cSld>
    <p:bg>
      <p:bgPr>
        <a:solidFill xmlns:a="http://schemas.openxmlformats.org/drawingml/2006/main">
          <a:srgbClr val="0B2238"/>
        </a:solidFill>
      </p:bgPr>
    </p:bg>
    <p:spTree>
      <p:nvGrpSpPr>
        <p:cNvPr id="1" name=""/>
        <p:cNvGrpSpPr/>
        <p:nvPr/>
      </p:nvGrpSpPr>
      <p:grpSpPr>
        <a:xfrm xmlns:a="http://schemas.openxmlformats.org/drawingml/2006/main"/>
      </p:grpSpPr>
      <p:sp>
        <p:nvSpPr>
          <p:cNvPr id="9" name="CONCLUSION">
            <a:extLst xmlns:a="http://schemas.openxmlformats.org/drawingml/2006/main">
              <a:ext uri="{FF2B5EF4-FFF2-40B4-BE49-F238E27FC236}">
                <a16:creationId xmlns:a16="http://schemas.microsoft.com/office/drawing/2014/main" id="{B01D0E28-67C4-4A3F-9DD4-F5FA20A59A88}"/>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71D5C0"/>
                </a:solidFill>
                <a:latin typeface="Segoe UI"/>
                <a:ea typeface="Segoe UI"/>
                <a:cs typeface="Segoe UI"/>
              </a:defRPr>
            </a:pPr>
            <a:r>
              <a:rPr sz="1200" b="1">
                <a:solidFill>
                  <a:srgbClr val="71D5C0"/>
                </a:solidFill>
                <a:latin typeface="Segoe UI"/>
                <a:ea typeface="Segoe UI"/>
                <a:cs typeface="Segoe UI"/>
              </a:rPr>
              <a:t>CONCLUSION</a:t>
            </a:r>
          </a:p>
        </p:txBody>
      </p:sp>
      <p:sp>
        <p:nvSpPr>
          <p:cNvPr id="2" name="Research planning with an inspectable evidence trail">
            <a:extLst xmlns:a="http://schemas.openxmlformats.org/drawingml/2006/main">
              <a:ext uri="{FF2B5EF4-FFF2-40B4-BE49-F238E27FC236}">
                <a16:creationId xmlns:a16="http://schemas.microsoft.com/office/drawing/2014/main" id="{2857BE62-1C45-467F-92E9-62AAC8EAF45D}"/>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FFFFF"/>
                </a:solidFill>
                <a:latin typeface="Segoe UI"/>
                <a:ea typeface="Segoe UI"/>
                <a:cs typeface="Segoe UI"/>
              </a:defRPr>
            </a:pPr>
            <a:r>
              <a:rPr sz="3600" b="1">
                <a:solidFill>
                  <a:srgbClr val="FFFFFF"/>
                </a:solidFill>
                <a:latin typeface="Segoe UI"/>
                <a:ea typeface="Segoe UI"/>
                <a:cs typeface="Segoe UI"/>
              </a:rPr>
              <a:t>Research planning with an inspectable evidence trail</a:t>
            </a:r>
          </a:p>
        </p:txBody>
      </p:sp>
      <p:sp>
        <p:nvSpPr>
          <p:cNvPr id="3" name="">
            <a:extLst xmlns:a="http://schemas.openxmlformats.org/drawingml/2006/main">
              <a:ext uri="{FF2B5EF4-FFF2-40B4-BE49-F238E27FC236}">
                <a16:creationId xmlns:a16="http://schemas.microsoft.com/office/drawing/2014/main" id="{D3C3D2AF-D103-4403-9F4A-16A636F19470}"/>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365066"/>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BAA60226-59A2-4383-8813-21941E9DC923}"/>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AFC1D0"/>
                </a:solidFill>
                <a:latin typeface="Segoe UI"/>
                <a:ea typeface="Segoe UI"/>
                <a:cs typeface="Segoe UI"/>
              </a:defRPr>
            </a:pPr>
            <a:r>
              <a:rPr sz="1125" b="0">
                <a:solidFill>
                  <a:srgbClr val="AFC1D0"/>
                </a:solidFill>
                <a:latin typeface="Segoe UI"/>
                <a:ea typeface="Segoe UI"/>
                <a:cs typeface="Segoe UI"/>
              </a:rPr>
              <a:t>Demand Sensing Intelligence</a:t>
            </a:r>
          </a:p>
        </p:txBody>
      </p:sp>
      <p:sp>
        <p:nvSpPr>
          <p:cNvPr id="5" name="20">
            <a:extLst xmlns:a="http://schemas.openxmlformats.org/drawingml/2006/main">
              <a:ext uri="{FF2B5EF4-FFF2-40B4-BE49-F238E27FC236}">
                <a16:creationId xmlns:a16="http://schemas.microsoft.com/office/drawing/2014/main" id="{54C93818-9E67-4F6C-9DD0-4932C4817694}"/>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71D5C0"/>
                </a:solidFill>
                <a:latin typeface="Segoe UI"/>
                <a:ea typeface="Segoe UI"/>
                <a:cs typeface="Segoe UI"/>
              </a:defRPr>
            </a:pPr>
            <a:r>
              <a:rPr sz="1500" b="1">
                <a:solidFill>
                  <a:srgbClr val="71D5C0"/>
                </a:solidFill>
                <a:latin typeface="Segoe UI"/>
                <a:ea typeface="Segoe UI"/>
                <a:cs typeface="Segoe UI"/>
              </a:rPr>
              <a:t>20</a:t>
            </a:r>
          </a:p>
        </p:txBody>
      </p:sp>
      <p:sp>
        <p:nvSpPr>
          <p:cNvPr id="6" name="A market question becomes a ranked research decision.&#10;A">
            <a:extLst xmlns:a="http://schemas.openxmlformats.org/drawingml/2006/main">
              <a:ext uri="{FF2B5EF4-FFF2-40B4-BE49-F238E27FC236}">
                <a16:creationId xmlns:a16="http://schemas.microsoft.com/office/drawing/2014/main" id="{9093C471-96CD-4CF5-90A8-ACB961FA3EEF}"/>
              </a:ext>
            </a:extLst>
          </p:cNvPr>
          <p:cNvSpPr>
            <a:spLocks xmlns:a="http://schemas.openxmlformats.org/drawingml/2006/main" noGrp="1"/>
          </p:cNvSpPr>
          <p:nvPr/>
        </p:nvSpPr>
        <p:spPr>
          <a:xfrm xmlns:a="http://schemas.openxmlformats.org/drawingml/2006/main">
            <a:off x="762000" y="2781300"/>
            <a:ext cx="13239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FFFFF"/>
                </a:solidFill>
                <a:latin typeface="Segoe UI"/>
                <a:ea typeface="Segoe UI"/>
                <a:cs typeface="Segoe UI"/>
              </a:defRPr>
            </a:pPr>
            <a:r>
              <a:rPr sz="3225" b="1">
                <a:solidFill>
                  <a:srgbClr val="FFFFFF"/>
                </a:solidFill>
                <a:latin typeface="Segoe UI"/>
                <a:ea typeface="Segoe UI"/>
                <a:cs typeface="Segoe UI"/>
              </a:rPr>
              <a:t>A market question becomes a ranked research decision.</a:t>
            </a:r>
          </a:p>
          <a:p xmlns:a="http://schemas.openxmlformats.org/drawingml/2006/main">
            <a:pPr>
              <a:defRPr sz="3225" b="1">
                <a:solidFill>
                  <a:srgbClr val="FFFFFF"/>
                </a:solidFill>
                <a:latin typeface="Segoe UI"/>
                <a:ea typeface="Segoe UI"/>
                <a:cs typeface="Segoe UI"/>
              </a:defRPr>
            </a:pPr>
            <a:r>
              <a:rPr sz="3225" b="1">
                <a:solidFill>
                  <a:srgbClr val="FFFFFF"/>
                </a:solidFill>
                <a:latin typeface="Segoe UI"/>
                <a:ea typeface="Segoe UI"/>
                <a:cs typeface="Segoe UI"/>
              </a:rPr>
              <a:t>A client question becomes a cited internal answer.</a:t>
            </a:r>
          </a:p>
        </p:txBody>
      </p:sp>
      <p:sp>
        <p:nvSpPr>
          <p:cNvPr id="7" name="The next step is a controlled analyst evaluation&#10;on a r">
            <a:extLst xmlns:a="http://schemas.openxmlformats.org/drawingml/2006/main">
              <a:ext uri="{FF2B5EF4-FFF2-40B4-BE49-F238E27FC236}">
                <a16:creationId xmlns:a16="http://schemas.microsoft.com/office/drawing/2014/main" id="{CC0337D1-6C58-48BA-85E3-1763CB8D2EB4}"/>
              </a:ext>
            </a:extLst>
          </p:cNvPr>
          <p:cNvSpPr>
            <a:spLocks xmlns:a="http://schemas.openxmlformats.org/drawingml/2006/main" noGrp="1"/>
          </p:cNvSpPr>
          <p:nvPr/>
        </p:nvSpPr>
        <p:spPr>
          <a:xfrm xmlns:a="http://schemas.openxmlformats.org/drawingml/2006/main">
            <a:off x="762000" y="5048250"/>
            <a:ext cx="1257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0">
                <a:solidFill>
                  <a:srgbClr val="BDD0DE"/>
                </a:solidFill>
                <a:latin typeface="Segoe UI"/>
                <a:ea typeface="Segoe UI"/>
                <a:cs typeface="Segoe UI"/>
              </a:defRPr>
            </a:pPr>
            <a:r>
              <a:rPr sz="2700" b="0">
                <a:solidFill>
                  <a:srgbClr val="BDD0DE"/>
                </a:solidFill>
                <a:latin typeface="Segoe UI"/>
                <a:ea typeface="Segoe UI"/>
                <a:cs typeface="Segoe UI"/>
              </a:rPr>
              <a:t>The next step is a controlled analyst evaluation</a:t>
            </a:r>
          </a:p>
          <a:p xmlns:a="http://schemas.openxmlformats.org/drawingml/2006/main">
            <a:pPr>
              <a:defRPr sz="2700" b="0">
                <a:solidFill>
                  <a:srgbClr val="BDD0DE"/>
                </a:solidFill>
                <a:latin typeface="Segoe UI"/>
                <a:ea typeface="Segoe UI"/>
                <a:cs typeface="Segoe UI"/>
              </a:defRPr>
            </a:pPr>
            <a:r>
              <a:rPr sz="2700" b="0">
                <a:solidFill>
                  <a:srgbClr val="BDD0DE"/>
                </a:solidFill>
                <a:latin typeface="Segoe UI"/>
                <a:ea typeface="Segoe UI"/>
                <a:cs typeface="Segoe UI"/>
              </a:rPr>
              <a:t>on a representative question set.</a:t>
            </a:r>
          </a:p>
        </p:txBody>
      </p:sp>
      <p:sp>
        <p:nvSpPr>
          <p:cNvPr id="8" name="Technical appendix follows">
            <a:extLst xmlns:a="http://schemas.openxmlformats.org/drawingml/2006/main">
              <a:ext uri="{FF2B5EF4-FFF2-40B4-BE49-F238E27FC236}">
                <a16:creationId xmlns:a16="http://schemas.microsoft.com/office/drawing/2014/main" id="{2F26B72F-9E2E-4DCC-B685-CB253F31E4CD}"/>
              </a:ext>
            </a:extLst>
          </p:cNvPr>
          <p:cNvSpPr>
            <a:spLocks xmlns:a="http://schemas.openxmlformats.org/drawingml/2006/main" noGrp="1"/>
          </p:cNvSpPr>
          <p:nvPr/>
        </p:nvSpPr>
        <p:spPr>
          <a:xfrm xmlns:a="http://schemas.openxmlformats.org/drawingml/2006/main">
            <a:off x="762000" y="6953250"/>
            <a:ext cx="1143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71D5C0"/>
                </a:solidFill>
                <a:latin typeface="Segoe UI"/>
                <a:ea typeface="Segoe UI"/>
                <a:cs typeface="Segoe UI"/>
              </a:defRPr>
            </a:pPr>
            <a:r>
              <a:rPr sz="1725" b="0">
                <a:solidFill>
                  <a:srgbClr val="71D5C0"/>
                </a:solidFill>
                <a:latin typeface="Segoe UI"/>
                <a:ea typeface="Segoe UI"/>
                <a:cs typeface="Segoe UI"/>
              </a:rPr>
              <a:t>Technical appendix follows</a:t>
            </a:r>
          </a:p>
        </p:txBody>
      </p:sp>
    </p:spTree>
    <p:extLst>
      <p:ext uri="{BB962C8B-B14F-4D97-AF65-F5344CB8AC3E}">
        <p14:creationId xmlns:p14="http://schemas.microsoft.com/office/powerpoint/2010/main" val="65887076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CHNICAL APPENDIX">
            <a:extLst xmlns:a="http://schemas.openxmlformats.org/drawingml/2006/main">
              <a:ext uri="{FF2B5EF4-FFF2-40B4-BE49-F238E27FC236}">
                <a16:creationId xmlns:a16="http://schemas.microsoft.com/office/drawing/2014/main" id="{B9DDC89F-E9EB-4806-97C2-7BA71F77386F}"/>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TECHNICAL APPENDIX</a:t>
            </a:r>
          </a:p>
        </p:txBody>
      </p:sp>
      <p:sp>
        <p:nvSpPr>
          <p:cNvPr id="2" name="Agent contracts: planning through attention">
            <a:extLst xmlns:a="http://schemas.openxmlformats.org/drawingml/2006/main">
              <a:ext uri="{FF2B5EF4-FFF2-40B4-BE49-F238E27FC236}">
                <a16:creationId xmlns:a16="http://schemas.microsoft.com/office/drawing/2014/main" id="{48291BAA-E70A-4298-B0D3-54B9B4BFA8D4}"/>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Agent contracts: planning through attention</a:t>
            </a:r>
          </a:p>
        </p:txBody>
      </p:sp>
      <p:sp>
        <p:nvSpPr>
          <p:cNvPr id="3" name="">
            <a:extLst xmlns:a="http://schemas.openxmlformats.org/drawingml/2006/main">
              <a:ext uri="{FF2B5EF4-FFF2-40B4-BE49-F238E27FC236}">
                <a16:creationId xmlns:a16="http://schemas.microsoft.com/office/drawing/2014/main" id="{C41E5724-97B7-43AE-9BB0-49BD6920E49B}"/>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84E0529A-4B4B-45C3-BD62-94705B727CC4}"/>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21">
            <a:extLst xmlns:a="http://schemas.openxmlformats.org/drawingml/2006/main">
              <a:ext uri="{FF2B5EF4-FFF2-40B4-BE49-F238E27FC236}">
                <a16:creationId xmlns:a16="http://schemas.microsoft.com/office/drawing/2014/main" id="{972AD5D0-B0D9-438E-9B01-238F23DF93CC}"/>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21</a:t>
            </a:r>
          </a:p>
        </p:txBody>
      </p:sp>
      <p:graphicFrame>
        <p:nvGraphicFramePr>
          <p:cNvPr id="13" name=""/>
          <p:cNvGraphicFramePr/>
          <p:nvPr/>
        </p:nvGraphicFramePr>
        <p:xfrm>
          <a:off xmlns:a="http://schemas.openxmlformats.org/drawingml/2006/main" x="762000" y="2409825"/>
          <a:ext xmlns:a="http://schemas.openxmlformats.org/drawingml/2006/main" cx="13716000" cy="3762375"/>
        </p:xfrm>
        <a:graphic xmlns:a="http://schemas.openxmlformats.org/drawingml/2006/main">
          <a:graphicData uri="http://schemas.openxmlformats.org/drawingml/2006/table">
            <a:tbl>
              <a:tblPr/>
              <a:tblGrid>
                <a:gridCol w="3143250"/>
                <a:gridCol w="4762500"/>
                <a:gridCol w="5810250"/>
              </a:tblGrid>
              <a:tr h="752475">
                <a:tc>
                  <a:txBody>
                    <a:bodyPr lIns="152400" tIns="114300" rIns="152400" bIns="95250">
                      <a:noAutofit/>
                    </a:bodyPr>
                    <a:lstStyle/>
                    <a:p>
                      <a:r>
                        <a:rPr sz="1725" b="1">
                          <a:solidFill>
                            <a:srgbClr val="FFFFFF"/>
                          </a:solidFill>
                          <a:latin typeface="Segoe UI"/>
                          <a:ea typeface="Segoe UI"/>
                          <a:cs typeface="Segoe UI"/>
                        </a:rPr>
                        <a:t>Agent</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Reads from state</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Adds or updates</a:t>
                      </a:r>
                    </a:p>
                  </a:txBody>
                  <a:tcPr marL="91440" marR="91440" marT="45720" marB="45720">
                    <a:solidFill>
                      <a:srgbClr val="0B2238"/>
                    </a:solidFill>
                  </a:tcPr>
                </a:tc>
              </a:tr>
              <a:tr h="752475">
                <a:tc>
                  <a:txBody>
                    <a:bodyPr lIns="152400" tIns="114300" rIns="152400" bIns="95250">
                      <a:noAutofit/>
                    </a:bodyPr>
                    <a:lstStyle/>
                    <a:p>
                      <a:r>
                        <a:rPr sz="1800" b="1">
                          <a:solidFill>
                            <a:srgbClr val="102C43"/>
                          </a:solidFill>
                          <a:latin typeface="Segoe UI"/>
                          <a:ea typeface="Segoe UI"/>
                          <a:cs typeface="Segoe UI"/>
                        </a:rPr>
                        <a:t>01 Planner</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question, forced_intent</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intent, research_area, queries, plan, reasoning</a:t>
                      </a:r>
                    </a:p>
                  </a:txBody>
                  <a:tcPr marL="91440" marR="91440" marT="45720" marB="45720">
                    <a:solidFill>
                      <a:srgbClr val="F5F8FB"/>
                    </a:solidFill>
                  </a:tcPr>
                </a:tc>
              </a:tr>
              <a:tr h="752475">
                <a:tc>
                  <a:txBody>
                    <a:bodyPr lIns="152400" tIns="114300" rIns="152400" bIns="95250">
                      <a:noAutofit/>
                    </a:bodyPr>
                    <a:lstStyle/>
                    <a:p>
                      <a:r>
                        <a:rPr sz="1800" b="1">
                          <a:solidFill>
                            <a:srgbClr val="102C43"/>
                          </a:solidFill>
                          <a:latin typeface="Segoe UI"/>
                          <a:ea typeface="Segoe UI"/>
                          <a:cs typeface="Segoe UI"/>
                        </a:rPr>
                        <a:t>02 Scout</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queries, research_area, force_refresh</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articles[], signal_source, scout_stats</a:t>
                      </a:r>
                    </a:p>
                  </a:txBody>
                  <a:tcPr marL="91440" marR="91440" marT="45720" marB="45720">
                    <a:solidFill>
                      <a:srgbClr val="FFFFFF"/>
                    </a:solidFill>
                  </a:tcPr>
                </a:tc>
              </a:tr>
              <a:tr h="752475">
                <a:tc>
                  <a:txBody>
                    <a:bodyPr lIns="152400" tIns="114300" rIns="152400" bIns="95250">
                      <a:noAutofit/>
                    </a:bodyPr>
                    <a:lstStyle/>
                    <a:p>
                      <a:r>
                        <a:rPr sz="1800" b="1">
                          <a:solidFill>
                            <a:srgbClr val="102C43"/>
                          </a:solidFill>
                          <a:latin typeface="Segoe UI"/>
                          <a:ea typeface="Segoe UI"/>
                          <a:cs typeface="Segoe UI"/>
                        </a:rPr>
                        <a:t>03 Topic Analyst</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articles[], research_area</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topics[], topic_objects[], normalisation</a:t>
                      </a:r>
                    </a:p>
                  </a:txBody>
                  <a:tcPr marL="91440" marR="91440" marT="45720" marB="45720">
                    <a:solidFill>
                      <a:srgbClr val="F5F8FB"/>
                    </a:solidFill>
                  </a:tcPr>
                </a:tc>
              </a:tr>
              <a:tr h="752475">
                <a:tc>
                  <a:txBody>
                    <a:bodyPr lIns="152400" tIns="114300" rIns="152400" bIns="95250">
                      <a:noAutofit/>
                    </a:bodyPr>
                    <a:lstStyle/>
                    <a:p>
                      <a:r>
                        <a:rPr sz="1800" b="1">
                          <a:solidFill>
                            <a:srgbClr val="102C43"/>
                          </a:solidFill>
                          <a:latin typeface="Segoe UI"/>
                          <a:ea typeface="Segoe UI"/>
                          <a:cs typeface="Segoe UI"/>
                        </a:rPr>
                        <a:t>04 Attention Analyst</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topics and article/date/source counts</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momentum and recency fields on topics</a:t>
                      </a:r>
                    </a:p>
                  </a:txBody>
                  <a:tcPr marL="91440" marR="91440" marT="45720" marB="45720">
                    <a:solidFill>
                      <a:srgbClr val="FFFFFF"/>
                    </a:solidFill>
                  </a:tcPr>
                </a:tc>
              </a:tr>
            </a:tbl>
          </a:graphicData>
        </a:graphic>
      </p:graphicFrame>
      <p:sp>
        <p:nvSpPr>
          <p:cNvPr id="7" name="A node returns a partial state update. The shared state">
            <a:extLst xmlns:a="http://schemas.openxmlformats.org/drawingml/2006/main">
              <a:ext uri="{FF2B5EF4-FFF2-40B4-BE49-F238E27FC236}">
                <a16:creationId xmlns:a16="http://schemas.microsoft.com/office/drawing/2014/main" id="{E1990AF7-4E92-4F99-AE80-63796927FF37}"/>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A node returns a partial state update. The shared state retains earlier fields, including the original articles.</a:t>
            </a:r>
          </a:p>
        </p:txBody>
      </p:sp>
    </p:spTree>
    <p:extLst>
      <p:ext uri="{BB962C8B-B14F-4D97-AF65-F5344CB8AC3E}">
        <p14:creationId xmlns:p14="http://schemas.microsoft.com/office/powerpoint/2010/main" val="93417989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CHNICAL APPENDIX">
            <a:extLst xmlns:a="http://schemas.openxmlformats.org/drawingml/2006/main">
              <a:ext uri="{FF2B5EF4-FFF2-40B4-BE49-F238E27FC236}">
                <a16:creationId xmlns:a16="http://schemas.microsoft.com/office/drawing/2014/main" id="{3CB1A050-2BE5-406A-B998-542087121865}"/>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TECHNICAL APPENDIX</a:t>
            </a:r>
          </a:p>
        </p:txBody>
      </p:sp>
      <p:sp>
        <p:nvSpPr>
          <p:cNvPr id="2" name="Agent contracts: coverage through review">
            <a:extLst xmlns:a="http://schemas.openxmlformats.org/drawingml/2006/main">
              <a:ext uri="{FF2B5EF4-FFF2-40B4-BE49-F238E27FC236}">
                <a16:creationId xmlns:a16="http://schemas.microsoft.com/office/drawing/2014/main" id="{4C258E21-8F47-4488-BDAA-F1C407340C4B}"/>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Agent contracts: coverage through review</a:t>
            </a:r>
          </a:p>
        </p:txBody>
      </p:sp>
      <p:sp>
        <p:nvSpPr>
          <p:cNvPr id="3" name="">
            <a:extLst xmlns:a="http://schemas.openxmlformats.org/drawingml/2006/main">
              <a:ext uri="{FF2B5EF4-FFF2-40B4-BE49-F238E27FC236}">
                <a16:creationId xmlns:a16="http://schemas.microsoft.com/office/drawing/2014/main" id="{D17A58A7-DF17-412E-87CB-6EC29B2ED290}"/>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9D7054A6-DF96-4CE8-AEA6-CA3365DBB669}"/>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22">
            <a:extLst xmlns:a="http://schemas.openxmlformats.org/drawingml/2006/main">
              <a:ext uri="{FF2B5EF4-FFF2-40B4-BE49-F238E27FC236}">
                <a16:creationId xmlns:a16="http://schemas.microsoft.com/office/drawing/2014/main" id="{FA702C9D-87B5-4333-B727-8EEABF97A908}"/>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22</a:t>
            </a:r>
          </a:p>
        </p:txBody>
      </p:sp>
      <p:graphicFrame>
        <p:nvGraphicFramePr>
          <p:cNvPr id="13" name=""/>
          <p:cNvGraphicFramePr/>
          <p:nvPr/>
        </p:nvGraphicFramePr>
        <p:xfrm>
          <a:off xmlns:a="http://schemas.openxmlformats.org/drawingml/2006/main" x="762000" y="2324100"/>
          <a:ext xmlns:a="http://schemas.openxmlformats.org/drawingml/2006/main" cx="13716000" cy="4667250"/>
        </p:xfrm>
        <a:graphic xmlns:a="http://schemas.openxmlformats.org/drawingml/2006/main">
          <a:graphicData uri="http://schemas.openxmlformats.org/drawingml/2006/table">
            <a:tbl>
              <a:tblPr/>
              <a:tblGrid>
                <a:gridCol w="3143250"/>
                <a:gridCol w="4762500"/>
                <a:gridCol w="5810250"/>
              </a:tblGrid>
              <a:tr h="777875">
                <a:tc>
                  <a:txBody>
                    <a:bodyPr lIns="152400" tIns="114300" rIns="152400" bIns="95250">
                      <a:noAutofit/>
                    </a:bodyPr>
                    <a:lstStyle/>
                    <a:p>
                      <a:r>
                        <a:rPr sz="1725" b="1">
                          <a:solidFill>
                            <a:srgbClr val="FFFFFF"/>
                          </a:solidFill>
                          <a:latin typeface="Segoe UI"/>
                          <a:ea typeface="Segoe UI"/>
                          <a:cs typeface="Segoe UI"/>
                        </a:rPr>
                        <a:t>Agent</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Reads from state</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Adds or updates</a:t>
                      </a:r>
                    </a:p>
                  </a:txBody>
                  <a:tcPr marL="91440" marR="91440" marT="45720" marB="45720">
                    <a:solidFill>
                      <a:srgbClr val="0B2238"/>
                    </a:solidFill>
                  </a:tcPr>
                </a:tc>
              </a:tr>
              <a:tr h="777875">
                <a:tc>
                  <a:txBody>
                    <a:bodyPr lIns="152400" tIns="114300" rIns="152400" bIns="95250">
                      <a:noAutofit/>
                    </a:bodyPr>
                    <a:lstStyle/>
                    <a:p>
                      <a:r>
                        <a:rPr sz="1800" b="1">
                          <a:solidFill>
                            <a:srgbClr val="102C43"/>
                          </a:solidFill>
                          <a:latin typeface="Segoe UI"/>
                          <a:ea typeface="Segoe UI"/>
                          <a:cs typeface="Segoe UI"/>
                        </a:rPr>
                        <a:t>05 Librarian</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topic labels + descriptions, internal index</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coverage by slug, matched_docs and topic scores</a:t>
                      </a:r>
                    </a:p>
                  </a:txBody>
                  <a:tcPr marL="91440" marR="91440" marT="45720" marB="45720">
                    <a:solidFill>
                      <a:srgbClr val="F5F8FB"/>
                    </a:solidFill>
                  </a:tcPr>
                </a:tc>
              </a:tr>
              <a:tr h="777875">
                <a:tc>
                  <a:txBody>
                    <a:bodyPr lIns="152400" tIns="114300" rIns="152400" bIns="95250">
                      <a:noAutofit/>
                    </a:bodyPr>
                    <a:lstStyle/>
                    <a:p>
                      <a:r>
                        <a:rPr sz="1800" b="1">
                          <a:solidFill>
                            <a:srgbClr val="102C43"/>
                          </a:solidFill>
                          <a:latin typeface="Segoe UI"/>
                          <a:ea typeface="Segoe UI"/>
                          <a:cs typeface="Segoe UI"/>
                        </a:rPr>
                        <a:t>06 Graph Curator</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topic_objects and accepted coverage</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graph summary, question and node/link snapshot</a:t>
                      </a:r>
                    </a:p>
                  </a:txBody>
                  <a:tcPr marL="91440" marR="91440" marT="45720" marB="45720">
                    <a:solidFill>
                      <a:srgbClr val="FFFFFF"/>
                    </a:solidFill>
                  </a:tcPr>
                </a:tc>
              </a:tr>
              <a:tr h="777875">
                <a:tc>
                  <a:txBody>
                    <a:bodyPr lIns="152400" tIns="114300" rIns="152400" bIns="95250">
                      <a:noAutofit/>
                    </a:bodyPr>
                    <a:lstStyle/>
                    <a:p>
                      <a:r>
                        <a:rPr sz="1800" b="1">
                          <a:solidFill>
                            <a:srgbClr val="102C43"/>
                          </a:solidFill>
                          <a:latin typeface="Segoe UI"/>
                          <a:ea typeface="Segoe UI"/>
                          <a:cs typeface="Segoe UI"/>
                        </a:rPr>
                        <a:t>07 Gap Analyst</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topic attention and coverage</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gaps[], priority, quadrant and portfolio</a:t>
                      </a:r>
                    </a:p>
                  </a:txBody>
                  <a:tcPr marL="91440" marR="91440" marT="45720" marB="45720">
                    <a:solidFill>
                      <a:srgbClr val="F5F8FB"/>
                    </a:solidFill>
                  </a:tcPr>
                </a:tc>
              </a:tr>
              <a:tr h="777875">
                <a:tc>
                  <a:txBody>
                    <a:bodyPr lIns="152400" tIns="114300" rIns="152400" bIns="95250">
                      <a:noAutofit/>
                    </a:bodyPr>
                    <a:lstStyle/>
                    <a:p>
                      <a:r>
                        <a:rPr sz="1800" b="1">
                          <a:solidFill>
                            <a:srgbClr val="102C43"/>
                          </a:solidFill>
                          <a:latin typeface="Segoe UI"/>
                          <a:ea typeface="Segoe UI"/>
                          <a:cs typeface="Segoe UI"/>
                        </a:rPr>
                        <a:t>08 Synthesizer</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question and computed analytics</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answer, executive_summary and recommendations</a:t>
                      </a:r>
                    </a:p>
                  </a:txBody>
                  <a:tcPr marL="91440" marR="91440" marT="45720" marB="45720">
                    <a:solidFill>
                      <a:srgbClr val="FFFFFF"/>
                    </a:solidFill>
                  </a:tcPr>
                </a:tc>
              </a:tr>
              <a:tr h="777875">
                <a:tc>
                  <a:txBody>
                    <a:bodyPr lIns="152400" tIns="114300" rIns="152400" bIns="95250">
                      <a:noAutofit/>
                    </a:bodyPr>
                    <a:lstStyle/>
                    <a:p>
                      <a:r>
                        <a:rPr sz="1800" b="1">
                          <a:solidFill>
                            <a:srgbClr val="102C43"/>
                          </a:solidFill>
                          <a:latin typeface="Segoe UI"/>
                          <a:ea typeface="Segoe UI"/>
                          <a:cs typeface="Segoe UI"/>
                        </a:rPr>
                        <a:t>09 Critic</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narrative and supplied analytics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verdict, groundedness and critique_issues</a:t>
                      </a:r>
                    </a:p>
                  </a:txBody>
                  <a:tcPr marL="91440" marR="91440" marT="45720" marB="45720">
                    <a:solidFill>
                      <a:srgbClr val="F5F8FB"/>
                    </a:solidFill>
                  </a:tcPr>
                </a:tc>
              </a:tr>
            </a:tbl>
          </a:graphicData>
        </a:graphic>
      </p:graphicFrame>
      <p:sp>
        <p:nvSpPr>
          <p:cNvPr id="7" name="topic_objects retain internal entity mappings. Serializ">
            <a:extLst xmlns:a="http://schemas.openxmlformats.org/drawingml/2006/main">
              <a:ext uri="{FF2B5EF4-FFF2-40B4-BE49-F238E27FC236}">
                <a16:creationId xmlns:a16="http://schemas.microsoft.com/office/drawing/2014/main" id="{D78C479E-3EC1-4CBA-AA3A-DEF759AF9595}"/>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topic_objects retain internal entity mappings. Serializable topics and the complete result support UI inspection and replay.</a:t>
            </a:r>
          </a:p>
        </p:txBody>
      </p:sp>
    </p:spTree>
    <p:extLst>
      <p:ext uri="{BB962C8B-B14F-4D97-AF65-F5344CB8AC3E}">
        <p14:creationId xmlns:p14="http://schemas.microsoft.com/office/powerpoint/2010/main" val="137724301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OPIC ANALYST DETAIL">
            <a:extLst xmlns:a="http://schemas.openxmlformats.org/drawingml/2006/main">
              <a:ext uri="{FF2B5EF4-FFF2-40B4-BE49-F238E27FC236}">
                <a16:creationId xmlns:a16="http://schemas.microsoft.com/office/drawing/2014/main" id="{657F2B36-7BEF-4A28-9349-2C7FBEF3FF9F}"/>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TOPIC ANALYST DETAIL</a:t>
            </a:r>
          </a:p>
        </p:txBody>
      </p:sp>
      <p:sp>
        <p:nvSpPr>
          <p:cNvPr id="2" name="The three dictionaries preserve mapping during cleanup">
            <a:extLst xmlns:a="http://schemas.openxmlformats.org/drawingml/2006/main">
              <a:ext uri="{FF2B5EF4-FFF2-40B4-BE49-F238E27FC236}">
                <a16:creationId xmlns:a16="http://schemas.microsoft.com/office/drawing/2014/main" id="{944B09D9-FF53-4BDA-B194-C5ED91A2A53C}"/>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The three dictionaries preserve mapping during cleanup</a:t>
            </a:r>
          </a:p>
        </p:txBody>
      </p:sp>
      <p:sp>
        <p:nvSpPr>
          <p:cNvPr id="3" name="">
            <a:extLst xmlns:a="http://schemas.openxmlformats.org/drawingml/2006/main">
              <a:ext uri="{FF2B5EF4-FFF2-40B4-BE49-F238E27FC236}">
                <a16:creationId xmlns:a16="http://schemas.microsoft.com/office/drawing/2014/main" id="{4AA16319-80CE-462C-B322-894C97C0F594}"/>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8068DFE1-37DB-459D-9C2E-8460C00B1E64}"/>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23">
            <a:extLst xmlns:a="http://schemas.openxmlformats.org/drawingml/2006/main">
              <a:ext uri="{FF2B5EF4-FFF2-40B4-BE49-F238E27FC236}">
                <a16:creationId xmlns:a16="http://schemas.microsoft.com/office/drawing/2014/main" id="{CAB3DA0C-AFA9-4DE7-BB39-4770BCEC5EB8}"/>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23</a:t>
            </a:r>
          </a:p>
        </p:txBody>
      </p:sp>
      <p:graphicFrame>
        <p:nvGraphicFramePr>
          <p:cNvPr id="16" name=""/>
          <p:cNvGraphicFramePr/>
          <p:nvPr/>
        </p:nvGraphicFramePr>
        <p:xfrm>
          <a:off xmlns:a="http://schemas.openxmlformats.org/drawingml/2006/main" x="762000" y="2447925"/>
          <a:ext xmlns:a="http://schemas.openxmlformats.org/drawingml/2006/main" cx="13716000" cy="2952750"/>
        </p:xfrm>
        <a:graphic xmlns:a="http://schemas.openxmlformats.org/drawingml/2006/main">
          <a:graphicData uri="http://schemas.openxmlformats.org/drawingml/2006/table">
            <a:tbl>
              <a:tblPr/>
              <a:tblGrid>
                <a:gridCol w="3667125"/>
                <a:gridCol w="2667000"/>
                <a:gridCol w="3000375"/>
                <a:gridCol w="4381500"/>
              </a:tblGrid>
              <a:tr h="738188">
                <a:tc>
                  <a:txBody>
                    <a:bodyPr lIns="152400" tIns="114300" rIns="152400" bIns="95250">
                      <a:noAutofit/>
                    </a:bodyPr>
                    <a:lstStyle/>
                    <a:p>
                      <a:r>
                        <a:rPr sz="1725" b="1">
                          <a:solidFill>
                            <a:srgbClr val="FFFFFF"/>
                          </a:solidFill>
                          <a:latin typeface="Segoe UI"/>
                          <a:ea typeface="Segoe UI"/>
                          <a:cs typeface="Segoe UI"/>
                        </a:rPr>
                        <a:t>Normalized phrase</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surface_counter</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surface_articles</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surface_original</a:t>
                      </a:r>
                    </a:p>
                  </a:txBody>
                  <a:tcPr marL="91440" marR="91440" marT="45720" marB="45720">
                    <a:solidFill>
                      <a:srgbClr val="0B2238"/>
                    </a:solidFill>
                  </a:tcPr>
                </a:tc>
              </a:tr>
              <a:tr h="738188">
                <a:tc>
                  <a:txBody>
                    <a:bodyPr lIns="152400" tIns="114300" rIns="152400" bIns="95250">
                      <a:noAutofit/>
                    </a:bodyPr>
                    <a:lstStyle/>
                    <a:p>
                      <a:r>
                        <a:rPr sz="1800" b="1">
                          <a:solidFill>
                            <a:srgbClr val="102C43"/>
                          </a:solidFill>
                          <a:latin typeface="Segoe UI"/>
                          <a:ea typeface="Segoe UI"/>
                          <a:cs typeface="Segoe UI"/>
                        </a:rPr>
                        <a:t>ai governance</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3</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[0, 1, 2]</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AI Governance</a:t>
                      </a:r>
                    </a:p>
                  </a:txBody>
                  <a:tcPr marL="91440" marR="91440" marT="45720" marB="45720">
                    <a:solidFill>
                      <a:srgbClr val="F5F8FB"/>
                    </a:solidFill>
                  </a:tcPr>
                </a:tc>
              </a:tr>
              <a:tr h="738188">
                <a:tc>
                  <a:txBody>
                    <a:bodyPr lIns="152400" tIns="114300" rIns="152400" bIns="95250">
                      <a:noAutofit/>
                    </a:bodyPr>
                    <a:lstStyle/>
                    <a:p>
                      <a:r>
                        <a:rPr sz="1800" b="1">
                          <a:solidFill>
                            <a:srgbClr val="102C43"/>
                          </a:solidFill>
                          <a:latin typeface="Segoe UI"/>
                          <a:ea typeface="Segoe UI"/>
                          <a:cs typeface="Segoe UI"/>
                        </a:rPr>
                        <a:t>agentic ai</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1</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[0]</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Agentic AI</a:t>
                      </a:r>
                    </a:p>
                  </a:txBody>
                  <a:tcPr marL="91440" marR="91440" marT="45720" marB="45720">
                    <a:solidFill>
                      <a:srgbClr val="FFFFFF"/>
                    </a:solidFill>
                  </a:tcPr>
                </a:tc>
              </a:tr>
              <a:tr h="738188">
                <a:tc>
                  <a:txBody>
                    <a:bodyPr lIns="152400" tIns="114300" rIns="152400" bIns="95250">
                      <a:noAutofit/>
                    </a:bodyPr>
                    <a:lstStyle/>
                    <a:p>
                      <a:r>
                        <a:rPr sz="1800" b="1">
                          <a:solidFill>
                            <a:srgbClr val="102C43"/>
                          </a:solidFill>
                          <a:latin typeface="Segoe UI"/>
                          <a:ea typeface="Segoe UI"/>
                          <a:cs typeface="Segoe UI"/>
                        </a:rPr>
                        <a:t>clinical oversight</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1</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[2]</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Clinical Oversight</a:t>
                      </a:r>
                    </a:p>
                  </a:txBody>
                  <a:tcPr marL="91440" marR="91440" marT="45720" marB="45720">
                    <a:solidFill>
                      <a:srgbClr val="F5F8FB"/>
                    </a:solidFill>
                  </a:tcPr>
                </a:tc>
              </a:tr>
            </a:tbl>
          </a:graphicData>
        </a:graphic>
      </p:graphicFrame>
      <p:sp>
        <p:nvSpPr>
          <p:cNvPr id="7" name="Counts and provenance have different jobs">
            <a:extLst xmlns:a="http://schemas.openxmlformats.org/drawingml/2006/main">
              <a:ext uri="{FF2B5EF4-FFF2-40B4-BE49-F238E27FC236}">
                <a16:creationId xmlns:a16="http://schemas.microsoft.com/office/drawing/2014/main" id="{8F01118C-CA0D-41A8-A853-B77BDE5684D0}"/>
              </a:ext>
            </a:extLst>
          </p:cNvPr>
          <p:cNvSpPr>
            <a:spLocks xmlns:a="http://schemas.openxmlformats.org/drawingml/2006/main" noGrp="1"/>
          </p:cNvSpPr>
          <p:nvPr/>
        </p:nvSpPr>
        <p:spPr>
          <a:xfrm xmlns:a="http://schemas.openxmlformats.org/drawingml/2006/main">
            <a:off x="762000" y="5905500"/>
            <a:ext cx="647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Counts and provenance have different jobs</a:t>
            </a:r>
          </a:p>
        </p:txBody>
      </p:sp>
      <p:sp>
        <p:nvSpPr>
          <p:cNvPr id="8" name="Counter measures phrase frequency. The article map pres">
            <a:extLst xmlns:a="http://schemas.openxmlformats.org/drawingml/2006/main">
              <a:ext uri="{FF2B5EF4-FFF2-40B4-BE49-F238E27FC236}">
                <a16:creationId xmlns:a16="http://schemas.microsoft.com/office/drawing/2014/main" id="{46F6F003-9843-4982-A154-6DD887C87081}"/>
              </a:ext>
            </a:extLst>
          </p:cNvPr>
          <p:cNvSpPr>
            <a:spLocks xmlns:a="http://schemas.openxmlformats.org/drawingml/2006/main" noGrp="1"/>
          </p:cNvSpPr>
          <p:nvPr/>
        </p:nvSpPr>
        <p:spPr>
          <a:xfrm xmlns:a="http://schemas.openxmlformats.org/drawingml/2006/main">
            <a:off x="762000" y="6515100"/>
            <a:ext cx="647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Counter measures phrase frequency. The article map preserves evidence and enables URL deduplication.</a:t>
            </a:r>
          </a:p>
        </p:txBody>
      </p:sp>
      <p:sp>
        <p:nvSpPr>
          <p:cNvPr id="9" name="The final topic can span several phrases">
            <a:extLst xmlns:a="http://schemas.openxmlformats.org/drawingml/2006/main">
              <a:ext uri="{FF2B5EF4-FFF2-40B4-BE49-F238E27FC236}">
                <a16:creationId xmlns:a16="http://schemas.microsoft.com/office/drawing/2014/main" id="{7C8BB057-A41A-44F8-987B-26E65F6A95E2}"/>
              </a:ext>
            </a:extLst>
          </p:cNvPr>
          <p:cNvSpPr>
            <a:spLocks xmlns:a="http://schemas.openxmlformats.org/drawingml/2006/main" noGrp="1"/>
          </p:cNvSpPr>
          <p:nvPr/>
        </p:nvSpPr>
        <p:spPr>
          <a:xfrm xmlns:a="http://schemas.openxmlformats.org/drawingml/2006/main">
            <a:off x="8286750" y="59055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The final topic can span several phrases</a:t>
            </a:r>
          </a:p>
        </p:txBody>
      </p:sp>
      <p:sp>
        <p:nvSpPr>
          <p:cNvPr id="10" name="If governance and oversight merge, article 2 contribute">
            <a:extLst xmlns:a="http://schemas.openxmlformats.org/drawingml/2006/main">
              <a:ext uri="{FF2B5EF4-FFF2-40B4-BE49-F238E27FC236}">
                <a16:creationId xmlns:a16="http://schemas.microsoft.com/office/drawing/2014/main" id="{52CEF9BB-9DAD-413A-B1EA-354CF4DA42BC}"/>
              </a:ext>
            </a:extLst>
          </p:cNvPr>
          <p:cNvSpPr>
            <a:spLocks xmlns:a="http://schemas.openxmlformats.org/drawingml/2006/main" noGrp="1"/>
          </p:cNvSpPr>
          <p:nvPr/>
        </p:nvSpPr>
        <p:spPr>
          <a:xfrm xmlns:a="http://schemas.openxmlformats.org/drawingml/2006/main">
            <a:off x="8286750" y="6515100"/>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If governance and oversight merge, article 2 contributes one distinct URL to that topic.</a:t>
            </a:r>
          </a:p>
        </p:txBody>
      </p:sp>
    </p:spTree>
    <p:extLst>
      <p:ext uri="{BB962C8B-B14F-4D97-AF65-F5344CB8AC3E}">
        <p14:creationId xmlns:p14="http://schemas.microsoft.com/office/powerpoint/2010/main" val="205039801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OPIC ANALYST DETAIL">
            <a:extLst xmlns:a="http://schemas.openxmlformats.org/drawingml/2006/main">
              <a:ext uri="{FF2B5EF4-FFF2-40B4-BE49-F238E27FC236}">
                <a16:creationId xmlns:a16="http://schemas.microsoft.com/office/drawing/2014/main" id="{D08E07D2-D5E1-4473-BF12-4D51E66D8B81}"/>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TOPIC ANALYST DETAIL</a:t>
            </a:r>
          </a:p>
        </p:txBody>
      </p:sp>
      <p:sp>
        <p:nvSpPr>
          <p:cNvPr id="2" name="Centroids form groups, then the model names them">
            <a:extLst xmlns:a="http://schemas.openxmlformats.org/drawingml/2006/main">
              <a:ext uri="{FF2B5EF4-FFF2-40B4-BE49-F238E27FC236}">
                <a16:creationId xmlns:a16="http://schemas.microsoft.com/office/drawing/2014/main" id="{A6366547-2CD9-4A5C-9D3B-5467E9E46B0B}"/>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Centroids form groups, then the model names them</a:t>
            </a:r>
          </a:p>
        </p:txBody>
      </p:sp>
      <p:sp>
        <p:nvSpPr>
          <p:cNvPr id="3" name="">
            <a:extLst xmlns:a="http://schemas.openxmlformats.org/drawingml/2006/main">
              <a:ext uri="{FF2B5EF4-FFF2-40B4-BE49-F238E27FC236}">
                <a16:creationId xmlns:a16="http://schemas.microsoft.com/office/drawing/2014/main" id="{CDAD7351-52A5-49F2-99FB-729254BE6F38}"/>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C7E415B8-3329-4F32-B3AB-2C12F82F8027}"/>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24">
            <a:extLst xmlns:a="http://schemas.openxmlformats.org/drawingml/2006/main">
              <a:ext uri="{FF2B5EF4-FFF2-40B4-BE49-F238E27FC236}">
                <a16:creationId xmlns:a16="http://schemas.microsoft.com/office/drawing/2014/main" id="{68ABFB7B-F108-4817-AD14-A7D26C42F251}"/>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24</a:t>
            </a:r>
          </a:p>
        </p:txBody>
      </p:sp>
      <p:sp>
        <p:nvSpPr>
          <p:cNvPr id="6" name="1. Compare normalized vectors">
            <a:extLst xmlns:a="http://schemas.openxmlformats.org/drawingml/2006/main">
              <a:ext uri="{FF2B5EF4-FFF2-40B4-BE49-F238E27FC236}">
                <a16:creationId xmlns:a16="http://schemas.microsoft.com/office/drawing/2014/main" id="{65C1BDC6-DD96-4D97-BF4D-872F21FF057C}"/>
              </a:ext>
            </a:extLst>
          </p:cNvPr>
          <p:cNvSpPr>
            <a:spLocks xmlns:a="http://schemas.openxmlformats.org/drawingml/2006/main" noGrp="1"/>
          </p:cNvSpPr>
          <p:nvPr/>
        </p:nvSpPr>
        <p:spPr>
          <a:xfrm xmlns:a="http://schemas.openxmlformats.org/drawingml/2006/main">
            <a:off x="762000" y="24669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1. Compare normalized vectors</a:t>
            </a:r>
          </a:p>
        </p:txBody>
      </p:sp>
      <p:sp>
        <p:nvSpPr>
          <p:cNvPr id="7" name="score = dot(vector, centroid)&#10;Join the nearest group at">
            <a:extLst xmlns:a="http://schemas.openxmlformats.org/drawingml/2006/main">
              <a:ext uri="{FF2B5EF4-FFF2-40B4-BE49-F238E27FC236}">
                <a16:creationId xmlns:a16="http://schemas.microsoft.com/office/drawing/2014/main" id="{CD88DE4E-B97B-435F-9553-A4F3A02B9ADB}"/>
              </a:ext>
            </a:extLst>
          </p:cNvPr>
          <p:cNvSpPr>
            <a:spLocks xmlns:a="http://schemas.openxmlformats.org/drawingml/2006/main" noGrp="1"/>
          </p:cNvSpPr>
          <p:nvPr/>
        </p:nvSpPr>
        <p:spPr>
          <a:xfrm xmlns:a="http://schemas.openxmlformats.org/drawingml/2006/main">
            <a:off x="762000" y="3076575"/>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score = dot(vector, centroid)</a:t>
            </a:r>
          </a:p>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Join the nearest group at score ≥ 0.93.</a:t>
            </a:r>
          </a:p>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Otherwise create a new group.</a:t>
            </a:r>
          </a:p>
        </p:txBody>
      </p:sp>
      <p:sp>
        <p:nvSpPr>
          <p:cNvPr id="8" name="2. Update the centroid">
            <a:extLst xmlns:a="http://schemas.openxmlformats.org/drawingml/2006/main">
              <a:ext uri="{FF2B5EF4-FFF2-40B4-BE49-F238E27FC236}">
                <a16:creationId xmlns:a16="http://schemas.microsoft.com/office/drawing/2014/main" id="{6506EDEC-AF84-4101-A22D-546DB0CDA865}"/>
              </a:ext>
            </a:extLst>
          </p:cNvPr>
          <p:cNvSpPr>
            <a:spLocks xmlns:a="http://schemas.openxmlformats.org/drawingml/2006/main" noGrp="1"/>
          </p:cNvSpPr>
          <p:nvPr/>
        </p:nvSpPr>
        <p:spPr>
          <a:xfrm xmlns:a="http://schemas.openxmlformats.org/drawingml/2006/main">
            <a:off x="8096250" y="24669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02C43"/>
                </a:solidFill>
                <a:latin typeface="Segoe UI"/>
                <a:ea typeface="Segoe UI"/>
                <a:cs typeface="Segoe UI"/>
              </a:defRPr>
            </a:pPr>
            <a:r>
              <a:rPr sz="2325" b="1">
                <a:solidFill>
                  <a:srgbClr val="102C43"/>
                </a:solidFill>
                <a:latin typeface="Segoe UI"/>
                <a:ea typeface="Segoe UI"/>
                <a:cs typeface="Segoe UI"/>
              </a:rPr>
              <a:t>2. Update the centroid</a:t>
            </a:r>
          </a:p>
        </p:txBody>
      </p:sp>
      <p:sp>
        <p:nvSpPr>
          <p:cNvPr id="9" name="Mean of all member vectors, normalized again.&#10;Later phr">
            <a:extLst xmlns:a="http://schemas.openxmlformats.org/drawingml/2006/main">
              <a:ext uri="{FF2B5EF4-FFF2-40B4-BE49-F238E27FC236}">
                <a16:creationId xmlns:a16="http://schemas.microsoft.com/office/drawing/2014/main" id="{B5A33E97-78CE-48C4-8DD9-9EE96402F8B8}"/>
              </a:ext>
            </a:extLst>
          </p:cNvPr>
          <p:cNvSpPr>
            <a:spLocks xmlns:a="http://schemas.openxmlformats.org/drawingml/2006/main" noGrp="1"/>
          </p:cNvSpPr>
          <p:nvPr/>
        </p:nvSpPr>
        <p:spPr>
          <a:xfrm xmlns:a="http://schemas.openxmlformats.org/drawingml/2006/main">
            <a:off x="8096250" y="3076575"/>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Mean of all member vectors, normalized again.</a:t>
            </a:r>
          </a:p>
          <a:p xmlns:a="http://schemas.openxmlformats.org/drawingml/2006/main">
            <a:pPr>
              <a:defRPr sz="1950" b="0">
                <a:solidFill>
                  <a:srgbClr val="536C80"/>
                </a:solidFill>
                <a:latin typeface="Segoe UI"/>
                <a:ea typeface="Segoe UI"/>
                <a:cs typeface="Segoe UI"/>
              </a:defRPr>
            </a:pPr>
            <a:r>
              <a:rPr sz="1950" b="0">
                <a:solidFill>
                  <a:srgbClr val="536C80"/>
                </a:solidFill>
                <a:latin typeface="Segoe UI"/>
                <a:ea typeface="Segoe UI"/>
                <a:cs typeface="Segoe UI"/>
              </a:rPr>
              <a:t>Later phrases compare with this updated centroid.</a:t>
            </a:r>
          </a:p>
        </p:txBody>
      </p:sp>
      <p:sp>
        <p:nvSpPr>
          <p:cNvPr id="10" name="">
            <a:extLst xmlns:a="http://schemas.openxmlformats.org/drawingml/2006/main">
              <a:ext uri="{FF2B5EF4-FFF2-40B4-BE49-F238E27FC236}">
                <a16:creationId xmlns:a16="http://schemas.microsoft.com/office/drawing/2014/main" id="{3EF9876A-E3D4-4178-806A-E1EEEDAEDCE3}"/>
              </a:ext>
            </a:extLst>
          </p:cNvPr>
          <p:cNvSpPr>
            <a:spLocks xmlns:a="http://schemas.openxmlformats.org/drawingml/2006/main" noGrp="1"/>
          </p:cNvSpPr>
          <p:nvPr/>
        </p:nvSpPr>
        <p:spPr>
          <a:xfrm xmlns:a="http://schemas.openxmlformats.org/drawingml/2006/main">
            <a:off x="762000" y="4829175"/>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11" name="Naming-call output">
            <a:extLst xmlns:a="http://schemas.openxmlformats.org/drawingml/2006/main">
              <a:ext uri="{FF2B5EF4-FFF2-40B4-BE49-F238E27FC236}">
                <a16:creationId xmlns:a16="http://schemas.microsoft.com/office/drawing/2014/main" id="{0DDAF400-4639-4C8E-BD78-B9590A5DF8A8}"/>
              </a:ext>
            </a:extLst>
          </p:cNvPr>
          <p:cNvSpPr>
            <a:spLocks xmlns:a="http://schemas.openxmlformats.org/drawingml/2006/main" noGrp="1"/>
          </p:cNvSpPr>
          <p:nvPr/>
        </p:nvSpPr>
        <p:spPr>
          <a:xfrm xmlns:a="http://schemas.openxmlformats.org/drawingml/2006/main">
            <a:off x="762000" y="52387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007D82"/>
                </a:solidFill>
                <a:latin typeface="Segoe UI"/>
                <a:ea typeface="Segoe UI"/>
                <a:cs typeface="Segoe UI"/>
              </a:defRPr>
            </a:pPr>
            <a:r>
              <a:rPr sz="2325" b="1">
                <a:solidFill>
                  <a:srgbClr val="007D82"/>
                </a:solidFill>
                <a:latin typeface="Segoe UI"/>
                <a:ea typeface="Segoe UI"/>
                <a:cs typeface="Segoe UI"/>
              </a:rPr>
              <a:t>Naming-call output</a:t>
            </a:r>
          </a:p>
        </p:txBody>
      </p:sp>
      <p:sp>
        <p:nvSpPr>
          <p:cNvPr id="12" name="label: “Clinical AI Governance”&#10;member_groups: [0, 2]&#10;c">
            <a:extLst xmlns:a="http://schemas.openxmlformats.org/drawingml/2006/main">
              <a:ext uri="{FF2B5EF4-FFF2-40B4-BE49-F238E27FC236}">
                <a16:creationId xmlns:a16="http://schemas.microsoft.com/office/drawing/2014/main" id="{A15945A1-0897-4743-9448-119E7CDF4A31}"/>
              </a:ext>
            </a:extLst>
          </p:cNvPr>
          <p:cNvSpPr>
            <a:spLocks xmlns:a="http://schemas.openxmlformats.org/drawingml/2006/main" noGrp="1"/>
          </p:cNvSpPr>
          <p:nvPr/>
        </p:nvSpPr>
        <p:spPr>
          <a:xfrm xmlns:a="http://schemas.openxmlformats.org/drawingml/2006/main">
            <a:off x="762000" y="5886450"/>
            <a:ext cx="628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43"/>
                </a:solidFill>
                <a:latin typeface="Segoe UI"/>
                <a:ea typeface="Segoe UI"/>
                <a:cs typeface="Segoe UI"/>
              </a:defRPr>
            </a:pPr>
            <a:r>
              <a:rPr sz="2175" b="0">
                <a:solidFill>
                  <a:srgbClr val="102C43"/>
                </a:solidFill>
                <a:latin typeface="Segoe UI"/>
                <a:ea typeface="Segoe UI"/>
                <a:cs typeface="Segoe UI"/>
              </a:rPr>
              <a:t>label: “Clinical AI Governance”</a:t>
            </a:r>
          </a:p>
          <a:p xmlns:a="http://schemas.openxmlformats.org/drawingml/2006/main">
            <a:pPr>
              <a:defRPr sz="2175" b="0">
                <a:solidFill>
                  <a:srgbClr val="102C43"/>
                </a:solidFill>
                <a:latin typeface="Segoe UI"/>
                <a:ea typeface="Segoe UI"/>
                <a:cs typeface="Segoe UI"/>
              </a:defRPr>
            </a:pPr>
            <a:r>
              <a:rPr sz="2175" b="0">
                <a:solidFill>
                  <a:srgbClr val="102C43"/>
                </a:solidFill>
                <a:latin typeface="Segoe UI"/>
                <a:ea typeface="Segoe UI"/>
                <a:cs typeface="Segoe UI"/>
              </a:rPr>
              <a:t>member_groups: [0, 2]</a:t>
            </a:r>
          </a:p>
          <a:p xmlns:a="http://schemas.openxmlformats.org/drawingml/2006/main">
            <a:pPr>
              <a:defRPr sz="2175" b="0">
                <a:solidFill>
                  <a:srgbClr val="102C43"/>
                </a:solidFill>
                <a:latin typeface="Segoe UI"/>
                <a:ea typeface="Segoe UI"/>
                <a:cs typeface="Segoe UI"/>
              </a:defRPr>
            </a:pPr>
            <a:r>
              <a:rPr sz="2175" b="0">
                <a:solidFill>
                  <a:srgbClr val="102C43"/>
                </a:solidFill>
                <a:latin typeface="Segoe UI"/>
                <a:ea typeface="Segoe UI"/>
                <a:cs typeface="Segoe UI"/>
              </a:rPr>
              <a:t>category + description</a:t>
            </a:r>
          </a:p>
        </p:txBody>
      </p:sp>
      <p:sp>
        <p:nvSpPr>
          <p:cNvPr id="13" name="Groups 0 and 2 identify the original phrases.&#10;Their art">
            <a:extLst xmlns:a="http://schemas.openxmlformats.org/drawingml/2006/main">
              <a:ext uri="{FF2B5EF4-FFF2-40B4-BE49-F238E27FC236}">
                <a16:creationId xmlns:a16="http://schemas.microsoft.com/office/drawing/2014/main" id="{EC030B41-F675-45ED-A8A8-21577682845D}"/>
              </a:ext>
            </a:extLst>
          </p:cNvPr>
          <p:cNvSpPr>
            <a:spLocks xmlns:a="http://schemas.openxmlformats.org/drawingml/2006/main" noGrp="1"/>
          </p:cNvSpPr>
          <p:nvPr/>
        </p:nvSpPr>
        <p:spPr>
          <a:xfrm xmlns:a="http://schemas.openxmlformats.org/drawingml/2006/main">
            <a:off x="8096250" y="5572125"/>
            <a:ext cx="6238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Groups 0 and 2 identify the original phrases.</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Their article indexes recover URLs, dates and entities.</a:t>
            </a:r>
          </a:p>
          <a:p xmlns:a="http://schemas.openxmlformats.org/drawingml/2006/main">
            <a:pPr>
              <a:defRPr sz="2100" b="0">
                <a:solidFill>
                  <a:srgbClr val="536C80"/>
                </a:solidFill>
                <a:latin typeface="Segoe UI"/>
                <a:ea typeface="Segoe UI"/>
                <a:cs typeface="Segoe UI"/>
              </a:defRPr>
            </a:pPr>
            <a:r>
              <a:rPr sz="2100" b="0">
                <a:solidFill>
                  <a:srgbClr val="536C80"/>
                </a:solidFill>
                <a:latin typeface="Segoe UI"/>
                <a:ea typeface="Segoe UI"/>
                <a:cs typeface="Segoe UI"/>
              </a:rPr>
              <a:t>The final output is a topic record with its evidence.</a:t>
            </a:r>
          </a:p>
        </p:txBody>
      </p:sp>
    </p:spTree>
    <p:extLst>
      <p:ext uri="{BB962C8B-B14F-4D97-AF65-F5344CB8AC3E}">
        <p14:creationId xmlns:p14="http://schemas.microsoft.com/office/powerpoint/2010/main" val="73386778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CORING DETAIL">
            <a:extLst xmlns:a="http://schemas.openxmlformats.org/drawingml/2006/main">
              <a:ext uri="{FF2B5EF4-FFF2-40B4-BE49-F238E27FC236}">
                <a16:creationId xmlns:a16="http://schemas.microsoft.com/office/drawing/2014/main" id="{8556CFF7-538B-4171-9FA4-B5763438D267}"/>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SCORING DETAIL</a:t>
            </a:r>
          </a:p>
        </p:txBody>
      </p:sp>
      <p:sp>
        <p:nvSpPr>
          <p:cNvPr id="2" name="Coverage mathematics and missing-data rules">
            <a:extLst xmlns:a="http://schemas.openxmlformats.org/drawingml/2006/main">
              <a:ext uri="{FF2B5EF4-FFF2-40B4-BE49-F238E27FC236}">
                <a16:creationId xmlns:a16="http://schemas.microsoft.com/office/drawing/2014/main" id="{C1B96D74-45A2-4997-8982-B4151CA6321C}"/>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Coverage mathematics and missing-data rules</a:t>
            </a:r>
          </a:p>
        </p:txBody>
      </p:sp>
      <p:sp>
        <p:nvSpPr>
          <p:cNvPr id="3" name="">
            <a:extLst xmlns:a="http://schemas.openxmlformats.org/drawingml/2006/main">
              <a:ext uri="{FF2B5EF4-FFF2-40B4-BE49-F238E27FC236}">
                <a16:creationId xmlns:a16="http://schemas.microsoft.com/office/drawing/2014/main" id="{2C579152-3D1B-479E-A1FA-2EFACC891B42}"/>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1897A6E3-CBAF-4549-B8B3-35CAA475ABBA}"/>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25">
            <a:extLst xmlns:a="http://schemas.openxmlformats.org/drawingml/2006/main">
              <a:ext uri="{FF2B5EF4-FFF2-40B4-BE49-F238E27FC236}">
                <a16:creationId xmlns:a16="http://schemas.microsoft.com/office/drawing/2014/main" id="{43513440-0AB2-421D-AD30-72913AC6C16B}"/>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25</a:t>
            </a:r>
          </a:p>
        </p:txBody>
      </p:sp>
      <p:sp>
        <p:nvSpPr>
          <p:cNvPr id="6" name="usable = relevance × (0.25 + 0.75 × freshness)">
            <a:extLst xmlns:a="http://schemas.openxmlformats.org/drawingml/2006/main">
              <a:ext uri="{FF2B5EF4-FFF2-40B4-BE49-F238E27FC236}">
                <a16:creationId xmlns:a16="http://schemas.microsoft.com/office/drawing/2014/main" id="{F2BB3807-3440-4B95-AB0B-08768AC597F9}"/>
              </a:ext>
            </a:extLst>
          </p:cNvPr>
          <p:cNvSpPr>
            <a:spLocks xmlns:a="http://schemas.openxmlformats.org/drawingml/2006/main" noGrp="1"/>
          </p:cNvSpPr>
          <p:nvPr/>
        </p:nvSpPr>
        <p:spPr>
          <a:xfrm xmlns:a="http://schemas.openxmlformats.org/drawingml/2006/main">
            <a:off x="762000" y="23241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007D82"/>
                </a:solidFill>
                <a:latin typeface="Segoe UI"/>
                <a:ea typeface="Segoe UI"/>
                <a:cs typeface="Segoe UI"/>
              </a:defRPr>
            </a:pPr>
            <a:r>
              <a:rPr sz="2775" b="1">
                <a:solidFill>
                  <a:srgbClr val="007D82"/>
                </a:solidFill>
                <a:latin typeface="Segoe UI"/>
                <a:ea typeface="Segoe UI"/>
                <a:cs typeface="Segoe UI"/>
              </a:rPr>
              <a:t>usable = relevance × (0.25 + 0.75 × freshness)</a:t>
            </a:r>
          </a:p>
        </p:txBody>
      </p:sp>
      <p:sp>
        <p:nvSpPr>
          <p:cNvPr id="7" name="coverage = 0.6 × min(1, Σ usable / 5) + 0.4 × max(usabl">
            <a:extLst xmlns:a="http://schemas.openxmlformats.org/drawingml/2006/main">
              <a:ext uri="{FF2B5EF4-FFF2-40B4-BE49-F238E27FC236}">
                <a16:creationId xmlns:a16="http://schemas.microsoft.com/office/drawing/2014/main" id="{4A140860-8A4F-4DFA-AA89-352ED4E72DF0}"/>
              </a:ext>
            </a:extLst>
          </p:cNvPr>
          <p:cNvSpPr>
            <a:spLocks xmlns:a="http://schemas.openxmlformats.org/drawingml/2006/main" noGrp="1"/>
          </p:cNvSpPr>
          <p:nvPr/>
        </p:nvSpPr>
        <p:spPr>
          <a:xfrm xmlns:a="http://schemas.openxmlformats.org/drawingml/2006/main">
            <a:off x="762000" y="3209925"/>
            <a:ext cx="1371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02C43"/>
                </a:solidFill>
                <a:latin typeface="Segoe UI"/>
                <a:ea typeface="Segoe UI"/>
                <a:cs typeface="Segoe UI"/>
              </a:defRPr>
            </a:pPr>
            <a:r>
              <a:rPr sz="2625" b="1">
                <a:solidFill>
                  <a:srgbClr val="102C43"/>
                </a:solidFill>
                <a:latin typeface="Segoe UI"/>
                <a:ea typeface="Segoe UI"/>
                <a:cs typeface="Segoe UI"/>
              </a:rPr>
              <a:t>coverage = 0.6 × min(1, Σ usable / 5) + 0.4 × max(usable)</a:t>
            </a:r>
          </a:p>
        </p:txBody>
      </p:sp>
      <p:graphicFrame>
        <p:nvGraphicFramePr>
          <p:cNvPr id="16" name=""/>
          <p:cNvGraphicFramePr/>
          <p:nvPr/>
        </p:nvGraphicFramePr>
        <p:xfrm>
          <a:off xmlns:a="http://schemas.openxmlformats.org/drawingml/2006/main" x="762000" y="4543425"/>
          <a:ext xmlns:a="http://schemas.openxmlformats.org/drawingml/2006/main" cx="13716000" cy="2486025"/>
        </p:xfrm>
        <a:graphic xmlns:a="http://schemas.openxmlformats.org/drawingml/2006/main">
          <a:graphicData uri="http://schemas.openxmlformats.org/drawingml/2006/table">
            <a:tbl>
              <a:tblPr/>
              <a:tblGrid>
                <a:gridCol w="4476750"/>
                <a:gridCol w="9239250"/>
              </a:tblGrid>
              <a:tr h="497205">
                <a:tc>
                  <a:txBody>
                    <a:bodyPr lIns="152400" tIns="114300" rIns="152400" bIns="95250">
                      <a:noAutofit/>
                    </a:bodyPr>
                    <a:lstStyle/>
                    <a:p>
                      <a:r>
                        <a:rPr sz="1725" b="1">
                          <a:solidFill>
                            <a:srgbClr val="FFFFFF"/>
                          </a:solidFill>
                          <a:latin typeface="Segoe UI"/>
                          <a:ea typeface="Segoe UI"/>
                          <a:cs typeface="Segoe UI"/>
                        </a:rPr>
                        <a:t>Input or condition</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Implementation</a:t>
                      </a:r>
                    </a:p>
                  </a:txBody>
                  <a:tcPr marL="91440" marR="91440" marT="45720" marB="45720">
                    <a:solidFill>
                      <a:srgbClr val="0B2238"/>
                    </a:solidFill>
                  </a:tcPr>
                </a:tc>
              </a:tr>
              <a:tr h="497205">
                <a:tc>
                  <a:txBody>
                    <a:bodyPr lIns="152400" tIns="114300" rIns="152400" bIns="95250">
                      <a:noAutofit/>
                    </a:bodyPr>
                    <a:lstStyle/>
                    <a:p>
                      <a:r>
                        <a:rPr sz="1800" b="1">
                          <a:solidFill>
                            <a:srgbClr val="102C43"/>
                          </a:solidFill>
                          <a:latin typeface="Segoe UI"/>
                          <a:ea typeface="Segoe UI"/>
                          <a:cs typeface="Segoe UI"/>
                        </a:rPr>
                        <a:t>Relevance</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Covers 1.0, partial 0.5, tangential/unrelated 0</a:t>
                      </a:r>
                    </a:p>
                  </a:txBody>
                  <a:tcPr marL="91440" marR="91440" marT="45720" marB="45720">
                    <a:solidFill>
                      <a:srgbClr val="F5F8FB"/>
                    </a:solidFill>
                  </a:tcPr>
                </a:tc>
              </a:tr>
              <a:tr h="497205">
                <a:tc>
                  <a:txBody>
                    <a:bodyPr lIns="152400" tIns="114300" rIns="152400" bIns="95250">
                      <a:noAutofit/>
                    </a:bodyPr>
                    <a:lstStyle/>
                    <a:p>
                      <a:r>
                        <a:rPr sz="1800" b="1">
                          <a:solidFill>
                            <a:srgbClr val="102C43"/>
                          </a:solidFill>
                          <a:latin typeface="Segoe UI"/>
                          <a:ea typeface="Segoe UI"/>
                          <a:cs typeface="Segoe UI"/>
                        </a:rPr>
                        <a:t>Freshness</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1 through day 120, linear decline to 0 at day 450</a:t>
                      </a:r>
                    </a:p>
                  </a:txBody>
                  <a:tcPr marL="91440" marR="91440" marT="45720" marB="45720">
                    <a:solidFill>
                      <a:srgbClr val="FFFFFF"/>
                    </a:solidFill>
                  </a:tcPr>
                </a:tc>
              </a:tr>
              <a:tr h="497205">
                <a:tc>
                  <a:txBody>
                    <a:bodyPr lIns="152400" tIns="114300" rIns="152400" bIns="95250">
                      <a:noAutofit/>
                    </a:bodyPr>
                    <a:lstStyle/>
                    <a:p>
                      <a:r>
                        <a:rPr sz="1800" b="1">
                          <a:solidFill>
                            <a:srgbClr val="102C43"/>
                          </a:solidFill>
                          <a:latin typeface="Segoe UI"/>
                          <a:ea typeface="Segoe UI"/>
                          <a:cs typeface="Segoe UI"/>
                        </a:rPr>
                        <a:t>Staleness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Age of newest accepted document</a:t>
                      </a:r>
                    </a:p>
                  </a:txBody>
                  <a:tcPr marL="91440" marR="91440" marT="45720" marB="45720">
                    <a:solidFill>
                      <a:srgbClr val="F5F8FB"/>
                    </a:solidFill>
                  </a:tcPr>
                </a:tc>
              </a:tr>
              <a:tr h="497205">
                <a:tc>
                  <a:txBody>
                    <a:bodyPr lIns="152400" tIns="114300" rIns="152400" bIns="95250">
                      <a:noAutofit/>
                    </a:bodyPr>
                    <a:lstStyle/>
                    <a:p>
                      <a:r>
                        <a:rPr sz="1800" b="1">
                          <a:solidFill>
                            <a:srgbClr val="102C43"/>
                          </a:solidFill>
                          <a:latin typeface="Segoe UI"/>
                          <a:ea typeface="Segoe UI"/>
                          <a:cs typeface="Segoe UI"/>
                        </a:rPr>
                        <a:t>Missing date / no matches</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999 is a sentinel. No matches also returns coverage 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4561336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LIABILITY DETAIL">
            <a:extLst xmlns:a="http://schemas.openxmlformats.org/drawingml/2006/main">
              <a:ext uri="{FF2B5EF4-FFF2-40B4-BE49-F238E27FC236}">
                <a16:creationId xmlns:a16="http://schemas.microsoft.com/office/drawing/2014/main" id="{5737352D-2568-40D0-9F97-A78562C5B331}"/>
              </a:ext>
            </a:extLst>
          </p:cNvPr>
          <p:cNvSpPr>
            <a:spLocks xmlns:a="http://schemas.openxmlformats.org/drawingml/2006/main" noGrp="1"/>
          </p:cNvSpPr>
          <p:nvPr/>
        </p:nvSpPr>
        <p:spPr>
          <a:xfrm xmlns:a="http://schemas.openxmlformats.org/drawingml/2006/main">
            <a:off x="762000" y="419100"/>
            <a:ext cx="1285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07D82"/>
                </a:solidFill>
                <a:latin typeface="Segoe UI"/>
                <a:ea typeface="Segoe UI"/>
                <a:cs typeface="Segoe UI"/>
              </a:defRPr>
            </a:pPr>
            <a:r>
              <a:rPr sz="1200" b="1">
                <a:solidFill>
                  <a:srgbClr val="007D82"/>
                </a:solidFill>
                <a:latin typeface="Segoe UI"/>
                <a:ea typeface="Segoe UI"/>
                <a:cs typeface="Segoe UI"/>
              </a:rPr>
              <a:t>RELIABILITY DETAIL</a:t>
            </a:r>
          </a:p>
        </p:txBody>
      </p:sp>
      <p:sp>
        <p:nvSpPr>
          <p:cNvPr id="2" name="Failure behavior and production boundaries">
            <a:extLst xmlns:a="http://schemas.openxmlformats.org/drawingml/2006/main">
              <a:ext uri="{FF2B5EF4-FFF2-40B4-BE49-F238E27FC236}">
                <a16:creationId xmlns:a16="http://schemas.microsoft.com/office/drawing/2014/main" id="{D91B5A2D-0BA8-4997-B9CE-77EAA1EC1F40}"/>
              </a:ext>
            </a:extLst>
          </p:cNvPr>
          <p:cNvSpPr>
            <a:spLocks xmlns:a="http://schemas.openxmlformats.org/drawingml/2006/main" noGrp="1"/>
          </p:cNvSpPr>
          <p:nvPr/>
        </p:nvSpPr>
        <p:spPr>
          <a:xfrm xmlns:a="http://schemas.openxmlformats.org/drawingml/2006/main">
            <a:off x="762000" y="895350"/>
            <a:ext cx="13716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02C43"/>
                </a:solidFill>
                <a:latin typeface="Segoe UI"/>
                <a:ea typeface="Segoe UI"/>
                <a:cs typeface="Segoe UI"/>
              </a:defRPr>
            </a:pPr>
            <a:r>
              <a:rPr sz="3600" b="1">
                <a:solidFill>
                  <a:srgbClr val="102C43"/>
                </a:solidFill>
                <a:latin typeface="Segoe UI"/>
                <a:ea typeface="Segoe UI"/>
                <a:cs typeface="Segoe UI"/>
              </a:rPr>
              <a:t>Failure behavior and production boundaries</a:t>
            </a:r>
          </a:p>
        </p:txBody>
      </p:sp>
      <p:sp>
        <p:nvSpPr>
          <p:cNvPr id="3" name="">
            <a:extLst xmlns:a="http://schemas.openxmlformats.org/drawingml/2006/main">
              <a:ext uri="{FF2B5EF4-FFF2-40B4-BE49-F238E27FC236}">
                <a16:creationId xmlns:a16="http://schemas.microsoft.com/office/drawing/2014/main" id="{19FAACC1-ED87-48EE-B314-38CDA194F4A9}"/>
              </a:ext>
            </a:extLst>
          </p:cNvPr>
          <p:cNvSpPr>
            <a:spLocks xmlns:a="http://schemas.openxmlformats.org/drawingml/2006/main" noGrp="1"/>
          </p:cNvSpPr>
          <p:nvPr/>
        </p:nvSpPr>
        <p:spPr>
          <a:xfrm xmlns:a="http://schemas.openxmlformats.org/drawingml/2006/main">
            <a:off x="762000" y="7848600"/>
            <a:ext cx="13716000" cy="19050"/>
          </a:xfrm>
          <a:prstGeom xmlns:a="http://schemas.openxmlformats.org/drawingml/2006/main" prst="rect">
            <a:avLst/>
          </a:prstGeom>
          <a:solidFill xmlns:a="http://schemas.openxmlformats.org/drawingml/2006/main">
            <a:srgbClr val="CCD9E2"/>
          </a:solidFill>
          <a:ln xmlns:a="http://schemas.openxmlformats.org/drawingml/2006/main" w="0">
            <a:noFill/>
          </a:ln>
        </p:spPr>
      </p:sp>
      <p:sp>
        <p:nvSpPr>
          <p:cNvPr id="4" name="Demand Sensing Intelligence">
            <a:extLst xmlns:a="http://schemas.openxmlformats.org/drawingml/2006/main">
              <a:ext uri="{FF2B5EF4-FFF2-40B4-BE49-F238E27FC236}">
                <a16:creationId xmlns:a16="http://schemas.microsoft.com/office/drawing/2014/main" id="{137AB203-C5E0-40B0-AFE6-DF2E75BDA216}"/>
              </a:ext>
            </a:extLst>
          </p:cNvPr>
          <p:cNvSpPr>
            <a:spLocks xmlns:a="http://schemas.openxmlformats.org/drawingml/2006/main" noGrp="1"/>
          </p:cNvSpPr>
          <p:nvPr/>
        </p:nvSpPr>
        <p:spPr>
          <a:xfrm xmlns:a="http://schemas.openxmlformats.org/drawingml/2006/main">
            <a:off x="762000" y="80486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36C80"/>
                </a:solidFill>
                <a:latin typeface="Segoe UI"/>
                <a:ea typeface="Segoe UI"/>
                <a:cs typeface="Segoe UI"/>
              </a:defRPr>
            </a:pPr>
            <a:r>
              <a:rPr sz="1125" b="0">
                <a:solidFill>
                  <a:srgbClr val="536C80"/>
                </a:solidFill>
                <a:latin typeface="Segoe UI"/>
                <a:ea typeface="Segoe UI"/>
                <a:cs typeface="Segoe UI"/>
              </a:rPr>
              <a:t>Demand Sensing Intelligence</a:t>
            </a:r>
          </a:p>
        </p:txBody>
      </p:sp>
      <p:sp>
        <p:nvSpPr>
          <p:cNvPr id="5" name="26">
            <a:extLst xmlns:a="http://schemas.openxmlformats.org/drawingml/2006/main">
              <a:ext uri="{FF2B5EF4-FFF2-40B4-BE49-F238E27FC236}">
                <a16:creationId xmlns:a16="http://schemas.microsoft.com/office/drawing/2014/main" id="{5FEAD238-81E4-4054-9E64-F938AD1F9B0A}"/>
              </a:ext>
            </a:extLst>
          </p:cNvPr>
          <p:cNvSpPr>
            <a:spLocks xmlns:a="http://schemas.openxmlformats.org/drawingml/2006/main" noGrp="1"/>
          </p:cNvSpPr>
          <p:nvPr/>
        </p:nvSpPr>
        <p:spPr>
          <a:xfrm xmlns:a="http://schemas.openxmlformats.org/drawingml/2006/main">
            <a:off x="13906500" y="800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007D82"/>
                </a:solidFill>
                <a:latin typeface="Segoe UI"/>
                <a:ea typeface="Segoe UI"/>
                <a:cs typeface="Segoe UI"/>
              </a:defRPr>
            </a:pPr>
            <a:r>
              <a:rPr sz="1500" b="1">
                <a:solidFill>
                  <a:srgbClr val="007D82"/>
                </a:solidFill>
                <a:latin typeface="Segoe UI"/>
                <a:ea typeface="Segoe UI"/>
                <a:cs typeface="Segoe UI"/>
              </a:rPr>
              <a:t>26</a:t>
            </a:r>
          </a:p>
        </p:txBody>
      </p:sp>
      <p:graphicFrame>
        <p:nvGraphicFramePr>
          <p:cNvPr id="13" name=""/>
          <p:cNvGraphicFramePr/>
          <p:nvPr/>
        </p:nvGraphicFramePr>
        <p:xfrm>
          <a:off xmlns:a="http://schemas.openxmlformats.org/drawingml/2006/main" x="762000" y="2343150"/>
          <a:ext xmlns:a="http://schemas.openxmlformats.org/drawingml/2006/main" cx="13716000" cy="4572000"/>
        </p:xfrm>
        <a:graphic xmlns:a="http://schemas.openxmlformats.org/drawingml/2006/main">
          <a:graphicData uri="http://schemas.openxmlformats.org/drawingml/2006/table">
            <a:tbl>
              <a:tblPr/>
              <a:tblGrid>
                <a:gridCol w="3619500"/>
                <a:gridCol w="5286375"/>
                <a:gridCol w="4810125"/>
              </a:tblGrid>
              <a:tr h="762000">
                <a:tc>
                  <a:txBody>
                    <a:bodyPr lIns="152400" tIns="114300" rIns="152400" bIns="95250">
                      <a:noAutofit/>
                    </a:bodyPr>
                    <a:lstStyle/>
                    <a:p>
                      <a:r>
                        <a:rPr sz="1725" b="1">
                          <a:solidFill>
                            <a:srgbClr val="FFFFFF"/>
                          </a:solidFill>
                          <a:latin typeface="Segoe UI"/>
                          <a:ea typeface="Segoe UI"/>
                          <a:cs typeface="Segoe UI"/>
                        </a:rPr>
                        <a:t>Condition</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Current behavior</a:t>
                      </a:r>
                    </a:p>
                  </a:txBody>
                  <a:tcPr marL="91440" marR="91440" marT="45720" marB="45720">
                    <a:solidFill>
                      <a:srgbClr val="0B2238"/>
                    </a:solidFill>
                  </a:tcPr>
                </a:tc>
                <a:tc>
                  <a:txBody>
                    <a:bodyPr lIns="152400" tIns="114300" rIns="152400" bIns="95250">
                      <a:noAutofit/>
                    </a:bodyPr>
                    <a:lstStyle/>
                    <a:p>
                      <a:r>
                        <a:rPr sz="1725" b="1">
                          <a:solidFill>
                            <a:srgbClr val="FFFFFF"/>
                          </a:solidFill>
                          <a:latin typeface="Segoe UI"/>
                          <a:ea typeface="Segoe UI"/>
                          <a:cs typeface="Segoe UI"/>
                        </a:rPr>
                        <a:t>Remaining work</a:t>
                      </a:r>
                    </a:p>
                  </a:txBody>
                  <a:tcPr marL="91440" marR="91440" marT="45720" marB="45720">
                    <a:solidFill>
                      <a:srgbClr val="0B2238"/>
                    </a:solidFill>
                  </a:tcPr>
                </a:tc>
              </a:tr>
              <a:tr h="762000">
                <a:tc>
                  <a:txBody>
                    <a:bodyPr lIns="152400" tIns="114300" rIns="152400" bIns="95250">
                      <a:noAutofit/>
                    </a:bodyPr>
                    <a:lstStyle/>
                    <a:p>
                      <a:r>
                        <a:rPr sz="1800" b="1">
                          <a:solidFill>
                            <a:srgbClr val="102C43"/>
                          </a:solidFill>
                          <a:latin typeface="Segoe UI"/>
                          <a:ea typeface="Segoe UI"/>
                          <a:cs typeface="Segoe UI"/>
                        </a:rPr>
                        <a:t>Coverage judge unavailable</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Labelled partial/unrelated similarity proxy</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Calibrate fallback and monitor degradation</a:t>
                      </a:r>
                    </a:p>
                  </a:txBody>
                  <a:tcPr marL="91440" marR="91440" marT="45720" marB="45720">
                    <a:solidFill>
                      <a:srgbClr val="F5F8FB"/>
                    </a:solidFill>
                  </a:tcPr>
                </a:tc>
              </a:tr>
              <a:tr h="762000">
                <a:tc>
                  <a:txBody>
                    <a:bodyPr lIns="152400" tIns="114300" rIns="152400" bIns="95250">
                      <a:noAutofit/>
                    </a:bodyPr>
                    <a:lstStyle/>
                    <a:p>
                      <a:r>
                        <a:rPr sz="1800" b="1">
                          <a:solidFill>
                            <a:srgbClr val="102C43"/>
                          </a:solidFill>
                          <a:latin typeface="Segoe UI"/>
                          <a:ea typeface="Segoe UI"/>
                          <a:cs typeface="Segoe UI"/>
                        </a:rPr>
                        <a:t>No internal retrieval evidence</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Abstain or expose unavailable coverage</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Improve corpus and retrieval evaluation</a:t>
                      </a:r>
                    </a:p>
                  </a:txBody>
                  <a:tcPr marL="91440" marR="91440" marT="45720" marB="45720">
                    <a:solidFill>
                      <a:srgbClr val="FFFFFF"/>
                    </a:solidFill>
                  </a:tcPr>
                </a:tc>
              </a:tr>
              <a:tr h="762000">
                <a:tc>
                  <a:txBody>
                    <a:bodyPr lIns="152400" tIns="114300" rIns="152400" bIns="95250">
                      <a:noAutofit/>
                    </a:bodyPr>
                    <a:lstStyle/>
                    <a:p>
                      <a:r>
                        <a:rPr sz="1800" b="1">
                          <a:solidFill>
                            <a:srgbClr val="102C43"/>
                          </a:solidFill>
                          <a:latin typeface="Segoe UI"/>
                          <a:ea typeface="Segoe UI"/>
                          <a:cs typeface="Segoe UI"/>
                        </a:rPr>
                        <a:t>Narrative generation fails</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Computed summary can remain available</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Retry budgets and incident monitoring</a:t>
                      </a:r>
                    </a:p>
                  </a:txBody>
                  <a:tcPr marL="91440" marR="91440" marT="45720" marB="45720">
                    <a:solidFill>
                      <a:srgbClr val="F5F8FB"/>
                    </a:solidFill>
                  </a:tcPr>
                </a:tc>
              </a:tr>
              <a:tr h="762000">
                <a:tc>
                  <a:txBody>
                    <a:bodyPr lIns="152400" tIns="114300" rIns="152400" bIns="95250">
                      <a:noAutofit/>
                    </a:bodyPr>
                    <a:lstStyle/>
                    <a:p>
                      <a:r>
                        <a:rPr sz="1800" b="1">
                          <a:solidFill>
                            <a:srgbClr val="102C43"/>
                          </a:solidFill>
                          <a:latin typeface="Segoe UI"/>
                          <a:ea typeface="Segoe UI"/>
                          <a:cs typeface="Segoe UI"/>
                        </a:rPr>
                        <a:t>Browser stream closes</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Worker can continue and save the run</a:t>
                      </a:r>
                    </a:p>
                  </a:txBody>
                  <a:tcPr marL="91440" marR="91440" marT="45720" marB="45720">
                    <a:solidFill>
                      <a:srgbClr val="FFFFFF"/>
                    </a:solidFill>
                  </a:tcPr>
                </a:tc>
                <a:tc>
                  <a:txBody>
                    <a:bodyPr lIns="152400" tIns="114300" rIns="152400" bIns="95250">
                      <a:noAutofit/>
                    </a:bodyPr>
                    <a:lstStyle/>
                    <a:p>
                      <a:r>
                        <a:rPr sz="1800" b="0">
                          <a:solidFill>
                            <a:srgbClr val="102C43"/>
                          </a:solidFill>
                          <a:latin typeface="Segoe UI"/>
                          <a:ea typeface="Segoe UI"/>
                          <a:cs typeface="Segoe UI"/>
                        </a:rPr>
                        <a:t>Durable cancellation and resumable jobs</a:t>
                      </a:r>
                    </a:p>
                  </a:txBody>
                  <a:tcPr marL="91440" marR="91440" marT="45720" marB="45720">
                    <a:solidFill>
                      <a:srgbClr val="FFFFFF"/>
                    </a:solidFill>
                  </a:tcPr>
                </a:tc>
              </a:tr>
              <a:tr h="762000">
                <a:tc>
                  <a:txBody>
                    <a:bodyPr lIns="152400" tIns="114300" rIns="152400" bIns="95250">
                      <a:noAutofit/>
                    </a:bodyPr>
                    <a:lstStyle/>
                    <a:p>
                      <a:r>
                        <a:rPr sz="1800" b="1">
                          <a:solidFill>
                            <a:srgbClr val="102C43"/>
                          </a:solidFill>
                          <a:latin typeface="Segoe UI"/>
                          <a:ea typeface="Segoe UI"/>
                          <a:cs typeface="Segoe UI"/>
                        </a:rPr>
                        <a:t>Live services slow or unavailable</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Replay an explicitly selected DB snapshot</a:t>
                      </a:r>
                    </a:p>
                  </a:txBody>
                  <a:tcPr marL="91440" marR="91440" marT="45720" marB="45720">
                    <a:solidFill>
                      <a:srgbClr val="F5F8FB"/>
                    </a:solidFill>
                  </a:tcPr>
                </a:tc>
                <a:tc>
                  <a:txBody>
                    <a:bodyPr lIns="152400" tIns="114300" rIns="152400" bIns="95250">
                      <a:noAutofit/>
                    </a:bodyPr>
                    <a:lstStyle/>
                    <a:p>
                      <a:r>
                        <a:rPr sz="1800" b="0">
                          <a:solidFill>
                            <a:srgbClr val="102C43"/>
                          </a:solidFill>
                          <a:latin typeface="Segoe UI"/>
                          <a:ea typeface="Segoe UI"/>
                          <a:cs typeface="Segoe UI"/>
                        </a:rPr>
                        <a:t>Operational monitoring and concurrency controls</a:t>
                      </a:r>
                    </a:p>
                  </a:txBody>
                  <a:tcPr marL="91440" marR="91440" marT="45720" marB="45720">
                    <a:solidFill>
                      <a:srgbClr val="F5F8FB"/>
                    </a:solidFill>
                  </a:tcPr>
                </a:tc>
              </a:tr>
            </a:tbl>
          </a:graphicData>
        </a:graphic>
      </p:graphicFrame>
      <p:sp>
        <p:nvSpPr>
          <p:cNvPr id="7" name="Production work includes authentication, document acces">
            <a:extLst xmlns:a="http://schemas.openxmlformats.org/drawingml/2006/main">
              <a:ext uri="{FF2B5EF4-FFF2-40B4-BE49-F238E27FC236}">
                <a16:creationId xmlns:a16="http://schemas.microsoft.com/office/drawing/2014/main" id="{E1080227-4E4D-46F5-B7FD-AD75A598F12B}"/>
              </a:ext>
            </a:extLst>
          </p:cNvPr>
          <p:cNvSpPr>
            <a:spLocks xmlns:a="http://schemas.openxmlformats.org/drawingml/2006/main" noGrp="1"/>
          </p:cNvSpPr>
          <p:nvPr/>
        </p:nvSpPr>
        <p:spPr>
          <a:xfrm xmlns:a="http://schemas.openxmlformats.org/drawingml/2006/main">
            <a:off x="762000" y="728662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36C80"/>
                </a:solidFill>
                <a:latin typeface="Segoe UI"/>
                <a:ea typeface="Segoe UI"/>
                <a:cs typeface="Segoe UI"/>
              </a:defRPr>
            </a:pPr>
            <a:r>
              <a:rPr sz="1425" b="0">
                <a:solidFill>
                  <a:srgbClr val="536C80"/>
                </a:solidFill>
                <a:latin typeface="Segoe UI"/>
                <a:ea typeface="Segoe UI"/>
                <a:cs typeface="Segoe UI"/>
              </a:rPr>
              <a:t>Production work includes authentication, document access control, request-scoped telemetry and adversarial-input evaluation.</a:t>
            </a:r>
          </a:p>
        </p:txBody>
      </p:sp>
    </p:spTree>
    <p:extLst>
      <p:ext uri="{BB962C8B-B14F-4D97-AF65-F5344CB8AC3E}">
        <p14:creationId xmlns:p14="http://schemas.microsoft.com/office/powerpoint/2010/main" val="3390602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2026-09-17T05:25:25.7900000Z</dcterms:created>
  <dcterms:modified xsi:type="dcterms:W3CDTF">2026-09-17T05:25:25.7900000Z</dcterms:modified>
</coreProperties>
</file>