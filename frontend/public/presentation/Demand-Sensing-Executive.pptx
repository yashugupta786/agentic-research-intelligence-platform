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01a00a60a54fd3" /><Relationship Type="http://schemas.openxmlformats.org/officeDocument/2006/relationships/extended-properties" Target="/docProps/app.xml" Id="Re1c4977078f74d3d" /><Relationship Type="http://schemas.openxmlformats.org/officeDocument/2006/relationships/officeDocument" Target="/ppt/presentation.xml" Id="R4d9ced9dac0c4b5b" /></Relationships>
</file>

<file path=ppt/presentation.xml><?xml version="1.0" encoding="utf-8"?>
<p:presentation xmlns:p="http://schemas.openxmlformats.org/presentationml/2006/main">
  <p:sldMasterIdLst>
    <p:sldMasterId xmlns:r="http://schemas.openxmlformats.org/officeDocument/2006/relationships" id="2147483648" r:id="R25a3ce3409144c39"/>
  </p:sldMasterIdLst>
  <p:notesMasterIdLst>
    <p:notesMasterId xmlns:r="http://schemas.openxmlformats.org/officeDocument/2006/relationships" r:id="Red09bbc3942b4b1d"/>
  </p:notesMasterIdLst>
  <p:sldIdLst>
    <p:sldId xmlns:r="http://schemas.openxmlformats.org/officeDocument/2006/relationships" id="256" r:id="Ra508ab7d735e41f0"/>
    <p:sldId xmlns:r="http://schemas.openxmlformats.org/officeDocument/2006/relationships" id="257" r:id="Rb611fa9d70f64438"/>
    <p:sldId xmlns:r="http://schemas.openxmlformats.org/officeDocument/2006/relationships" id="258" r:id="Rb0c7721ea1774cc5"/>
    <p:sldId xmlns:r="http://schemas.openxmlformats.org/officeDocument/2006/relationships" id="259" r:id="Rcb7deb90fb764bc6"/>
    <p:sldId xmlns:r="http://schemas.openxmlformats.org/officeDocument/2006/relationships" id="260" r:id="Rc327eb99bd6a4e30"/>
    <p:sldId xmlns:r="http://schemas.openxmlformats.org/officeDocument/2006/relationships" id="261" r:id="Reb358d8c883245b2"/>
    <p:sldId xmlns:r="http://schemas.openxmlformats.org/officeDocument/2006/relationships" id="262" r:id="Raa1df6c7a10d428d"/>
    <p:sldId xmlns:r="http://schemas.openxmlformats.org/officeDocument/2006/relationships" id="263" r:id="R32179e56154243d9"/>
    <p:sldId xmlns:r="http://schemas.openxmlformats.org/officeDocument/2006/relationships" id="264" r:id="R8e0f29115ca54f0c"/>
    <p:sldId xmlns:r="http://schemas.openxmlformats.org/officeDocument/2006/relationships" id="265" r:id="R4d001e185b9d4543"/>
    <p:sldId xmlns:r="http://schemas.openxmlformats.org/officeDocument/2006/relationships" id="266" r:id="R5ae69456ab76475c"/>
    <p:sldId xmlns:r="http://schemas.openxmlformats.org/officeDocument/2006/relationships" id="267" r:id="R28ad169cd50a4b51"/>
    <p:sldId xmlns:r="http://schemas.openxmlformats.org/officeDocument/2006/relationships" id="268" r:id="R6c95af9e50c74d7d"/>
    <p:sldId xmlns:r="http://schemas.openxmlformats.org/officeDocument/2006/relationships" id="269" r:id="R95bc61a31eb64f9d"/>
    <p:sldId xmlns:r="http://schemas.openxmlformats.org/officeDocument/2006/relationships" id="270" r:id="R8f1566db5713435e"/>
    <p:sldId xmlns:r="http://schemas.openxmlformats.org/officeDocument/2006/relationships" id="271" r:id="R252617a449fc421f"/>
    <p:sldId xmlns:r="http://schemas.openxmlformats.org/officeDocument/2006/relationships" id="272" r:id="R285b3e8ed1e54888"/>
    <p:sldId xmlns:r="http://schemas.openxmlformats.org/officeDocument/2006/relationships" id="273" r:id="Rbb1c1c6e9d254e14"/>
    <p:sldId xmlns:r="http://schemas.openxmlformats.org/officeDocument/2006/relationships" id="274" r:id="Rdbb2f7eff94c47ec"/>
    <p:sldId xmlns:r="http://schemas.openxmlformats.org/officeDocument/2006/relationships" id="275" r:id="R448bd663e242416c"/>
    <p:sldId xmlns:r="http://schemas.openxmlformats.org/officeDocument/2006/relationships" id="276" r:id="R37c27224628e430e"/>
    <p:sldId xmlns:r="http://schemas.openxmlformats.org/officeDocument/2006/relationships" id="277" r:id="Rde3871171b6e431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6c118f83af49d6" /><Relationship Type="http://schemas.openxmlformats.org/officeDocument/2006/relationships/slideMaster" Target="/ppt/slideMasters/slideMaster1.xml" Id="R25a3ce3409144c39" /><Relationship Type="http://schemas.openxmlformats.org/officeDocument/2006/relationships/notesMaster" Target="/ppt/notesMasters/notesMaster1.xml" Id="Red09bbc3942b4b1d" /><Relationship Type="http://schemas.openxmlformats.org/officeDocument/2006/relationships/presProps" Target="/ppt/presProps.xml" Id="R1a91cc9b60c74486" /><Relationship Type="http://schemas.openxmlformats.org/officeDocument/2006/relationships/tableStyles" Target="/ppt/tableStyles.xml" Id="R2f63c0503d1a4c9c" /><Relationship Type="http://schemas.openxmlformats.org/officeDocument/2006/relationships/slide" Target="/ppt/slides/slide1.xml" Id="Ra508ab7d735e41f0" /><Relationship Type="http://schemas.openxmlformats.org/officeDocument/2006/relationships/slide" Target="/ppt/slides/slide2.xml" Id="Rb611fa9d70f64438" /><Relationship Type="http://schemas.openxmlformats.org/officeDocument/2006/relationships/slide" Target="/ppt/slides/slide3.xml" Id="Rb0c7721ea1774cc5" /><Relationship Type="http://schemas.openxmlformats.org/officeDocument/2006/relationships/slide" Target="/ppt/slides/slide4.xml" Id="Rcb7deb90fb764bc6" /><Relationship Type="http://schemas.openxmlformats.org/officeDocument/2006/relationships/slide" Target="/ppt/slides/slide5.xml" Id="Rc327eb99bd6a4e30" /><Relationship Type="http://schemas.openxmlformats.org/officeDocument/2006/relationships/slide" Target="/ppt/slides/slide6.xml" Id="Reb358d8c883245b2" /><Relationship Type="http://schemas.openxmlformats.org/officeDocument/2006/relationships/slide" Target="/ppt/slides/slide7.xml" Id="Raa1df6c7a10d428d" /><Relationship Type="http://schemas.openxmlformats.org/officeDocument/2006/relationships/slide" Target="/ppt/slides/slide8.xml" Id="R32179e56154243d9" /><Relationship Type="http://schemas.openxmlformats.org/officeDocument/2006/relationships/slide" Target="/ppt/slides/slide9.xml" Id="R8e0f29115ca54f0c" /><Relationship Type="http://schemas.openxmlformats.org/officeDocument/2006/relationships/slide" Target="/ppt/slides/slide10.xml" Id="R4d001e185b9d4543" /><Relationship Type="http://schemas.openxmlformats.org/officeDocument/2006/relationships/slide" Target="/ppt/slides/slide11.xml" Id="R5ae69456ab76475c" /><Relationship Type="http://schemas.openxmlformats.org/officeDocument/2006/relationships/slide" Target="/ppt/slides/slide12.xml" Id="R28ad169cd50a4b51" /><Relationship Type="http://schemas.openxmlformats.org/officeDocument/2006/relationships/slide" Target="/ppt/slides/slide13.xml" Id="R6c95af9e50c74d7d" /><Relationship Type="http://schemas.openxmlformats.org/officeDocument/2006/relationships/slide" Target="/ppt/slides/slide14.xml" Id="R95bc61a31eb64f9d" /><Relationship Type="http://schemas.openxmlformats.org/officeDocument/2006/relationships/slide" Target="/ppt/slides/slide15.xml" Id="R8f1566db5713435e" /><Relationship Type="http://schemas.openxmlformats.org/officeDocument/2006/relationships/slide" Target="/ppt/slides/slide16.xml" Id="R252617a449fc421f" /><Relationship Type="http://schemas.openxmlformats.org/officeDocument/2006/relationships/slide" Target="/ppt/slides/slide17.xml" Id="R285b3e8ed1e54888" /><Relationship Type="http://schemas.openxmlformats.org/officeDocument/2006/relationships/slide" Target="/ppt/slides/slide18.xml" Id="Rbb1c1c6e9d254e14" /><Relationship Type="http://schemas.openxmlformats.org/officeDocument/2006/relationships/slide" Target="/ppt/slides/slide19.xml" Id="Rdbb2f7eff94c47ec" /><Relationship Type="http://schemas.openxmlformats.org/officeDocument/2006/relationships/slide" Target="/ppt/slides/slide20.xml" Id="R448bd663e242416c" /><Relationship Type="http://schemas.openxmlformats.org/officeDocument/2006/relationships/slide" Target="/ppt/slides/slide21.xml" Id="R37c27224628e430e" /><Relationship Type="http://schemas.openxmlformats.org/officeDocument/2006/relationships/slide" Target="/ppt/slides/slide22.xml" Id="Rde3871171b6e43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eddbc67b604c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1048c057644344" /><Relationship Type="http://schemas.openxmlformats.org/officeDocument/2006/relationships/notesMaster" Target="/ppt/notesMasters/notesMaster1.xml" Id="R58f6670178b145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414b7eb34c4ddd" /><Relationship Type="http://schemas.openxmlformats.org/officeDocument/2006/relationships/notesMaster" Target="/ppt/notesMasters/notesMaster1.xml" Id="R94a373fee45343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1d8aae5e3649ac" /><Relationship Type="http://schemas.openxmlformats.org/officeDocument/2006/relationships/notesMaster" Target="/ppt/notesMasters/notesMaster1.xml" Id="R136bd0ef62104c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fa42b0ea1647cf" /><Relationship Type="http://schemas.openxmlformats.org/officeDocument/2006/relationships/notesMaster" Target="/ppt/notesMasters/notesMaster1.xml" Id="R308cb535ccc44d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a049397d174b1f" /><Relationship Type="http://schemas.openxmlformats.org/officeDocument/2006/relationships/notesMaster" Target="/ppt/notesMasters/notesMaster1.xml" Id="R9e613e9bcacd44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2a43318cb04aaa" /><Relationship Type="http://schemas.openxmlformats.org/officeDocument/2006/relationships/notesMaster" Target="/ppt/notesMasters/notesMaster1.xml" Id="R6cba8ec364f64b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968ab632a74bec" /><Relationship Type="http://schemas.openxmlformats.org/officeDocument/2006/relationships/notesMaster" Target="/ppt/notesMasters/notesMaster1.xml" Id="R014a91bb82394d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bcd3f21e3648e3" /><Relationship Type="http://schemas.openxmlformats.org/officeDocument/2006/relationships/notesMaster" Target="/ppt/notesMasters/notesMaster1.xml" Id="Refe6334f4c7d42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d3017e8f794b87" /><Relationship Type="http://schemas.openxmlformats.org/officeDocument/2006/relationships/notesMaster" Target="/ppt/notesMasters/notesMaster1.xml" Id="R6c83589c31e646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51c31a19ad4b5b" /><Relationship Type="http://schemas.openxmlformats.org/officeDocument/2006/relationships/notesMaster" Target="/ppt/notesMasters/notesMaster1.xml" Id="Rce9dc7eb68f648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e7950a243841ec" /><Relationship Type="http://schemas.openxmlformats.org/officeDocument/2006/relationships/notesMaster" Target="/ppt/notesMasters/notesMaster1.xml" Id="R7fed3f24fb384c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2268348c8f4d22" /><Relationship Type="http://schemas.openxmlformats.org/officeDocument/2006/relationships/notesMaster" Target="/ppt/notesMasters/notesMaster1.xml" Id="R4721dd1c310f4f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b9859f0a934f0b" /><Relationship Type="http://schemas.openxmlformats.org/officeDocument/2006/relationships/notesMaster" Target="/ppt/notesMasters/notesMaster1.xml" Id="Rab865e4c1b554b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1e53ac1bf948c6" /><Relationship Type="http://schemas.openxmlformats.org/officeDocument/2006/relationships/notesMaster" Target="/ppt/notesMasters/notesMaster1.xml" Id="Red4f1159fd794c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f3fc1bc4574c37" /><Relationship Type="http://schemas.openxmlformats.org/officeDocument/2006/relationships/notesMaster" Target="/ppt/notesMasters/notesMaster1.xml" Id="R7156efb1d7ff49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4740e303054a10" /><Relationship Type="http://schemas.openxmlformats.org/officeDocument/2006/relationships/notesMaster" Target="/ppt/notesMasters/notesMaster1.xml" Id="Ra84789e26c5948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b85b12c5f04964" /><Relationship Type="http://schemas.openxmlformats.org/officeDocument/2006/relationships/notesMaster" Target="/ppt/notesMasters/notesMaster1.xml" Id="Rec3d40d8875948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93cecc248a4217" /><Relationship Type="http://schemas.openxmlformats.org/officeDocument/2006/relationships/notesMaster" Target="/ppt/notesMasters/notesMaster1.xml" Id="R017f6761422e4d3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56d187abea4322" /><Relationship Type="http://schemas.openxmlformats.org/officeDocument/2006/relationships/notesMaster" Target="/ppt/notesMasters/notesMaster1.xml" Id="R74a42495274b43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b0dbc1de584fb9" /><Relationship Type="http://schemas.openxmlformats.org/officeDocument/2006/relationships/notesMaster" Target="/ppt/notesMasters/notesMaster1.xml" Id="R6cf15a9f54e94c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037fc597de4f8a" /><Relationship Type="http://schemas.openxmlformats.org/officeDocument/2006/relationships/notesMaster" Target="/ppt/notesMasters/notesMaster1.xml" Id="Rdb43189044c84f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f956fb0bc234f58" /><Relationship Type="http://schemas.openxmlformats.org/officeDocument/2006/relationships/notesMaster" Target="/ppt/notesMasters/notesMaster1.xml" Id="R85589a894c7148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by Yashu Gupta. The business decision is which research to commission, refresh or maintain. The case study permits a simulated internal library. This presentation follows the data through the application, then explains what the scores mean. Sources: Case_Study_Lead DS.docx; backend/app/agents/graph.py.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requested capabilities are emerging topics, cited RAG answers, gap analysis, a knowledge graph and agentic orchestration. Market scan proposes research work, while Library QA answers a client question. The system supports an analyst's judgment. It does not measure client demand or publish research automatically. Sources: Case_Study_Lead DS.docx; backend/app/agents/graph.py.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chunks internal documents into approximately 130 words with 25-word overlap, embeds them and stores normalized vectors with a chunk/document ID map. SQLite retains documents. At inference the UI sends question, forced_intent and force_refresh. FastAPI validates the request, LangGraph executes the selected path, and SSE carries progress to the browser. POST /api/ask supports blocking clients. The live UI uses GET /api/ask/stream. NetworkX constructs the graph and SQLite saves completed results. This is a local prototype. Sources: backend/app/data/library_builder.py; backend/app/services/vectorstore.py; backend/app/api/agent.py; backend/app/agents/graph.py.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node returns a partial state update. Earlier fields remain available, so creating topics does not remove articles. Planner uses code for a forced UI mode and a model in Auto. Scout uses search. Topic Analyst uses extraction, embeddings and canonicalization. Attention and Gap use arithmetic. Librarian uses retrieval and a relevance judge. Graph uses NetworkX and embeddings. Synthesis and Critic use separate model calls. Sources: backend/app/agents/graph.py; backend/app/agents/nodes.py.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example: question='AI in healthcare', forced_intent='market_scan', force_refresh=false. The UI-selected route uses deterministic planning: research_area='AI in healthcare', intent='market_scan' and the three search queries shown. The original question stays unchanged. In Auto mode a model classifies intent and can supply up to four queries. Scout calls Tavily search_news(query,max_results=8,days=45,force=force_refresh) for each query. It may reuse cache. Pooling uses URL keys, so repeated results contribute one article. Output is articles[], signal_source and scout_stats. Each article includes title, url, domain, snippet, published_date and source. Eight is a requested maximum, not a guaranteed return count. Sources: backend/app/agents/nodes.py: planner_node, scout_node; backend/app/services/external_signals.py.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illustrative articles require two extraction calls, six articles per call. Input includes index, title, date, source domain and at most 520 characters of snippet. It does not fetch and read full article HTML. The model returns one ArticleExtraction per valid index: topics (requested 1–3), entities (schema description up to5) and driver. Batch-local indices become global by adding the batch start. The driver is a why-now clause, not an extracted entity relation. Code then lexical_normalise() lowercases, collapses whitespace, removes quote characters, stop prefixes and selected filler words, and caps a phrase at80 characters. Keys shorter than4 are skipped. The three maps are updated during this cleanup. Sources: backend/app/services/topics.py: extract_signals, lexical_normalise, normalise_topics.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illustrative12-article example.24 extracted mentions may yield16 cleaned unique phrases. The actual number is data-dependent. Embed the cleaned phrases in frequency order and L2-normalize each vector. Compare each vector with current cluster centroids using a dot product, equal to cosine for unit vectors. Join the best centroid at score&gt;=0.93. Otherwise create a group. Recompute joined centroids as normalize(mean(member vectors)). Canonicalization receives area_hint and numbered lists of phrases (up to8 unique sorted phrases per group), not raw articles, vectors or frequency counts. It returns label/category/description/member_groups. It may merge true synonyms and must preserve distinct subtopics. The prompt aims for5–10 topics, while the node caps the final result at14. Three topics here are an illustration. Code maps member_groups through phrase indexes and surface_articles to unique URLs, dates, entities and drivers. Unknown group IDs are ignored, repeated claims across topics are ignored and omitted groups survive separately. Sources: backend/app/services/topics.py; backend/app/agents/nodes.py: topic_analyst_node.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derived news-sample path actually used by momentum_node, which passes an empty time series. Inputs for one illustrative topic: mention_count5 unique article URLs, source_count4 distinct URL domains, newest article age4days. B=min(1,.7*4/6+.3*min(5,12)/12)=.5916667. R=exp(-4/30)=.8751733. A=.7B+.3R=.6767187, stored as momentum about.6767. The two70/30 blends serve different purposes: within breadth, publishers receive more weight than article volume; final attention blends breadth with recency.6outlets and12articles are prototype scale constants, not inferred from requesting24 search results.30days is a decay time constant. Unknown dates yield R0 and recency_days999. growth_pct is null because no measured baseline exists. Sources: backend/app/services/topics.py: compute_momentum; backend/app/agents/nodes.py: momentum_node.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topic, librarian_coverage_node constructs query_text=label+'. '+description and calls assess_coverage(top_k5,judge=True). The index embeds this query and returns up to50 ranked chunk hits. Archive filtering happens after retrieval. Code keeps one best-scoring chunk per document, drops similarity below.62, and keeps at most10 candidate documents. It judges these candidates in one call for this topic, then retains covers/partial, sorts by verdict weight then similarity, and keeps at most5. Repeat separately for each topic. Shortfalls in candidate counts are expected. No additional chunk-summary stage is present. Syndicated Archive represents external syndicated content, excluded so it does not count as original internal coverage. Sources: backend/app/agents/nodes.py: librarian_coverage_node; backend/app/services/coverage.py: assess_coverage; backend/app/services/vectorstore.py.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Per-topic input contains TOPIC and WHAT THE TOPIC COVERS, then candidate document ID, title, practice_area, doc_type, similarity and first420 characters of the best hit text. The system prompt says be strict: same healthcare domain is not the same topic. The model returns verdicts[{doc_id,verdict,reason}], one per supplied ID. Covers means squarely addresses topic, partial means adjacent angle/section, tangential means same domain different subject, unrelated means no fit. It sees neither full external articles nor full internal documents, and cannot prove exhaustive coverage. Python validates IDs/verdict labels and handles missing verdicts with a labelled conservative proxy. Sources: backend/app/services/coverage.py: JUDGE_SYSTEM, judge_candidates.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same illustrative judge example. RN-9001 covers and RN-9002 partial are both500days old. RN-9003 tangential contributes0 regardless of its age. Freshness F=1 for age&lt;=120,0 for age&gt;=450, otherwise1-(age-120)/330. For285days F=.5. A document's usable weight is verdict_weight*(.25+.75F). The two500-day accepted notes have weights.25 and.125. Sum=.375,max=.25. Coverage=.6*(.375/5)+.4*.25=.145. Depth uses a fixed divisor5 even when only2 notes match. Staleness is the age of the newest accepted document,500days here, not an average and not a model output. Output includes topic_slug,doc_count2,strong_matches1,newest_doc_date,staleness_days500,coverage_score.145,matched_docs with verdicts/reasons/ages and judged_by. Sources: backend/app/services/coverage.py: _freshness, assess_coverage.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Curator reads topic_objects for full entities and coverage by slug for accepted document matches. It does not extract arbitrary subject-predicate-object relations with an LLM. NetworkX creates topic mentions entity, topic covered_by document (up to4 matches per topic), and document published_in practice area. A batched embedding call for topic label+description supports topic-to-topic adjacent_to links at cosine&gt;=.62. This threshold has a different purpose from .93 phrase deduplication. Entities belong to source articles and are assigned to topics supported by those articles, which can make associations broad. The graph is saved in SQLite. State receives graph counts, central_entities, question and a nodes/links snapshot (up to300nodes). A covered_by link can represent partial or stale evidence, with similarity as edge weight. Sources: backend/app/services/knowledge_graph.py; backend/app/agents/nodes.py: graph_curator_node.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same illustrative topic: exact attention .6767186624, coverage .145, two accepted notes, newest500days old. Gap=A*(1-C)=.5785944564, rounded.5786.1-C=.855 means missing share under this heuristic. Rules run in order: refresh when A&gt;=.50 and newest accepted note&gt;300days and C&lt;.70; publish_now when A&gt;=.55 and C&lt;.35; maintain when A&gt;=.50 and C&gt;=.60; over_invested when A&lt;.45 and C&gt;=.55; otherwise watch. Priority thresholds are.45CRITICAL,.30HIGH,.16MEDIUM,elseLOW, with CRITICAL capped toHIGH for maintain/over_invested/watch. The old accepted notes trigger refresh before publish_now. Output gaps[] joins by topic_slug, includes label,A,C,gap,priority,quadrant,rationale and sorts descending by gap. Sources: backend/app/services/coverage.py: classify, build_gap; backend/app/agents/nodes.py: gap_analyst_node.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Synthesizer receives the original question, research area, article/outlet counts and up to12 gap rows with scores, priority,quadrant,rationale and up to3 document IDs/ages each. It generates ExecutiveOutput. The returned recommendation list is deterministic computed_recommendations from the top5 gap rows, overriding model-proposed actions. The model contributes the narrative and top_opportunities. Critic is a separate model call reading summary and up to12 analytics rows. It returns consistent,issues,confidence. State receives verdict,groundedness and up to3 critique_issues. It flags inconsistencies but does not automatically repair the summary or fact-check original articles. Missing critic output does not prove a pass. Sources: backend/app/agents/nodes.py: computed_recommendations, synthesizer_node, critic_node.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is the client's original question. rag.retrieve uses default top_k6, retrieves up to24 candidates with min_score.42, excludes archive and retains at most2 chunks per document. Answer generation sees question and passages with document IDs. Code strips unknown citation IDs. A separate groundedness call estimates supported/total claims and lists unsupported claims. Empty retrieval produces abstention. The answer has citations and retrieval evidence. Planner routes library_qa directly to Librarian, then Synthesis and Critic skip additional work because support assessment already ran. Coverage's covers/partial judge is a different task from answering a client's question. Sources: backend/app/services/rag.py; backend/app/config.py; backend/app/agents/nodes.py: librarian_rag_node.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run9,17Sep2026: query AI in healthcare, cached Tavily evidence,23unique articles,20outlets,53raw topic mentions,9canonical topics and63965ms runtime. This is historical operational evidence and does not validate the changed code or general quality. Previous runs replay a full SQLite snapshot with its original question,timestamp,outputs and graph,without new model/search calls. Current telemetry includes latency,calls,tokens. Coverage reasons and model consistency estimates are inspectable but not measured accuracy. An analyst-labelled evaluation set is needed for recall@k,citation precision,verdict agreement,recommendation acceptance and analyst time saved. Sources: recorded run9; backend/app/services/run_history.py; backend/app/core/telemetry.py.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prototype is integrated, but the weights/thresholds need calibration. Excerpts can omit relevant material. Single-best-chunk evidence and filtering after retrieval can miss coverage. Article entities can attach to multiple topics. Static attention cannot prove a surge. The library is simulated. Next steps: analyst-labelled benchmark and threshold tuning; fuller evidence and multi-passage judgment; temporal baselines; hybrid retrieval/reranking; access-aware retrieval and authentication; durable jobs and request-scoped telemetry. No business KPI targets are claimed before a baseline. Sources: backend/app/services/topics.py; backend/app/services/coverage.py; backend/app/services/knowledge_graph.py; backend/app/services/vectorstore.py.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replaying the single worked example, not by claiming production performance. Clinical AI Governance has5articles across4domains, newest4days ago, producing attention.6767. Two accepted500-day notes produce coverage.145. Gap.5786 crossesCRITICAL and stale evidence triggersrefresh. An analyst can inspect original evidence, the document reasons and the graph, then decide whether the proposed work is useful. Technical detail follows only if needed. Sources: backend/app/services/topics.py; backend/app/services/coverage.py.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surface_counter is collections.Counter[str]. surface_articles is dict[str,list[int]]. surface_original is dict[str,str] using setdefault, preserving the first observed raw spelling. Consider article0 with AI Governance and Agentic AI, article1 with The AI governance trends, article2 with AI Governance and Clinical AI Oversight. The governance key occurs3times. If governance and oversight ultimately merge, concatenate [0,1,2] and[2], then unique URLs prevent article2 from being counted twice. This raw phrase count differs from canonical mention_count, which is the unique URL count after merging. The full original articles remain in state. Entities/drivers are recovered from extractions whose indices belong to the merged topic. Sources: backend/app/services/topics.py: normalise_topics.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Two-dimensional vectors below are synthetic arithmetic examples, not real model embeddings. v0=(1,0) starts group0. v1=(.96,.28) has norm1 and dot(v1,v0)=.96, so it joins. The new centroid is normalize((.98,.14))≈(.98995,.14142). v2=(0,1) has cosine.14142 against that centroid, below.93, so it starts group1. Each later vector compares with all existing centroids, not all other individual vectors. Canonicalization's real input format is numbered phrase lists plus area hint. Shown example [0]Clinical AI Governance,[1]Healthcare Agentic AI,[2]Clinical AI Oversight can map0and2toone topic if judged synonyms. The prompt requires each group exactly once and merges only synonyms. The model output member_groups is the mapping key. The code preserves omitted groups. Sources: backend/app/services/topics.py: _greedy_cluster, _canonicalise_with_llm.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business-facing fields, not complete tracing/error schemas. Planner also adds reasoning and plan. Scout includes stats/cache information. Topic JSON includes entities[:12],drivers[:6],article_urls[:8],while internal topic_objects retain the fuller mappings. Topic node max_topics14 and normalisation.merged is sum(max(0,len(aliases)-1)), not raw_mentions minus canonical. Attention replaces topics with enriched topic dictionaries and adds momentum to internal objects. Coverage adds a map keyed by topic_slug and enriches topics. Graph returns graph stats/question/snapshot. Gap adds gaps and a DB-wide portfolio summary, which can include other runs; the gaps list itself belongs to this scan. Synthesizer adds answer/executive_summary/recommendations/top_opportunities. Critic adds verdict/groundedness/critique_issues. Sources: backend/app/agents/nodes.py; backend/app/agents/state.py.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accepted docs returns coverage0,doc_count0,staleness999. Missing/invalid date also maps999. This is a sentinel, not observed age. Future dates clamp to0. If the judge is incomplete, judged_by=hybrid. If absent,similarity_proxy. Only similarity&gt;=.74 gets proxy partial(.5),otherwise unrelated. It cannot become covers from similarity alone. LLM rate limiting starts90-second cooldown. A missing index raises: node marks coverage unavailable,sets coverage_scoreNone,and Gap skips that topic. Freshness saturates at120/450. Coverage0.52 for one fresh covers note demonstrates depth5 divisor (.6/5+.4). Five fresh covers yield1. Five fresh partials yield.5. Priority thresholds .45,.30,.16 as described. These are configurable design judgments in code, requiring validation, and scores are not probabilities. Sources: backend/app/services/coverage.py; backend/app/agents/nodes.py. All worked calculations and synthetic article/document IDs are illustrative, unless explicitly described as a recorded run. Prototype weights and thresholds are design choices,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45eb1beff94e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8c254d946c4740" /><Relationship Type="http://schemas.openxmlformats.org/officeDocument/2006/relationships/slideLayout" Target="/ppt/slideLayouts/slideLayout1.xml" Id="R2ad82cbaaf8d4c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d82cbaaf8d4c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0e3e0764f46ee" /><Relationship Type="http://schemas.openxmlformats.org/officeDocument/2006/relationships/notesSlide" Target="/ppt/notesSlides/notesSlide1.xml" Id="R8d12f0dd34054d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b991a2718e491e" /><Relationship Type="http://schemas.openxmlformats.org/officeDocument/2006/relationships/notesSlide" Target="/ppt/notesSlides/notesSlide2.xml" Id="R5011c207175c44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e2c4da2d374300" /><Relationship Type="http://schemas.openxmlformats.org/officeDocument/2006/relationships/notesSlide" Target="/ppt/notesSlides/notesSlide3.xml" Id="Rc6b2a86bb1664c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4132c80c654174" /><Relationship Type="http://schemas.openxmlformats.org/officeDocument/2006/relationships/notesSlide" Target="/ppt/notesSlides/notesSlide4.xml" Id="R0f32f21a0c5142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ea0a04ce3b4ed2" /><Relationship Type="http://schemas.openxmlformats.org/officeDocument/2006/relationships/notesSlide" Target="/ppt/notesSlides/notesSlide5.xml" Id="R5b646f1daea242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d616c51d784673" /><Relationship Type="http://schemas.openxmlformats.org/officeDocument/2006/relationships/notesSlide" Target="/ppt/notesSlides/notesSlide6.xml" Id="Rca67ed3780c146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07ac998fa44a45" /><Relationship Type="http://schemas.openxmlformats.org/officeDocument/2006/relationships/notesSlide" Target="/ppt/notesSlides/notesSlide7.xml" Id="Re0dec4dfb44546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835e8f445c4881" /><Relationship Type="http://schemas.openxmlformats.org/officeDocument/2006/relationships/notesSlide" Target="/ppt/notesSlides/notesSlide8.xml" Id="R3f6f133ec58241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6f61e81be34356" /><Relationship Type="http://schemas.openxmlformats.org/officeDocument/2006/relationships/notesSlide" Target="/ppt/notesSlides/notesSlide9.xml" Id="R423022595c3d4b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70080f2f654d08" /><Relationship Type="http://schemas.openxmlformats.org/officeDocument/2006/relationships/notesSlide" Target="/ppt/notesSlides/notesSlide10.xml" Id="R98d8dfbd5d6547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c11f6f2433449d" /><Relationship Type="http://schemas.openxmlformats.org/officeDocument/2006/relationships/notesSlide" Target="/ppt/notesSlides/notesSlide11.xml" Id="R860bc563aa4b48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7340facf9b4dc6" /><Relationship Type="http://schemas.openxmlformats.org/officeDocument/2006/relationships/notesSlide" Target="/ppt/notesSlides/notesSlide12.xml" Id="Rb32dd6260c9248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3112f7c1f54974" /><Relationship Type="http://schemas.openxmlformats.org/officeDocument/2006/relationships/notesSlide" Target="/ppt/notesSlides/notesSlide13.xml" Id="Recb637681cce49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8d9db0cd2c547b3" /><Relationship Type="http://schemas.openxmlformats.org/officeDocument/2006/relationships/notesSlide" Target="/ppt/notesSlides/notesSlide14.xml" Id="R73f7c032db7742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56f7530ec748a5" /><Relationship Type="http://schemas.openxmlformats.org/officeDocument/2006/relationships/notesSlide" Target="/ppt/notesSlides/notesSlide15.xml" Id="Rec799f597af943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874cf6980ab4ff8" /><Relationship Type="http://schemas.openxmlformats.org/officeDocument/2006/relationships/notesSlide" Target="/ppt/notesSlides/notesSlide16.xml" Id="R26c2453f8b7944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4e2d49634d4f6e" /><Relationship Type="http://schemas.openxmlformats.org/officeDocument/2006/relationships/notesSlide" Target="/ppt/notesSlides/notesSlide17.xml" Id="Re7013696d7c243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59c8542a69147c7" /><Relationship Type="http://schemas.openxmlformats.org/officeDocument/2006/relationships/notesSlide" Target="/ppt/notesSlides/notesSlide18.xml" Id="Re75698701b6142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59c1e5d7bb4442" /><Relationship Type="http://schemas.openxmlformats.org/officeDocument/2006/relationships/notesSlide" Target="/ppt/notesSlides/notesSlide19.xml" Id="R37e72040a6954e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743e10cb09b4c4b" /><Relationship Type="http://schemas.openxmlformats.org/officeDocument/2006/relationships/notesSlide" Target="/ppt/notesSlides/notesSlide20.xml" Id="Rd67696ea87a943f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fa0a64e73a4c0c" /><Relationship Type="http://schemas.openxmlformats.org/officeDocument/2006/relationships/notesSlide" Target="/ppt/notesSlides/notesSlide21.xml" Id="Rb86df545492f458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24083239ceb4827" /><Relationship Type="http://schemas.openxmlformats.org/officeDocument/2006/relationships/notesSlide" Target="/ppt/notesSlides/notesSlide22.xml" Id="R05e5e422ac164290" /></Relationships>
</file>

<file path=ppt/slides/slide1.xml><?xml version="1.0" encoding="utf-8"?>
<p:sld xmlns:p="http://schemas.openxmlformats.org/presentationml/2006/main">
  <p:cSld>
    <p:bg>
      <p:bgPr>
        <a:solidFill xmlns:a="http://schemas.openxmlformats.org/drawingml/2006/main">
          <a:srgbClr val="0B2238"/>
        </a:solidFill>
      </p:bgPr>
    </p:bg>
    <p:spTree>
      <p:nvGrpSpPr>
        <p:cNvPr id="1" name=""/>
        <p:cNvGrpSpPr/>
        <p:nvPr/>
      </p:nvGrpSpPr>
      <p:grpSpPr>
        <a:xfrm xmlns:a="http://schemas.openxmlformats.org/drawingml/2006/main"/>
      </p:grpSpPr>
      <p:sp>
        <p:nvSpPr>
          <p:cNvPr id="9" name="RESEARCH PLANNING CASE STUDY">
            <a:extLst xmlns:a="http://schemas.openxmlformats.org/drawingml/2006/main">
              <a:ext uri="{FF2B5EF4-FFF2-40B4-BE49-F238E27FC236}">
                <a16:creationId xmlns:a16="http://schemas.microsoft.com/office/drawing/2014/main" id="{6ECB4C47-FCB7-4662-8019-B2C04DBEE434}"/>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71D5C0"/>
                </a:solidFill>
                <a:latin typeface="Segoe UI"/>
                <a:ea typeface="Segoe UI"/>
                <a:cs typeface="Segoe UI"/>
              </a:defRPr>
            </a:pPr>
            <a:r>
              <a:rPr sz="1275" b="1">
                <a:solidFill>
                  <a:srgbClr val="71D5C0"/>
                </a:solidFill>
                <a:latin typeface="Segoe UI"/>
                <a:ea typeface="Segoe UI"/>
                <a:cs typeface="Segoe UI"/>
              </a:rPr>
              <a:t>RESEARCH PLANNING CASE STUDY</a:t>
            </a:r>
          </a:p>
        </p:txBody>
      </p:sp>
      <p:sp>
        <p:nvSpPr>
          <p:cNvPr id="2" name="Demand Sensing&#10;Intelligence">
            <a:extLst xmlns:a="http://schemas.openxmlformats.org/drawingml/2006/main">
              <a:ext uri="{FF2B5EF4-FFF2-40B4-BE49-F238E27FC236}">
                <a16:creationId xmlns:a16="http://schemas.microsoft.com/office/drawing/2014/main" id="{B60BBBCA-CCAF-4228-AA24-B3A6BE3F6F46}"/>
              </a:ext>
            </a:extLst>
          </p:cNvPr>
          <p:cNvSpPr>
            <a:spLocks xmlns:a="http://schemas.openxmlformats.org/drawingml/2006/main" noGrp="1"/>
          </p:cNvSpPr>
          <p:nvPr/>
        </p:nvSpPr>
        <p:spPr>
          <a:xfrm xmlns:a="http://schemas.openxmlformats.org/drawingml/2006/main">
            <a:off x="762000" y="971550"/>
            <a:ext cx="13716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850" b="1">
                <a:solidFill>
                  <a:srgbClr val="FFFFFF"/>
                </a:solidFill>
                <a:latin typeface="Segoe UI"/>
                <a:ea typeface="Segoe UI"/>
                <a:cs typeface="Segoe UI"/>
              </a:defRPr>
            </a:pPr>
            <a:r>
              <a:rPr sz="5850" b="1">
                <a:solidFill>
                  <a:srgbClr val="FFFFFF"/>
                </a:solidFill>
                <a:latin typeface="Segoe UI"/>
                <a:ea typeface="Segoe UI"/>
                <a:cs typeface="Segoe UI"/>
              </a:rPr>
              <a:t>Demand Sensing</a:t>
            </a:r>
          </a:p>
          <a:p xmlns:a="http://schemas.openxmlformats.org/drawingml/2006/main">
            <a:pPr>
              <a:defRPr sz="5850" b="1">
                <a:solidFill>
                  <a:srgbClr val="FFFFFF"/>
                </a:solidFill>
                <a:latin typeface="Segoe UI"/>
                <a:ea typeface="Segoe UI"/>
                <a:cs typeface="Segoe UI"/>
              </a:defRPr>
            </a:pPr>
            <a:r>
              <a:rPr sz="5850" b="1">
                <a:solidFill>
                  <a:srgbClr val="FFFFFF"/>
                </a:solidFill>
                <a:latin typeface="Segoe UI"/>
                <a:ea typeface="Segoe UI"/>
                <a:cs typeface="Segoe UI"/>
              </a:rPr>
              <a:t>Intelligence</a:t>
            </a:r>
          </a:p>
        </p:txBody>
      </p:sp>
      <p:sp>
        <p:nvSpPr>
          <p:cNvPr id="3" name="">
            <a:extLst xmlns:a="http://schemas.openxmlformats.org/drawingml/2006/main">
              <a:ext uri="{FF2B5EF4-FFF2-40B4-BE49-F238E27FC236}">
                <a16:creationId xmlns:a16="http://schemas.microsoft.com/office/drawing/2014/main" id="{B74623B4-F211-4969-8BD8-BBD7A41CDBA5}"/>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365066"/>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7D3BAFDC-06B4-4720-B007-315160DA5940}"/>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DD0DE"/>
                </a:solidFill>
                <a:latin typeface="Segoe UI"/>
                <a:ea typeface="Segoe UI"/>
                <a:cs typeface="Segoe UI"/>
              </a:defRPr>
            </a:pPr>
            <a:r>
              <a:rPr sz="1200" b="0">
                <a:solidFill>
                  <a:srgbClr val="BDD0DE"/>
                </a:solidFill>
                <a:latin typeface="Segoe UI"/>
                <a:ea typeface="Segoe UI"/>
                <a:cs typeface="Segoe UI"/>
              </a:rPr>
              <a:t>Demand Sensing Intelligence</a:t>
            </a:r>
          </a:p>
        </p:txBody>
      </p:sp>
      <p:sp>
        <p:nvSpPr>
          <p:cNvPr id="5" name="01">
            <a:extLst xmlns:a="http://schemas.openxmlformats.org/drawingml/2006/main">
              <a:ext uri="{FF2B5EF4-FFF2-40B4-BE49-F238E27FC236}">
                <a16:creationId xmlns:a16="http://schemas.microsoft.com/office/drawing/2014/main" id="{81D2F828-4914-4292-9623-55BD0399FAE7}"/>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71D5C0"/>
                </a:solidFill>
                <a:latin typeface="Segoe UI"/>
                <a:ea typeface="Segoe UI"/>
                <a:cs typeface="Segoe UI"/>
              </a:defRPr>
            </a:pPr>
            <a:r>
              <a:rPr sz="1650" b="1">
                <a:solidFill>
                  <a:srgbClr val="71D5C0"/>
                </a:solidFill>
                <a:latin typeface="Segoe UI"/>
                <a:ea typeface="Segoe UI"/>
                <a:cs typeface="Segoe UI"/>
              </a:rPr>
              <a:t>01</a:t>
            </a:r>
          </a:p>
        </p:txBody>
      </p:sp>
      <p:sp>
        <p:nvSpPr>
          <p:cNvPr id="6" name="A defensible research priority,&#10;with evidence behind ev">
            <a:extLst xmlns:a="http://schemas.openxmlformats.org/drawingml/2006/main">
              <a:ext uri="{FF2B5EF4-FFF2-40B4-BE49-F238E27FC236}">
                <a16:creationId xmlns:a16="http://schemas.microsoft.com/office/drawing/2014/main" id="{0E2C2A57-71B1-4DC7-A0C7-1B4134CD0366}"/>
              </a:ext>
            </a:extLst>
          </p:cNvPr>
          <p:cNvSpPr>
            <a:spLocks xmlns:a="http://schemas.openxmlformats.org/drawingml/2006/main" noGrp="1"/>
          </p:cNvSpPr>
          <p:nvPr/>
        </p:nvSpPr>
        <p:spPr>
          <a:xfrm xmlns:a="http://schemas.openxmlformats.org/drawingml/2006/main">
            <a:off x="762000" y="3695700"/>
            <a:ext cx="1266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0">
                <a:solidFill>
                  <a:srgbClr val="BDD0DE"/>
                </a:solidFill>
                <a:latin typeface="Segoe UI"/>
                <a:ea typeface="Segoe UI"/>
                <a:cs typeface="Segoe UI"/>
              </a:defRPr>
            </a:pPr>
            <a:r>
              <a:rPr sz="3225" b="0">
                <a:solidFill>
                  <a:srgbClr val="BDD0DE"/>
                </a:solidFill>
                <a:latin typeface="Segoe UI"/>
                <a:ea typeface="Segoe UI"/>
                <a:cs typeface="Segoe UI"/>
              </a:rPr>
              <a:t>A defensible research priority,</a:t>
            </a:r>
          </a:p>
          <a:p xmlns:a="http://schemas.openxmlformats.org/drawingml/2006/main">
            <a:pPr>
              <a:defRPr sz="3225" b="0">
                <a:solidFill>
                  <a:srgbClr val="BDD0DE"/>
                </a:solidFill>
                <a:latin typeface="Segoe UI"/>
                <a:ea typeface="Segoe UI"/>
                <a:cs typeface="Segoe UI"/>
              </a:defRPr>
            </a:pPr>
            <a:r>
              <a:rPr sz="3225" b="0">
                <a:solidFill>
                  <a:srgbClr val="BDD0DE"/>
                </a:solidFill>
                <a:latin typeface="Segoe UI"/>
                <a:ea typeface="Segoe UI"/>
                <a:cs typeface="Segoe UI"/>
              </a:rPr>
              <a:t>with evidence behind every score</a:t>
            </a:r>
          </a:p>
        </p:txBody>
      </p:sp>
      <p:sp>
        <p:nvSpPr>
          <p:cNvPr id="7" name="Yashu Gupta">
            <a:extLst xmlns:a="http://schemas.openxmlformats.org/drawingml/2006/main">
              <a:ext uri="{FF2B5EF4-FFF2-40B4-BE49-F238E27FC236}">
                <a16:creationId xmlns:a16="http://schemas.microsoft.com/office/drawing/2014/main" id="{0C7D89D4-D0C8-4DAF-B319-BFC8B3E6FD82}"/>
              </a:ext>
            </a:extLst>
          </p:cNvPr>
          <p:cNvSpPr>
            <a:spLocks xmlns:a="http://schemas.openxmlformats.org/drawingml/2006/main" noGrp="1"/>
          </p:cNvSpPr>
          <p:nvPr/>
        </p:nvSpPr>
        <p:spPr>
          <a:xfrm xmlns:a="http://schemas.openxmlformats.org/drawingml/2006/main">
            <a:off x="762000" y="63531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FFFFFF"/>
                </a:solidFill>
                <a:latin typeface="Segoe UI"/>
                <a:ea typeface="Segoe UI"/>
                <a:cs typeface="Segoe UI"/>
              </a:defRPr>
            </a:pPr>
            <a:r>
              <a:rPr sz="2475" b="1">
                <a:solidFill>
                  <a:srgbClr val="FFFFFF"/>
                </a:solidFill>
                <a:latin typeface="Segoe UI"/>
                <a:ea typeface="Segoe UI"/>
                <a:cs typeface="Segoe UI"/>
              </a:rPr>
              <a:t>Yashu Gupta</a:t>
            </a:r>
          </a:p>
        </p:txBody>
      </p:sp>
      <p:sp>
        <p:nvSpPr>
          <p:cNvPr id="8" name="Agentic workflow / Internal retrieval / Research decisi">
            <a:extLst xmlns:a="http://schemas.openxmlformats.org/drawingml/2006/main">
              <a:ext uri="{FF2B5EF4-FFF2-40B4-BE49-F238E27FC236}">
                <a16:creationId xmlns:a16="http://schemas.microsoft.com/office/drawing/2014/main" id="{897B450B-EFEB-43D0-BB28-064B3229FD2D}"/>
              </a:ext>
            </a:extLst>
          </p:cNvPr>
          <p:cNvSpPr>
            <a:spLocks xmlns:a="http://schemas.openxmlformats.org/drawingml/2006/main" noGrp="1"/>
          </p:cNvSpPr>
          <p:nvPr/>
        </p:nvSpPr>
        <p:spPr>
          <a:xfrm xmlns:a="http://schemas.openxmlformats.org/drawingml/2006/main">
            <a:off x="762000" y="70294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D5C0"/>
                </a:solidFill>
                <a:latin typeface="Segoe UI"/>
                <a:ea typeface="Segoe UI"/>
                <a:cs typeface="Segoe UI"/>
              </a:defRPr>
            </a:pPr>
            <a:r>
              <a:rPr sz="1950" b="0">
                <a:solidFill>
                  <a:srgbClr val="71D5C0"/>
                </a:solidFill>
                <a:latin typeface="Segoe UI"/>
                <a:ea typeface="Segoe UI"/>
                <a:cs typeface="Segoe UI"/>
              </a:rPr>
              <a:t>Agentic workflow / Internal retrieval / Research decisions</a:t>
            </a:r>
          </a:p>
        </p:txBody>
      </p:sp>
    </p:spTree>
    <p:extLst>
      <p:ext uri="{BB962C8B-B14F-4D97-AF65-F5344CB8AC3E}">
        <p14:creationId xmlns:p14="http://schemas.microsoft.com/office/powerpoint/2010/main" val="17524261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USINESS PURPOSE">
            <a:extLst xmlns:a="http://schemas.openxmlformats.org/drawingml/2006/main">
              <a:ext uri="{FF2B5EF4-FFF2-40B4-BE49-F238E27FC236}">
                <a16:creationId xmlns:a16="http://schemas.microsoft.com/office/drawing/2014/main" id="{A4465DCB-66F0-4E09-ACC0-84F1A111CC04}"/>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BUSINESS PURPOSE</a:t>
            </a:r>
          </a:p>
        </p:txBody>
      </p:sp>
      <p:sp>
        <p:nvSpPr>
          <p:cNvPr id="2" name="The research decision and the case-study brief">
            <a:extLst xmlns:a="http://schemas.openxmlformats.org/drawingml/2006/main">
              <a:ext uri="{FF2B5EF4-FFF2-40B4-BE49-F238E27FC236}">
                <a16:creationId xmlns:a16="http://schemas.microsoft.com/office/drawing/2014/main" id="{8E9FC51A-ADB3-4DAD-A101-A7BAF3BC07CC}"/>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The research decision and the case-study brief</a:t>
            </a:r>
          </a:p>
        </p:txBody>
      </p:sp>
      <p:sp>
        <p:nvSpPr>
          <p:cNvPr id="3" name="">
            <a:extLst xmlns:a="http://schemas.openxmlformats.org/drawingml/2006/main">
              <a:ext uri="{FF2B5EF4-FFF2-40B4-BE49-F238E27FC236}">
                <a16:creationId xmlns:a16="http://schemas.microsoft.com/office/drawing/2014/main" id="{08C17765-FDFC-4269-B940-6925D12926CF}"/>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3E346A76-2881-4A71-8687-406463369DE0}"/>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2">
            <a:extLst xmlns:a="http://schemas.openxmlformats.org/drawingml/2006/main">
              <a:ext uri="{FF2B5EF4-FFF2-40B4-BE49-F238E27FC236}">
                <a16:creationId xmlns:a16="http://schemas.microsoft.com/office/drawing/2014/main" id="{214A463F-962A-4520-86EA-ABA83AF99AE6}"/>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02</a:t>
            </a:r>
          </a:p>
        </p:txBody>
      </p:sp>
      <p:sp>
        <p:nvSpPr>
          <p:cNvPr id="6" name="Where should we commission, refresh or maintain researc">
            <a:extLst xmlns:a="http://schemas.openxmlformats.org/drawingml/2006/main">
              <a:ext uri="{FF2B5EF4-FFF2-40B4-BE49-F238E27FC236}">
                <a16:creationId xmlns:a16="http://schemas.microsoft.com/office/drawing/2014/main" id="{956599C1-92CE-477E-8463-527E3AF119F8}"/>
              </a:ext>
            </a:extLst>
          </p:cNvPr>
          <p:cNvSpPr>
            <a:spLocks xmlns:a="http://schemas.openxmlformats.org/drawingml/2006/main" noGrp="1"/>
          </p:cNvSpPr>
          <p:nvPr/>
        </p:nvSpPr>
        <p:spPr>
          <a:xfrm xmlns:a="http://schemas.openxmlformats.org/drawingml/2006/main">
            <a:off x="762000" y="2343150"/>
            <a:ext cx="1371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007D82"/>
                </a:solidFill>
                <a:latin typeface="Segoe UI"/>
                <a:ea typeface="Segoe UI"/>
                <a:cs typeface="Segoe UI"/>
              </a:defRPr>
            </a:pPr>
            <a:r>
              <a:rPr sz="3000" b="1">
                <a:solidFill>
                  <a:srgbClr val="007D82"/>
                </a:solidFill>
                <a:latin typeface="Segoe UI"/>
                <a:ea typeface="Segoe UI"/>
                <a:cs typeface="Segoe UI"/>
              </a:rPr>
              <a:t>Where should we commission, refresh or maintain research?</a:t>
            </a:r>
          </a:p>
        </p:txBody>
      </p:sp>
      <p:graphicFrame>
        <p:nvGraphicFramePr>
          <p:cNvPr id="15" name=""/>
          <p:cNvGraphicFramePr/>
          <p:nvPr/>
        </p:nvGraphicFramePr>
        <p:xfrm>
          <a:off xmlns:a="http://schemas.openxmlformats.org/drawingml/2006/main" x="762000" y="3552825"/>
          <a:ext xmlns:a="http://schemas.openxmlformats.org/drawingml/2006/main" cx="13716000" cy="2886075"/>
        </p:xfrm>
        <a:graphic xmlns:a="http://schemas.openxmlformats.org/drawingml/2006/main">
          <a:graphicData uri="http://schemas.openxmlformats.org/drawingml/2006/table">
            <a:tbl>
              <a:tblPr/>
              <a:tblGrid>
                <a:gridCol w="6858000"/>
                <a:gridCol w="6858000"/>
              </a:tblGrid>
              <a:tr h="721519">
                <a:tc>
                  <a:txBody>
                    <a:bodyPr lIns="171450" tIns="123825" rIns="171450" bIns="114300">
                      <a:noAutofit/>
                    </a:bodyPr>
                    <a:lstStyle/>
                    <a:p>
                      <a:r>
                        <a:rPr sz="1800" b="1">
                          <a:solidFill>
                            <a:srgbClr val="FFFFFF"/>
                          </a:solidFill>
                          <a:latin typeface="Segoe UI"/>
                          <a:ea typeface="Segoe UI"/>
                          <a:cs typeface="Segoe UI"/>
                        </a:rPr>
                        <a:t>Research planning</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Client question answering</a:t>
                      </a:r>
                    </a:p>
                  </a:txBody>
                  <a:tcPr marL="91440" marR="91440" marT="45720" marB="45720">
                    <a:solidFill>
                      <a:srgbClr val="0B2238"/>
                    </a:solidFill>
                  </a:tcPr>
                </a:tc>
              </a:tr>
              <a:tr h="721519">
                <a:tc>
                  <a:txBody>
                    <a:bodyPr lIns="171450" tIns="123825" rIns="171450" bIns="114300">
                      <a:noAutofit/>
                    </a:bodyPr>
                    <a:lstStyle/>
                    <a:p>
                      <a:r>
                        <a:rPr sz="2100" b="1">
                          <a:solidFill>
                            <a:srgbClr val="102C43"/>
                          </a:solidFill>
                          <a:latin typeface="Segoe UI"/>
                          <a:ea typeface="Segoe UI"/>
                          <a:cs typeface="Segoe UI"/>
                        </a:rPr>
                        <a:t>Public signals reveal emerging themes</a:t>
                      </a:r>
                    </a:p>
                  </a:txBody>
                  <a:tcPr marL="91440" marR="91440" marT="45720" marB="45720">
                    <a:solidFill>
                      <a:srgbClr val="F5F8FB"/>
                    </a:solidFill>
                  </a:tcPr>
                </a:tc>
                <a:tc>
                  <a:txBody>
                    <a:bodyPr lIns="171450" tIns="123825" rIns="171450" bIns="114300">
                      <a:noAutofit/>
                    </a:bodyPr>
                    <a:lstStyle/>
                    <a:p>
                      <a:r>
                        <a:rPr sz="2100" b="0">
                          <a:solidFill>
                            <a:srgbClr val="102C43"/>
                          </a:solidFill>
                          <a:latin typeface="Segoe UI"/>
                          <a:ea typeface="Segoe UI"/>
                          <a:cs typeface="Segoe UI"/>
                        </a:rPr>
                        <a:t>Internal retrieval finds relevant passages</a:t>
                      </a:r>
                    </a:p>
                  </a:txBody>
                  <a:tcPr marL="91440" marR="91440" marT="45720" marB="45720">
                    <a:solidFill>
                      <a:srgbClr val="F5F8FB"/>
                    </a:solidFill>
                  </a:tcPr>
                </a:tc>
              </a:tr>
              <a:tr h="721519">
                <a:tc>
                  <a:txBody>
                    <a:bodyPr lIns="171450" tIns="123825" rIns="171450" bIns="114300">
                      <a:noAutofit/>
                    </a:bodyPr>
                    <a:lstStyle/>
                    <a:p>
                      <a:r>
                        <a:rPr sz="2100" b="1">
                          <a:solidFill>
                            <a:srgbClr val="102C43"/>
                          </a:solidFill>
                          <a:latin typeface="Segoe UI"/>
                          <a:ea typeface="Segoe UI"/>
                          <a:cs typeface="Segoe UI"/>
                        </a:rPr>
                        <a:t>Coverage and gaps rank possible work</a:t>
                      </a:r>
                    </a:p>
                  </a:txBody>
                  <a:tcPr marL="91440" marR="91440" marT="45720" marB="45720">
                    <a:solidFill>
                      <a:srgbClr val="FFFFFF"/>
                    </a:solidFill>
                  </a:tcPr>
                </a:tc>
                <a:tc>
                  <a:txBody>
                    <a:bodyPr lIns="171450" tIns="123825" rIns="171450" bIns="114300">
                      <a:noAutofit/>
                    </a:bodyPr>
                    <a:lstStyle/>
                    <a:p>
                      <a:r>
                        <a:rPr sz="2100" b="0">
                          <a:solidFill>
                            <a:srgbClr val="102C43"/>
                          </a:solidFill>
                          <a:latin typeface="Segoe UI"/>
                          <a:ea typeface="Segoe UI"/>
                          <a:cs typeface="Segoe UI"/>
                        </a:rPr>
                        <a:t>Citations connect claims to research notes</a:t>
                      </a:r>
                    </a:p>
                  </a:txBody>
                  <a:tcPr marL="91440" marR="91440" marT="45720" marB="45720">
                    <a:solidFill>
                      <a:srgbClr val="FFFFFF"/>
                    </a:solidFill>
                  </a:tcPr>
                </a:tc>
              </a:tr>
              <a:tr h="721519">
                <a:tc>
                  <a:txBody>
                    <a:bodyPr lIns="171450" tIns="123825" rIns="171450" bIns="114300">
                      <a:noAutofit/>
                    </a:bodyPr>
                    <a:lstStyle/>
                    <a:p>
                      <a:r>
                        <a:rPr sz="2100" b="1">
                          <a:solidFill>
                            <a:srgbClr val="102C43"/>
                          </a:solidFill>
                          <a:latin typeface="Segoe UI"/>
                          <a:ea typeface="Segoe UI"/>
                          <a:cs typeface="Segoe UI"/>
                        </a:rPr>
                        <a:t>A knowledge graph exposes relationships</a:t>
                      </a:r>
                    </a:p>
                  </a:txBody>
                  <a:tcPr marL="91440" marR="91440" marT="45720" marB="45720">
                    <a:solidFill>
                      <a:srgbClr val="F5F8FB"/>
                    </a:solidFill>
                  </a:tcPr>
                </a:tc>
                <a:tc>
                  <a:txBody>
                    <a:bodyPr lIns="171450" tIns="123825" rIns="171450" bIns="114300">
                      <a:noAutofit/>
                    </a:bodyPr>
                    <a:lstStyle/>
                    <a:p>
                      <a:r>
                        <a:rPr sz="2100" b="0">
                          <a:solidFill>
                            <a:srgbClr val="102C43"/>
                          </a:solidFill>
                          <a:latin typeface="Segoe UI"/>
                          <a:ea typeface="Segoe UI"/>
                          <a:cs typeface="Segoe UI"/>
                        </a:rPr>
                        <a:t>Support review flags unsupported claims</a:t>
                      </a:r>
                    </a:p>
                  </a:txBody>
                  <a:tcPr marL="91440" marR="91440" marT="45720" marB="45720">
                    <a:solidFill>
                      <a:srgbClr val="F5F8FB"/>
                    </a:solidFill>
                  </a:tcPr>
                </a:tc>
              </a:tr>
            </a:tbl>
          </a:graphicData>
        </a:graphic>
      </p:graphicFrame>
      <p:sp>
        <p:nvSpPr>
          <p:cNvPr id="8" name="LangGraph coordinates both routes. The simulated librar">
            <a:extLst xmlns:a="http://schemas.openxmlformats.org/drawingml/2006/main">
              <a:ext uri="{FF2B5EF4-FFF2-40B4-BE49-F238E27FC236}">
                <a16:creationId xmlns:a16="http://schemas.microsoft.com/office/drawing/2014/main" id="{CD43F3D9-963B-4F06-A1E6-D316A1E8BD3D}"/>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LangGraph coordinates both routes. The simulated library defines the boundary of what the assistant knows.</a:t>
            </a:r>
          </a:p>
        </p:txBody>
      </p:sp>
    </p:spTree>
    <p:extLst>
      <p:ext uri="{BB962C8B-B14F-4D97-AF65-F5344CB8AC3E}">
        <p14:creationId xmlns:p14="http://schemas.microsoft.com/office/powerpoint/2010/main" val="6344065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YSTEM DESIGN">
            <a:extLst xmlns:a="http://schemas.openxmlformats.org/drawingml/2006/main">
              <a:ext uri="{FF2B5EF4-FFF2-40B4-BE49-F238E27FC236}">
                <a16:creationId xmlns:a16="http://schemas.microsoft.com/office/drawing/2014/main" id="{6657569E-2D94-4BFF-9C14-09AFE2C6AA4C}"/>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SYSTEM DESIGN</a:t>
            </a:r>
          </a:p>
        </p:txBody>
      </p:sp>
      <p:sp>
        <p:nvSpPr>
          <p:cNvPr id="2" name="Architecture: setup and a live request">
            <a:extLst xmlns:a="http://schemas.openxmlformats.org/drawingml/2006/main">
              <a:ext uri="{FF2B5EF4-FFF2-40B4-BE49-F238E27FC236}">
                <a16:creationId xmlns:a16="http://schemas.microsoft.com/office/drawing/2014/main" id="{5B652003-6EE2-4B37-8B6B-1229F21935A9}"/>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Architecture: setup and a live request</a:t>
            </a:r>
          </a:p>
        </p:txBody>
      </p:sp>
      <p:sp>
        <p:nvSpPr>
          <p:cNvPr id="3" name="">
            <a:extLst xmlns:a="http://schemas.openxmlformats.org/drawingml/2006/main">
              <a:ext uri="{FF2B5EF4-FFF2-40B4-BE49-F238E27FC236}">
                <a16:creationId xmlns:a16="http://schemas.microsoft.com/office/drawing/2014/main" id="{782F6116-D77E-4CDE-BDB6-F3E8E49251B3}"/>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47DE7855-CA51-4DC0-B8F3-D4F7E4B2A5A1}"/>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3">
            <a:extLst xmlns:a="http://schemas.openxmlformats.org/drawingml/2006/main">
              <a:ext uri="{FF2B5EF4-FFF2-40B4-BE49-F238E27FC236}">
                <a16:creationId xmlns:a16="http://schemas.microsoft.com/office/drawing/2014/main" id="{6F7B48D3-D8C9-4680-AE8B-927BE99A7A28}"/>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03</a:t>
            </a:r>
          </a:p>
        </p:txBody>
      </p:sp>
      <p:sp>
        <p:nvSpPr>
          <p:cNvPr id="6" name="SETUP: PREPARE THE INTERNAL LIBRARY">
            <a:extLst xmlns:a="http://schemas.openxmlformats.org/drawingml/2006/main">
              <a:ext uri="{FF2B5EF4-FFF2-40B4-BE49-F238E27FC236}">
                <a16:creationId xmlns:a16="http://schemas.microsoft.com/office/drawing/2014/main" id="{10CF215B-0CDD-415A-97B9-9EF6D35A970E}"/>
              </a:ext>
            </a:extLst>
          </p:cNvPr>
          <p:cNvSpPr>
            <a:spLocks xmlns:a="http://schemas.openxmlformats.org/drawingml/2006/main" noGrp="1"/>
          </p:cNvSpPr>
          <p:nvPr/>
        </p:nvSpPr>
        <p:spPr>
          <a:xfrm xmlns:a="http://schemas.openxmlformats.org/drawingml/2006/main">
            <a:off x="762000" y="2295525"/>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SETUP: PREPARE THE INTERNAL LIBRARY</a:t>
            </a:r>
          </a:p>
        </p:txBody>
      </p:sp>
      <p:sp>
        <p:nvSpPr>
          <p:cNvPr id="7" name="">
            <a:extLst xmlns:a="http://schemas.openxmlformats.org/drawingml/2006/main">
              <a:ext uri="{FF2B5EF4-FFF2-40B4-BE49-F238E27FC236}">
                <a16:creationId xmlns:a16="http://schemas.microsoft.com/office/drawing/2014/main" id="{A9B4D33C-F15D-40D0-B4AF-28E4F7BF7E70}"/>
              </a:ext>
            </a:extLst>
          </p:cNvPr>
          <p:cNvSpPr>
            <a:spLocks xmlns:a="http://schemas.openxmlformats.org/drawingml/2006/main" noGrp="1"/>
          </p:cNvSpPr>
          <p:nvPr/>
        </p:nvSpPr>
        <p:spPr>
          <a:xfrm xmlns:a="http://schemas.openxmlformats.org/drawingml/2006/main">
            <a:off x="762000" y="2838450"/>
            <a:ext cx="4318000" cy="16287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8" name="Research documents">
            <a:extLst xmlns:a="http://schemas.openxmlformats.org/drawingml/2006/main">
              <a:ext uri="{FF2B5EF4-FFF2-40B4-BE49-F238E27FC236}">
                <a16:creationId xmlns:a16="http://schemas.microsoft.com/office/drawing/2014/main" id="{8BE113EF-5F01-4AA3-9BCE-E758AF25B8C0}"/>
              </a:ext>
            </a:extLst>
          </p:cNvPr>
          <p:cNvSpPr>
            <a:spLocks xmlns:a="http://schemas.openxmlformats.org/drawingml/2006/main" noGrp="1"/>
          </p:cNvSpPr>
          <p:nvPr/>
        </p:nvSpPr>
        <p:spPr>
          <a:xfrm xmlns:a="http://schemas.openxmlformats.org/drawingml/2006/main">
            <a:off x="952500" y="305752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Research documents</a:t>
            </a:r>
          </a:p>
        </p:txBody>
      </p:sp>
      <p:sp>
        <p:nvSpPr>
          <p:cNvPr id="9" name="Text, dates and stable IDs">
            <a:extLst xmlns:a="http://schemas.openxmlformats.org/drawingml/2006/main">
              <a:ext uri="{FF2B5EF4-FFF2-40B4-BE49-F238E27FC236}">
                <a16:creationId xmlns:a16="http://schemas.microsoft.com/office/drawing/2014/main" id="{D58DC0D1-F5C4-48F2-B5B8-9B02007B725D}"/>
              </a:ext>
            </a:extLst>
          </p:cNvPr>
          <p:cNvSpPr>
            <a:spLocks xmlns:a="http://schemas.openxmlformats.org/drawingml/2006/main" noGrp="1"/>
          </p:cNvSpPr>
          <p:nvPr/>
        </p:nvSpPr>
        <p:spPr>
          <a:xfrm xmlns:a="http://schemas.openxmlformats.org/drawingml/2006/main">
            <a:off x="952500" y="3781425"/>
            <a:ext cx="393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Text, dates and stable IDs</a:t>
            </a:r>
          </a:p>
        </p:txBody>
      </p:sp>
      <p:sp>
        <p:nvSpPr>
          <p:cNvPr id="10" name="">
            <a:extLst xmlns:a="http://schemas.openxmlformats.org/drawingml/2006/main">
              <a:ext uri="{FF2B5EF4-FFF2-40B4-BE49-F238E27FC236}">
                <a16:creationId xmlns:a16="http://schemas.microsoft.com/office/drawing/2014/main" id="{1F5B134B-A0B1-48E5-B90D-11DFB5B719F9}"/>
              </a:ext>
            </a:extLst>
          </p:cNvPr>
          <p:cNvSpPr>
            <a:spLocks xmlns:a="http://schemas.openxmlformats.org/drawingml/2006/main" noGrp="1"/>
          </p:cNvSpPr>
          <p:nvPr/>
        </p:nvSpPr>
        <p:spPr>
          <a:xfrm xmlns:a="http://schemas.openxmlformats.org/drawingml/2006/main">
            <a:off x="5461000" y="2838450"/>
            <a:ext cx="4318000" cy="16287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Chunk + embed">
            <a:extLst xmlns:a="http://schemas.openxmlformats.org/drawingml/2006/main">
              <a:ext uri="{FF2B5EF4-FFF2-40B4-BE49-F238E27FC236}">
                <a16:creationId xmlns:a16="http://schemas.microsoft.com/office/drawing/2014/main" id="{3FED038F-CC19-4C70-BF7E-E55794748A7D}"/>
              </a:ext>
            </a:extLst>
          </p:cNvPr>
          <p:cNvSpPr>
            <a:spLocks xmlns:a="http://schemas.openxmlformats.org/drawingml/2006/main" noGrp="1"/>
          </p:cNvSpPr>
          <p:nvPr/>
        </p:nvSpPr>
        <p:spPr>
          <a:xfrm xmlns:a="http://schemas.openxmlformats.org/drawingml/2006/main">
            <a:off x="5651500" y="305752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Chunk + embed</a:t>
            </a:r>
          </a:p>
        </p:txBody>
      </p:sp>
      <p:sp>
        <p:nvSpPr>
          <p:cNvPr id="12" name="~130 words, 25-word overlap">
            <a:extLst xmlns:a="http://schemas.openxmlformats.org/drawingml/2006/main">
              <a:ext uri="{FF2B5EF4-FFF2-40B4-BE49-F238E27FC236}">
                <a16:creationId xmlns:a16="http://schemas.microsoft.com/office/drawing/2014/main" id="{4B6255B3-C4B1-4BD8-9C3E-9862878158A4}"/>
              </a:ext>
            </a:extLst>
          </p:cNvPr>
          <p:cNvSpPr>
            <a:spLocks xmlns:a="http://schemas.openxmlformats.org/drawingml/2006/main" noGrp="1"/>
          </p:cNvSpPr>
          <p:nvPr/>
        </p:nvSpPr>
        <p:spPr>
          <a:xfrm xmlns:a="http://schemas.openxmlformats.org/drawingml/2006/main">
            <a:off x="5651500" y="3781425"/>
            <a:ext cx="393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~130 words, 25-word overlap</a:t>
            </a:r>
          </a:p>
        </p:txBody>
      </p:sp>
      <p:cxnSp>
        <p:nvCxnSpPr>
          <p:cNvPr id="47" name=""/>
          <p:cNvCxnSpPr>
            <a:stCxn xmlns:a="http://schemas.openxmlformats.org/drawingml/2006/main" id="7" idx="3"/>
            <a:endCxn xmlns:a="http://schemas.openxmlformats.org/drawingml/2006/main" id="10" idx="1"/>
          </p:cNvCxnSpPr>
          <p:nvPr/>
        </p:nvCxnSpPr>
        <p:spPr>
          <a:xfrm xmlns:a="http://schemas.openxmlformats.org/drawingml/2006/main">
            <a:off x="5080000" y="365283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4" name="">
            <a:extLst xmlns:a="http://schemas.openxmlformats.org/drawingml/2006/main">
              <a:ext uri="{FF2B5EF4-FFF2-40B4-BE49-F238E27FC236}">
                <a16:creationId xmlns:a16="http://schemas.microsoft.com/office/drawing/2014/main" id="{5812DF96-3168-4E3D-A54E-1D4814EB4044}"/>
              </a:ext>
            </a:extLst>
          </p:cNvPr>
          <p:cNvSpPr>
            <a:spLocks xmlns:a="http://schemas.openxmlformats.org/drawingml/2006/main" noGrp="1"/>
          </p:cNvSpPr>
          <p:nvPr/>
        </p:nvSpPr>
        <p:spPr>
          <a:xfrm xmlns:a="http://schemas.openxmlformats.org/drawingml/2006/main">
            <a:off x="10160000" y="2838450"/>
            <a:ext cx="4318000" cy="16287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5" name="FAISS + SQLite">
            <a:extLst xmlns:a="http://schemas.openxmlformats.org/drawingml/2006/main">
              <a:ext uri="{FF2B5EF4-FFF2-40B4-BE49-F238E27FC236}">
                <a16:creationId xmlns:a16="http://schemas.microsoft.com/office/drawing/2014/main" id="{D638EF75-5F0A-4EBE-9429-E338B4808445}"/>
              </a:ext>
            </a:extLst>
          </p:cNvPr>
          <p:cNvSpPr>
            <a:spLocks xmlns:a="http://schemas.openxmlformats.org/drawingml/2006/main" noGrp="1"/>
          </p:cNvSpPr>
          <p:nvPr/>
        </p:nvSpPr>
        <p:spPr>
          <a:xfrm xmlns:a="http://schemas.openxmlformats.org/drawingml/2006/main">
            <a:off x="10350500" y="305752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FAISS + SQLite</a:t>
            </a:r>
          </a:p>
        </p:txBody>
      </p:sp>
      <p:sp>
        <p:nvSpPr>
          <p:cNvPr id="16" name="Vectors, passages and ID map">
            <a:extLst xmlns:a="http://schemas.openxmlformats.org/drawingml/2006/main">
              <a:ext uri="{FF2B5EF4-FFF2-40B4-BE49-F238E27FC236}">
                <a16:creationId xmlns:a16="http://schemas.microsoft.com/office/drawing/2014/main" id="{69397F33-9D29-4013-B151-AD0A99F467D3}"/>
              </a:ext>
            </a:extLst>
          </p:cNvPr>
          <p:cNvSpPr>
            <a:spLocks xmlns:a="http://schemas.openxmlformats.org/drawingml/2006/main" noGrp="1"/>
          </p:cNvSpPr>
          <p:nvPr/>
        </p:nvSpPr>
        <p:spPr>
          <a:xfrm xmlns:a="http://schemas.openxmlformats.org/drawingml/2006/main">
            <a:off x="10350500" y="3781425"/>
            <a:ext cx="393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Vectors, passages and ID map</a:t>
            </a:r>
          </a:p>
        </p:txBody>
      </p:sp>
      <p:cxnSp>
        <p:nvCxnSpPr>
          <p:cNvPr id="51" name=""/>
          <p:cNvCxnSpPr>
            <a:stCxn xmlns:a="http://schemas.openxmlformats.org/drawingml/2006/main" id="10" idx="3"/>
            <a:endCxn xmlns:a="http://schemas.openxmlformats.org/drawingml/2006/main" id="14" idx="1"/>
          </p:cNvCxnSpPr>
          <p:nvPr/>
        </p:nvCxnSpPr>
        <p:spPr>
          <a:xfrm xmlns:a="http://schemas.openxmlformats.org/drawingml/2006/main">
            <a:off x="9779000" y="365283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8" name="INFERENCE: ONE QUESTION FROM THE UI">
            <a:extLst xmlns:a="http://schemas.openxmlformats.org/drawingml/2006/main">
              <a:ext uri="{FF2B5EF4-FFF2-40B4-BE49-F238E27FC236}">
                <a16:creationId xmlns:a16="http://schemas.microsoft.com/office/drawing/2014/main" id="{5E93D064-9E8E-421E-BBE0-07435481BEEC}"/>
              </a:ext>
            </a:extLst>
          </p:cNvPr>
          <p:cNvSpPr>
            <a:spLocks xmlns:a="http://schemas.openxmlformats.org/drawingml/2006/main" noGrp="1"/>
          </p:cNvSpPr>
          <p:nvPr/>
        </p:nvSpPr>
        <p:spPr>
          <a:xfrm xmlns:a="http://schemas.openxmlformats.org/drawingml/2006/main">
            <a:off x="762000" y="4943475"/>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INFERENCE: ONE QUESTION FROM THE UI</a:t>
            </a:r>
          </a:p>
        </p:txBody>
      </p:sp>
      <p:sp>
        <p:nvSpPr>
          <p:cNvPr id="19" name="">
            <a:extLst xmlns:a="http://schemas.openxmlformats.org/drawingml/2006/main">
              <a:ext uri="{FF2B5EF4-FFF2-40B4-BE49-F238E27FC236}">
                <a16:creationId xmlns:a16="http://schemas.microsoft.com/office/drawing/2014/main" id="{11D622D1-D90F-468C-95E6-5DA272999285}"/>
              </a:ext>
            </a:extLst>
          </p:cNvPr>
          <p:cNvSpPr>
            <a:spLocks xmlns:a="http://schemas.openxmlformats.org/drawingml/2006/main" noGrp="1"/>
          </p:cNvSpPr>
          <p:nvPr/>
        </p:nvSpPr>
        <p:spPr>
          <a:xfrm xmlns:a="http://schemas.openxmlformats.org/drawingml/2006/main">
            <a:off x="762000" y="5448300"/>
            <a:ext cx="3143250" cy="16859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0" name="React UI">
            <a:extLst xmlns:a="http://schemas.openxmlformats.org/drawingml/2006/main">
              <a:ext uri="{FF2B5EF4-FFF2-40B4-BE49-F238E27FC236}">
                <a16:creationId xmlns:a16="http://schemas.microsoft.com/office/drawing/2014/main" id="{24268C16-72B5-4FBF-8C8B-3832F787D0C8}"/>
              </a:ext>
            </a:extLst>
          </p:cNvPr>
          <p:cNvSpPr>
            <a:spLocks xmlns:a="http://schemas.openxmlformats.org/drawingml/2006/main" noGrp="1"/>
          </p:cNvSpPr>
          <p:nvPr/>
        </p:nvSpPr>
        <p:spPr>
          <a:xfrm xmlns:a="http://schemas.openxmlformats.org/drawingml/2006/main">
            <a:off x="952500" y="5667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React UI</a:t>
            </a:r>
          </a:p>
        </p:txBody>
      </p:sp>
      <p:sp>
        <p:nvSpPr>
          <p:cNvPr id="21" name="Question and selected mode">
            <a:extLst xmlns:a="http://schemas.openxmlformats.org/drawingml/2006/main">
              <a:ext uri="{FF2B5EF4-FFF2-40B4-BE49-F238E27FC236}">
                <a16:creationId xmlns:a16="http://schemas.microsoft.com/office/drawing/2014/main" id="{87BD8E63-73A0-4F73-94D7-1A0924C20CBE}"/>
              </a:ext>
            </a:extLst>
          </p:cNvPr>
          <p:cNvSpPr>
            <a:spLocks xmlns:a="http://schemas.openxmlformats.org/drawingml/2006/main" noGrp="1"/>
          </p:cNvSpPr>
          <p:nvPr/>
        </p:nvSpPr>
        <p:spPr>
          <a:xfrm xmlns:a="http://schemas.openxmlformats.org/drawingml/2006/main">
            <a:off x="952500" y="63912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Question and selected mode</a:t>
            </a:r>
          </a:p>
        </p:txBody>
      </p:sp>
      <p:sp>
        <p:nvSpPr>
          <p:cNvPr id="22" name="">
            <a:extLst xmlns:a="http://schemas.openxmlformats.org/drawingml/2006/main">
              <a:ext uri="{FF2B5EF4-FFF2-40B4-BE49-F238E27FC236}">
                <a16:creationId xmlns:a16="http://schemas.microsoft.com/office/drawing/2014/main" id="{CFEEBA5A-3CEF-4B6F-AC22-B4F91AE37FC9}"/>
              </a:ext>
            </a:extLst>
          </p:cNvPr>
          <p:cNvSpPr>
            <a:spLocks xmlns:a="http://schemas.openxmlformats.org/drawingml/2006/main" noGrp="1"/>
          </p:cNvSpPr>
          <p:nvPr/>
        </p:nvSpPr>
        <p:spPr>
          <a:xfrm xmlns:a="http://schemas.openxmlformats.org/drawingml/2006/main">
            <a:off x="4286250" y="5448300"/>
            <a:ext cx="3143250" cy="16859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3" name="FastAPI">
            <a:extLst xmlns:a="http://schemas.openxmlformats.org/drawingml/2006/main">
              <a:ext uri="{FF2B5EF4-FFF2-40B4-BE49-F238E27FC236}">
                <a16:creationId xmlns:a16="http://schemas.microsoft.com/office/drawing/2014/main" id="{6F38E891-AF03-4C17-AA87-9957FA4E42C7}"/>
              </a:ext>
            </a:extLst>
          </p:cNvPr>
          <p:cNvSpPr>
            <a:spLocks xmlns:a="http://schemas.openxmlformats.org/drawingml/2006/main" noGrp="1"/>
          </p:cNvSpPr>
          <p:nvPr/>
        </p:nvSpPr>
        <p:spPr>
          <a:xfrm xmlns:a="http://schemas.openxmlformats.org/drawingml/2006/main">
            <a:off x="4476750" y="5667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FastAPI</a:t>
            </a:r>
          </a:p>
        </p:txBody>
      </p:sp>
      <p:sp>
        <p:nvSpPr>
          <p:cNvPr id="24" name="Validate HTTP request">
            <a:extLst xmlns:a="http://schemas.openxmlformats.org/drawingml/2006/main">
              <a:ext uri="{FF2B5EF4-FFF2-40B4-BE49-F238E27FC236}">
                <a16:creationId xmlns:a16="http://schemas.microsoft.com/office/drawing/2014/main" id="{316DF098-9503-4E6F-91C1-DE843F92AE5E}"/>
              </a:ext>
            </a:extLst>
          </p:cNvPr>
          <p:cNvSpPr>
            <a:spLocks xmlns:a="http://schemas.openxmlformats.org/drawingml/2006/main" noGrp="1"/>
          </p:cNvSpPr>
          <p:nvPr/>
        </p:nvSpPr>
        <p:spPr>
          <a:xfrm xmlns:a="http://schemas.openxmlformats.org/drawingml/2006/main">
            <a:off x="4476750" y="63912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Validate HTTP request</a:t>
            </a:r>
          </a:p>
        </p:txBody>
      </p:sp>
      <p:cxnSp>
        <p:nvCxnSpPr>
          <p:cNvPr id="59" name=""/>
          <p:cNvCxnSpPr>
            <a:stCxn xmlns:a="http://schemas.openxmlformats.org/drawingml/2006/main" id="19" idx="3"/>
            <a:endCxn xmlns:a="http://schemas.openxmlformats.org/drawingml/2006/main" id="22" idx="1"/>
          </p:cNvCxnSpPr>
          <p:nvPr/>
        </p:nvCxnSpPr>
        <p:spPr>
          <a:xfrm xmlns:a="http://schemas.openxmlformats.org/drawingml/2006/main">
            <a:off x="3905250" y="6291263"/>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6" name="">
            <a:extLst xmlns:a="http://schemas.openxmlformats.org/drawingml/2006/main">
              <a:ext uri="{FF2B5EF4-FFF2-40B4-BE49-F238E27FC236}">
                <a16:creationId xmlns:a16="http://schemas.microsoft.com/office/drawing/2014/main" id="{6CDBFA89-3029-47C4-ACC2-C721468F9E07}"/>
              </a:ext>
            </a:extLst>
          </p:cNvPr>
          <p:cNvSpPr>
            <a:spLocks xmlns:a="http://schemas.openxmlformats.org/drawingml/2006/main" noGrp="1"/>
          </p:cNvSpPr>
          <p:nvPr/>
        </p:nvSpPr>
        <p:spPr>
          <a:xfrm xmlns:a="http://schemas.openxmlformats.org/drawingml/2006/main">
            <a:off x="7810500" y="5448300"/>
            <a:ext cx="3143250" cy="16859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7" name="LangGraph">
            <a:extLst xmlns:a="http://schemas.openxmlformats.org/drawingml/2006/main">
              <a:ext uri="{FF2B5EF4-FFF2-40B4-BE49-F238E27FC236}">
                <a16:creationId xmlns:a16="http://schemas.microsoft.com/office/drawing/2014/main" id="{95E440D9-1ABD-44EA-88C5-ABD8AE0ECBC6}"/>
              </a:ext>
            </a:extLst>
          </p:cNvPr>
          <p:cNvSpPr>
            <a:spLocks xmlns:a="http://schemas.openxmlformats.org/drawingml/2006/main" noGrp="1"/>
          </p:cNvSpPr>
          <p:nvPr/>
        </p:nvSpPr>
        <p:spPr>
          <a:xfrm xmlns:a="http://schemas.openxmlformats.org/drawingml/2006/main">
            <a:off x="8001000" y="5667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LangGraph</a:t>
            </a:r>
          </a:p>
        </p:txBody>
      </p:sp>
      <p:sp>
        <p:nvSpPr>
          <p:cNvPr id="28" name="Agents read shared state">
            <a:extLst xmlns:a="http://schemas.openxmlformats.org/drawingml/2006/main">
              <a:ext uri="{FF2B5EF4-FFF2-40B4-BE49-F238E27FC236}">
                <a16:creationId xmlns:a16="http://schemas.microsoft.com/office/drawing/2014/main" id="{8EF4C00B-B7DC-4DCB-9B76-D96604FCB318}"/>
              </a:ext>
            </a:extLst>
          </p:cNvPr>
          <p:cNvSpPr>
            <a:spLocks xmlns:a="http://schemas.openxmlformats.org/drawingml/2006/main" noGrp="1"/>
          </p:cNvSpPr>
          <p:nvPr/>
        </p:nvSpPr>
        <p:spPr>
          <a:xfrm xmlns:a="http://schemas.openxmlformats.org/drawingml/2006/main">
            <a:off x="8001000" y="63912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Agents read shared state</a:t>
            </a:r>
          </a:p>
        </p:txBody>
      </p:sp>
      <p:cxnSp>
        <p:nvCxnSpPr>
          <p:cNvPr id="63" name=""/>
          <p:cNvCxnSpPr>
            <a:stCxn xmlns:a="http://schemas.openxmlformats.org/drawingml/2006/main" id="22" idx="3"/>
            <a:endCxn xmlns:a="http://schemas.openxmlformats.org/drawingml/2006/main" id="26" idx="1"/>
          </p:cNvCxnSpPr>
          <p:nvPr/>
        </p:nvCxnSpPr>
        <p:spPr>
          <a:xfrm xmlns:a="http://schemas.openxmlformats.org/drawingml/2006/main">
            <a:off x="7429500" y="6291263"/>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30" name="">
            <a:extLst xmlns:a="http://schemas.openxmlformats.org/drawingml/2006/main">
              <a:ext uri="{FF2B5EF4-FFF2-40B4-BE49-F238E27FC236}">
                <a16:creationId xmlns:a16="http://schemas.microsoft.com/office/drawing/2014/main" id="{45F742FD-750F-4A63-8C68-5D9479FB8DA7}"/>
              </a:ext>
            </a:extLst>
          </p:cNvPr>
          <p:cNvSpPr>
            <a:spLocks xmlns:a="http://schemas.openxmlformats.org/drawingml/2006/main" noGrp="1"/>
          </p:cNvSpPr>
          <p:nvPr/>
        </p:nvSpPr>
        <p:spPr>
          <a:xfrm xmlns:a="http://schemas.openxmlformats.org/drawingml/2006/main">
            <a:off x="11334750" y="5448300"/>
            <a:ext cx="3143250" cy="16859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1" name="UI + saved run">
            <a:extLst xmlns:a="http://schemas.openxmlformats.org/drawingml/2006/main">
              <a:ext uri="{FF2B5EF4-FFF2-40B4-BE49-F238E27FC236}">
                <a16:creationId xmlns:a16="http://schemas.microsoft.com/office/drawing/2014/main" id="{8B5A6FB8-DC37-4F03-96A8-BD2BF6D10827}"/>
              </a:ext>
            </a:extLst>
          </p:cNvPr>
          <p:cNvSpPr>
            <a:spLocks xmlns:a="http://schemas.openxmlformats.org/drawingml/2006/main" noGrp="1"/>
          </p:cNvSpPr>
          <p:nvPr/>
        </p:nvSpPr>
        <p:spPr>
          <a:xfrm xmlns:a="http://schemas.openxmlformats.org/drawingml/2006/main">
            <a:off x="11525250" y="5667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UI + saved run</a:t>
            </a:r>
          </a:p>
        </p:txBody>
      </p:sp>
      <p:sp>
        <p:nvSpPr>
          <p:cNvPr id="32" name="SSE events and DB snapshot">
            <a:extLst xmlns:a="http://schemas.openxmlformats.org/drawingml/2006/main">
              <a:ext uri="{FF2B5EF4-FFF2-40B4-BE49-F238E27FC236}">
                <a16:creationId xmlns:a16="http://schemas.microsoft.com/office/drawing/2014/main" id="{43BCBFD8-2024-459A-A02B-2979563A3907}"/>
              </a:ext>
            </a:extLst>
          </p:cNvPr>
          <p:cNvSpPr>
            <a:spLocks xmlns:a="http://schemas.openxmlformats.org/drawingml/2006/main" noGrp="1"/>
          </p:cNvSpPr>
          <p:nvPr/>
        </p:nvSpPr>
        <p:spPr>
          <a:xfrm xmlns:a="http://schemas.openxmlformats.org/drawingml/2006/main">
            <a:off x="11525250" y="63912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SSE events and DB snapshot</a:t>
            </a:r>
          </a:p>
        </p:txBody>
      </p:sp>
      <p:cxnSp>
        <p:nvCxnSpPr>
          <p:cNvPr id="67" name=""/>
          <p:cNvCxnSpPr>
            <a:stCxn xmlns:a="http://schemas.openxmlformats.org/drawingml/2006/main" id="26" idx="3"/>
            <a:endCxn xmlns:a="http://schemas.openxmlformats.org/drawingml/2006/main" id="30" idx="1"/>
          </p:cNvCxnSpPr>
          <p:nvPr/>
        </p:nvCxnSpPr>
        <p:spPr>
          <a:xfrm xmlns:a="http://schemas.openxmlformats.org/drawingml/2006/main">
            <a:off x="10953750" y="6291263"/>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34" name="Inference reuses the index. Tavily supplies public sign">
            <a:extLst xmlns:a="http://schemas.openxmlformats.org/drawingml/2006/main">
              <a:ext uri="{FF2B5EF4-FFF2-40B4-BE49-F238E27FC236}">
                <a16:creationId xmlns:a16="http://schemas.microsoft.com/office/drawing/2014/main" id="{6FA54BFC-E1D6-4AD3-B055-A5F1BE865D49}"/>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Inference reuses the index. Tavily supplies public signals, Gemini supplies model calls, NetworkX builds relationships.</a:t>
            </a:r>
          </a:p>
        </p:txBody>
      </p:sp>
    </p:spTree>
    <p:extLst>
      <p:ext uri="{BB962C8B-B14F-4D97-AF65-F5344CB8AC3E}">
        <p14:creationId xmlns:p14="http://schemas.microsoft.com/office/powerpoint/2010/main" val="18527688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NINE AGENTS, ONE SHARED STATE">
            <a:extLst xmlns:a="http://schemas.openxmlformats.org/drawingml/2006/main">
              <a:ext uri="{FF2B5EF4-FFF2-40B4-BE49-F238E27FC236}">
                <a16:creationId xmlns:a16="http://schemas.microsoft.com/office/drawing/2014/main" id="{15EE453A-F640-46EF-9CD2-BC12745B9C9D}"/>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NINE AGENTS, ONE SHARED STATE</a:t>
            </a:r>
          </a:p>
        </p:txBody>
      </p:sp>
      <p:sp>
        <p:nvSpPr>
          <p:cNvPr id="2" name="The market-scan workflow">
            <a:extLst xmlns:a="http://schemas.openxmlformats.org/drawingml/2006/main">
              <a:ext uri="{FF2B5EF4-FFF2-40B4-BE49-F238E27FC236}">
                <a16:creationId xmlns:a16="http://schemas.microsoft.com/office/drawing/2014/main" id="{333A694B-10D3-4A0C-8DBE-1D2B8BB12EB8}"/>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The market-scan workflow</a:t>
            </a:r>
          </a:p>
        </p:txBody>
      </p:sp>
      <p:sp>
        <p:nvSpPr>
          <p:cNvPr id="3" name="">
            <a:extLst xmlns:a="http://schemas.openxmlformats.org/drawingml/2006/main">
              <a:ext uri="{FF2B5EF4-FFF2-40B4-BE49-F238E27FC236}">
                <a16:creationId xmlns:a16="http://schemas.microsoft.com/office/drawing/2014/main" id="{5D686F24-F3E0-41E0-8902-C3C6DC3358FA}"/>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5BA891B7-F536-4BD4-95E1-3560C1E896DE}"/>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4">
            <a:extLst xmlns:a="http://schemas.openxmlformats.org/drawingml/2006/main">
              <a:ext uri="{FF2B5EF4-FFF2-40B4-BE49-F238E27FC236}">
                <a16:creationId xmlns:a16="http://schemas.microsoft.com/office/drawing/2014/main" id="{A6A5188E-ABCF-4D74-8D17-A29C85C84AA0}"/>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EA448675-0762-4ED0-AAF1-51276C33CC76}"/>
              </a:ext>
            </a:extLst>
          </p:cNvPr>
          <p:cNvSpPr>
            <a:spLocks xmlns:a="http://schemas.openxmlformats.org/drawingml/2006/main" noGrp="1"/>
          </p:cNvSpPr>
          <p:nvPr/>
        </p:nvSpPr>
        <p:spPr>
          <a:xfrm xmlns:a="http://schemas.openxmlformats.org/drawingml/2006/main">
            <a:off x="762000" y="233362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Planner">
            <a:extLst xmlns:a="http://schemas.openxmlformats.org/drawingml/2006/main">
              <a:ext uri="{FF2B5EF4-FFF2-40B4-BE49-F238E27FC236}">
                <a16:creationId xmlns:a16="http://schemas.microsoft.com/office/drawing/2014/main" id="{C85864C3-3ECB-4652-8676-7FB84F15F1FC}"/>
              </a:ext>
            </a:extLst>
          </p:cNvPr>
          <p:cNvSpPr>
            <a:spLocks xmlns:a="http://schemas.openxmlformats.org/drawingml/2006/main" noGrp="1"/>
          </p:cNvSpPr>
          <p:nvPr/>
        </p:nvSpPr>
        <p:spPr>
          <a:xfrm xmlns:a="http://schemas.openxmlformats.org/drawingml/2006/main">
            <a:off x="952500" y="25241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01 Planner</a:t>
            </a:r>
          </a:p>
        </p:txBody>
      </p:sp>
      <p:sp>
        <p:nvSpPr>
          <p:cNvPr id="8" name="Intent + search queries">
            <a:extLst xmlns:a="http://schemas.openxmlformats.org/drawingml/2006/main">
              <a:ext uri="{FF2B5EF4-FFF2-40B4-BE49-F238E27FC236}">
                <a16:creationId xmlns:a16="http://schemas.microsoft.com/office/drawing/2014/main" id="{269CD3B6-AF44-4C99-A7D3-D58B45F20E34}"/>
              </a:ext>
            </a:extLst>
          </p:cNvPr>
          <p:cNvSpPr>
            <a:spLocks xmlns:a="http://schemas.openxmlformats.org/drawingml/2006/main" noGrp="1"/>
          </p:cNvSpPr>
          <p:nvPr/>
        </p:nvSpPr>
        <p:spPr>
          <a:xfrm xmlns:a="http://schemas.openxmlformats.org/drawingml/2006/main">
            <a:off x="952500" y="30194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Intent + search queries</a:t>
            </a:r>
          </a:p>
        </p:txBody>
      </p:sp>
      <p:sp>
        <p:nvSpPr>
          <p:cNvPr id="9" name="">
            <a:extLst xmlns:a="http://schemas.openxmlformats.org/drawingml/2006/main">
              <a:ext uri="{FF2B5EF4-FFF2-40B4-BE49-F238E27FC236}">
                <a16:creationId xmlns:a16="http://schemas.microsoft.com/office/drawing/2014/main" id="{F106ED55-E731-49C2-8270-713311AE5F1C}"/>
              </a:ext>
            </a:extLst>
          </p:cNvPr>
          <p:cNvSpPr>
            <a:spLocks xmlns:a="http://schemas.openxmlformats.org/drawingml/2006/main" noGrp="1"/>
          </p:cNvSpPr>
          <p:nvPr/>
        </p:nvSpPr>
        <p:spPr>
          <a:xfrm xmlns:a="http://schemas.openxmlformats.org/drawingml/2006/main">
            <a:off x="5524500" y="233362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0" name="02 Scout">
            <a:extLst xmlns:a="http://schemas.openxmlformats.org/drawingml/2006/main">
              <a:ext uri="{FF2B5EF4-FFF2-40B4-BE49-F238E27FC236}">
                <a16:creationId xmlns:a16="http://schemas.microsoft.com/office/drawing/2014/main" id="{5FE47CB5-28EC-421A-88A4-B06A55D61C94}"/>
              </a:ext>
            </a:extLst>
          </p:cNvPr>
          <p:cNvSpPr>
            <a:spLocks xmlns:a="http://schemas.openxmlformats.org/drawingml/2006/main" noGrp="1"/>
          </p:cNvSpPr>
          <p:nvPr/>
        </p:nvSpPr>
        <p:spPr>
          <a:xfrm xmlns:a="http://schemas.openxmlformats.org/drawingml/2006/main">
            <a:off x="5715000" y="25241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02 Scout</a:t>
            </a:r>
          </a:p>
        </p:txBody>
      </p:sp>
      <p:sp>
        <p:nvSpPr>
          <p:cNvPr id="11" name="Unique article records">
            <a:extLst xmlns:a="http://schemas.openxmlformats.org/drawingml/2006/main">
              <a:ext uri="{FF2B5EF4-FFF2-40B4-BE49-F238E27FC236}">
                <a16:creationId xmlns:a16="http://schemas.microsoft.com/office/drawing/2014/main" id="{3C5A7471-85F6-4483-B9CA-40B59A777A3D}"/>
              </a:ext>
            </a:extLst>
          </p:cNvPr>
          <p:cNvSpPr>
            <a:spLocks xmlns:a="http://schemas.openxmlformats.org/drawingml/2006/main" noGrp="1"/>
          </p:cNvSpPr>
          <p:nvPr/>
        </p:nvSpPr>
        <p:spPr>
          <a:xfrm xmlns:a="http://schemas.openxmlformats.org/drawingml/2006/main">
            <a:off x="5715000" y="30194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Unique article records</a:t>
            </a:r>
          </a:p>
        </p:txBody>
      </p:sp>
      <p:cxnSp>
        <p:nvCxnSpPr>
          <p:cNvPr id="53" name=""/>
          <p:cNvCxnSpPr>
            <a:stCxn xmlns:a="http://schemas.openxmlformats.org/drawingml/2006/main" id="6" idx="3"/>
            <a:endCxn xmlns:a="http://schemas.openxmlformats.org/drawingml/2006/main" id="9" idx="1"/>
          </p:cNvCxnSpPr>
          <p:nvPr/>
        </p:nvCxnSpPr>
        <p:spPr>
          <a:xfrm xmlns:a="http://schemas.openxmlformats.org/drawingml/2006/main">
            <a:off x="4953000" y="2924175"/>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3" name="">
            <a:extLst xmlns:a="http://schemas.openxmlformats.org/drawingml/2006/main">
              <a:ext uri="{FF2B5EF4-FFF2-40B4-BE49-F238E27FC236}">
                <a16:creationId xmlns:a16="http://schemas.microsoft.com/office/drawing/2014/main" id="{79FCF954-FEC1-4447-8C77-94E55E7ABACF}"/>
              </a:ext>
            </a:extLst>
          </p:cNvPr>
          <p:cNvSpPr>
            <a:spLocks xmlns:a="http://schemas.openxmlformats.org/drawingml/2006/main" noGrp="1"/>
          </p:cNvSpPr>
          <p:nvPr/>
        </p:nvSpPr>
        <p:spPr>
          <a:xfrm xmlns:a="http://schemas.openxmlformats.org/drawingml/2006/main">
            <a:off x="10287000" y="233362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4" name="03 Topic Analyst">
            <a:extLst xmlns:a="http://schemas.openxmlformats.org/drawingml/2006/main">
              <a:ext uri="{FF2B5EF4-FFF2-40B4-BE49-F238E27FC236}">
                <a16:creationId xmlns:a16="http://schemas.microsoft.com/office/drawing/2014/main" id="{B42E1E8E-C51B-4E8E-B4AC-416EF86C91E4}"/>
              </a:ext>
            </a:extLst>
          </p:cNvPr>
          <p:cNvSpPr>
            <a:spLocks xmlns:a="http://schemas.openxmlformats.org/drawingml/2006/main" noGrp="1"/>
          </p:cNvSpPr>
          <p:nvPr/>
        </p:nvSpPr>
        <p:spPr>
          <a:xfrm xmlns:a="http://schemas.openxmlformats.org/drawingml/2006/main">
            <a:off x="10477500" y="25241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03 Topic Analyst</a:t>
            </a:r>
          </a:p>
        </p:txBody>
      </p:sp>
      <p:sp>
        <p:nvSpPr>
          <p:cNvPr id="15" name="Topics + evidence mapping">
            <a:extLst xmlns:a="http://schemas.openxmlformats.org/drawingml/2006/main">
              <a:ext uri="{FF2B5EF4-FFF2-40B4-BE49-F238E27FC236}">
                <a16:creationId xmlns:a16="http://schemas.microsoft.com/office/drawing/2014/main" id="{A0EAF889-8571-487D-AF7A-873452C6DA5C}"/>
              </a:ext>
            </a:extLst>
          </p:cNvPr>
          <p:cNvSpPr>
            <a:spLocks xmlns:a="http://schemas.openxmlformats.org/drawingml/2006/main" noGrp="1"/>
          </p:cNvSpPr>
          <p:nvPr/>
        </p:nvSpPr>
        <p:spPr>
          <a:xfrm xmlns:a="http://schemas.openxmlformats.org/drawingml/2006/main">
            <a:off x="10477500" y="30194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Topics + evidence mapping</a:t>
            </a:r>
          </a:p>
        </p:txBody>
      </p:sp>
      <p:cxnSp>
        <p:nvCxnSpPr>
          <p:cNvPr id="57" name=""/>
          <p:cNvCxnSpPr>
            <a:stCxn xmlns:a="http://schemas.openxmlformats.org/drawingml/2006/main" id="9" idx="3"/>
            <a:endCxn xmlns:a="http://schemas.openxmlformats.org/drawingml/2006/main" id="13" idx="1"/>
          </p:cNvCxnSpPr>
          <p:nvPr/>
        </p:nvCxnSpPr>
        <p:spPr>
          <a:xfrm xmlns:a="http://schemas.openxmlformats.org/drawingml/2006/main">
            <a:off x="9715500" y="2924175"/>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7" name="">
            <a:extLst xmlns:a="http://schemas.openxmlformats.org/drawingml/2006/main">
              <a:ext uri="{FF2B5EF4-FFF2-40B4-BE49-F238E27FC236}">
                <a16:creationId xmlns:a16="http://schemas.microsoft.com/office/drawing/2014/main" id="{51C86C3E-92B6-481A-97C9-809DFF570353}"/>
              </a:ext>
            </a:extLst>
          </p:cNvPr>
          <p:cNvSpPr>
            <a:spLocks xmlns:a="http://schemas.openxmlformats.org/drawingml/2006/main" noGrp="1"/>
          </p:cNvSpPr>
          <p:nvPr/>
        </p:nvSpPr>
        <p:spPr>
          <a:xfrm xmlns:a="http://schemas.openxmlformats.org/drawingml/2006/main">
            <a:off x="10287000" y="391477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8" name="04 Attention">
            <a:extLst xmlns:a="http://schemas.openxmlformats.org/drawingml/2006/main">
              <a:ext uri="{FF2B5EF4-FFF2-40B4-BE49-F238E27FC236}">
                <a16:creationId xmlns:a16="http://schemas.microsoft.com/office/drawing/2014/main" id="{F07212F2-F455-4409-ADCA-D20A96F23C0C}"/>
              </a:ext>
            </a:extLst>
          </p:cNvPr>
          <p:cNvSpPr>
            <a:spLocks xmlns:a="http://schemas.openxmlformats.org/drawingml/2006/main" noGrp="1"/>
          </p:cNvSpPr>
          <p:nvPr/>
        </p:nvSpPr>
        <p:spPr>
          <a:xfrm xmlns:a="http://schemas.openxmlformats.org/drawingml/2006/main">
            <a:off x="10477500" y="41052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04 Attention</a:t>
            </a:r>
          </a:p>
        </p:txBody>
      </p:sp>
      <p:sp>
        <p:nvSpPr>
          <p:cNvPr id="19" name="Breadth + recency score">
            <a:extLst xmlns:a="http://schemas.openxmlformats.org/drawingml/2006/main">
              <a:ext uri="{FF2B5EF4-FFF2-40B4-BE49-F238E27FC236}">
                <a16:creationId xmlns:a16="http://schemas.microsoft.com/office/drawing/2014/main" id="{703E0192-F362-4082-B4BC-9FB641E9C4B4}"/>
              </a:ext>
            </a:extLst>
          </p:cNvPr>
          <p:cNvSpPr>
            <a:spLocks xmlns:a="http://schemas.openxmlformats.org/drawingml/2006/main" noGrp="1"/>
          </p:cNvSpPr>
          <p:nvPr/>
        </p:nvSpPr>
        <p:spPr>
          <a:xfrm xmlns:a="http://schemas.openxmlformats.org/drawingml/2006/main">
            <a:off x="10477500" y="46005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Breadth + recency score</a:t>
            </a:r>
          </a:p>
        </p:txBody>
      </p:sp>
      <p:cxnSp>
        <p:nvCxnSpPr>
          <p:cNvPr id="61" name=""/>
          <p:cNvCxnSpPr>
            <a:stCxn xmlns:a="http://schemas.openxmlformats.org/drawingml/2006/main" id="13" idx="2"/>
            <a:endCxn xmlns:a="http://schemas.openxmlformats.org/drawingml/2006/main" id="17" idx="0"/>
          </p:cNvCxnSpPr>
          <p:nvPr/>
        </p:nvCxnSpPr>
        <p:spPr>
          <a:xfrm xmlns:a="http://schemas.openxmlformats.org/drawingml/2006/main">
            <a:off x="12382500" y="3514725"/>
            <a:ext cx="0" cy="40005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1" name="">
            <a:extLst xmlns:a="http://schemas.openxmlformats.org/drawingml/2006/main">
              <a:ext uri="{FF2B5EF4-FFF2-40B4-BE49-F238E27FC236}">
                <a16:creationId xmlns:a16="http://schemas.microsoft.com/office/drawing/2014/main" id="{B562047B-39A0-4FBD-A860-A045BAA57013}"/>
              </a:ext>
            </a:extLst>
          </p:cNvPr>
          <p:cNvSpPr>
            <a:spLocks xmlns:a="http://schemas.openxmlformats.org/drawingml/2006/main" noGrp="1"/>
          </p:cNvSpPr>
          <p:nvPr/>
        </p:nvSpPr>
        <p:spPr>
          <a:xfrm xmlns:a="http://schemas.openxmlformats.org/drawingml/2006/main">
            <a:off x="5524500" y="391477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2" name="05 Coverage">
            <a:extLst xmlns:a="http://schemas.openxmlformats.org/drawingml/2006/main">
              <a:ext uri="{FF2B5EF4-FFF2-40B4-BE49-F238E27FC236}">
                <a16:creationId xmlns:a16="http://schemas.microsoft.com/office/drawing/2014/main" id="{2D7DFC01-5A03-443F-BC75-C4E4B06EC8FD}"/>
              </a:ext>
            </a:extLst>
          </p:cNvPr>
          <p:cNvSpPr>
            <a:spLocks xmlns:a="http://schemas.openxmlformats.org/drawingml/2006/main" noGrp="1"/>
          </p:cNvSpPr>
          <p:nvPr/>
        </p:nvSpPr>
        <p:spPr>
          <a:xfrm xmlns:a="http://schemas.openxmlformats.org/drawingml/2006/main">
            <a:off x="5715000" y="41052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05 Coverage</a:t>
            </a:r>
          </a:p>
        </p:txBody>
      </p:sp>
      <p:sp>
        <p:nvSpPr>
          <p:cNvPr id="23" name="Matches + coverage score">
            <a:extLst xmlns:a="http://schemas.openxmlformats.org/drawingml/2006/main">
              <a:ext uri="{FF2B5EF4-FFF2-40B4-BE49-F238E27FC236}">
                <a16:creationId xmlns:a16="http://schemas.microsoft.com/office/drawing/2014/main" id="{C1B1E658-2111-4433-92DB-C854AF53C7F7}"/>
              </a:ext>
            </a:extLst>
          </p:cNvPr>
          <p:cNvSpPr>
            <a:spLocks xmlns:a="http://schemas.openxmlformats.org/drawingml/2006/main" noGrp="1"/>
          </p:cNvSpPr>
          <p:nvPr/>
        </p:nvSpPr>
        <p:spPr>
          <a:xfrm xmlns:a="http://schemas.openxmlformats.org/drawingml/2006/main">
            <a:off x="5715000" y="46005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Matches + coverage score</a:t>
            </a:r>
          </a:p>
        </p:txBody>
      </p:sp>
      <p:cxnSp>
        <p:nvCxnSpPr>
          <p:cNvPr id="65" name=""/>
          <p:cNvCxnSpPr>
            <a:stCxn xmlns:a="http://schemas.openxmlformats.org/drawingml/2006/main" id="17" idx="1"/>
            <a:endCxn xmlns:a="http://schemas.openxmlformats.org/drawingml/2006/main" id="21" idx="3"/>
          </p:cNvCxnSpPr>
          <p:nvPr/>
        </p:nvCxnSpPr>
        <p:spPr>
          <a:xfrm xmlns:a="http://schemas.openxmlformats.org/drawingml/2006/main" flipH="1">
            <a:off x="9715500" y="4505325"/>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5" name="">
            <a:extLst xmlns:a="http://schemas.openxmlformats.org/drawingml/2006/main">
              <a:ext uri="{FF2B5EF4-FFF2-40B4-BE49-F238E27FC236}">
                <a16:creationId xmlns:a16="http://schemas.microsoft.com/office/drawing/2014/main" id="{34A143CD-F592-4D12-AE83-48618714E8C6}"/>
              </a:ext>
            </a:extLst>
          </p:cNvPr>
          <p:cNvSpPr>
            <a:spLocks xmlns:a="http://schemas.openxmlformats.org/drawingml/2006/main" noGrp="1"/>
          </p:cNvSpPr>
          <p:nvPr/>
        </p:nvSpPr>
        <p:spPr>
          <a:xfrm xmlns:a="http://schemas.openxmlformats.org/drawingml/2006/main">
            <a:off x="762000" y="391477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6" name="06 Graph Curator">
            <a:extLst xmlns:a="http://schemas.openxmlformats.org/drawingml/2006/main">
              <a:ext uri="{FF2B5EF4-FFF2-40B4-BE49-F238E27FC236}">
                <a16:creationId xmlns:a16="http://schemas.microsoft.com/office/drawing/2014/main" id="{B4353558-A84C-4EBC-AC32-DB95796EFB40}"/>
              </a:ext>
            </a:extLst>
          </p:cNvPr>
          <p:cNvSpPr>
            <a:spLocks xmlns:a="http://schemas.openxmlformats.org/drawingml/2006/main" noGrp="1"/>
          </p:cNvSpPr>
          <p:nvPr/>
        </p:nvSpPr>
        <p:spPr>
          <a:xfrm xmlns:a="http://schemas.openxmlformats.org/drawingml/2006/main">
            <a:off x="952500" y="41052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06 Graph Curator</a:t>
            </a:r>
          </a:p>
        </p:txBody>
      </p:sp>
      <p:sp>
        <p:nvSpPr>
          <p:cNvPr id="27" name="Nodes + typed links">
            <a:extLst xmlns:a="http://schemas.openxmlformats.org/drawingml/2006/main">
              <a:ext uri="{FF2B5EF4-FFF2-40B4-BE49-F238E27FC236}">
                <a16:creationId xmlns:a16="http://schemas.microsoft.com/office/drawing/2014/main" id="{5735316B-1347-4E92-B851-B7DE61F24C77}"/>
              </a:ext>
            </a:extLst>
          </p:cNvPr>
          <p:cNvSpPr>
            <a:spLocks xmlns:a="http://schemas.openxmlformats.org/drawingml/2006/main" noGrp="1"/>
          </p:cNvSpPr>
          <p:nvPr/>
        </p:nvSpPr>
        <p:spPr>
          <a:xfrm xmlns:a="http://schemas.openxmlformats.org/drawingml/2006/main">
            <a:off x="952500" y="46005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Nodes + typed links</a:t>
            </a:r>
          </a:p>
        </p:txBody>
      </p:sp>
      <p:cxnSp>
        <p:nvCxnSpPr>
          <p:cNvPr id="69" name=""/>
          <p:cNvCxnSpPr>
            <a:stCxn xmlns:a="http://schemas.openxmlformats.org/drawingml/2006/main" id="21" idx="1"/>
            <a:endCxn xmlns:a="http://schemas.openxmlformats.org/drawingml/2006/main" id="25" idx="3"/>
          </p:cNvCxnSpPr>
          <p:nvPr/>
        </p:nvCxnSpPr>
        <p:spPr>
          <a:xfrm xmlns:a="http://schemas.openxmlformats.org/drawingml/2006/main" flipH="1">
            <a:off x="4953000" y="4505325"/>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9" name="">
            <a:extLst xmlns:a="http://schemas.openxmlformats.org/drawingml/2006/main">
              <a:ext uri="{FF2B5EF4-FFF2-40B4-BE49-F238E27FC236}">
                <a16:creationId xmlns:a16="http://schemas.microsoft.com/office/drawing/2014/main" id="{231ED37A-972F-4768-8A0A-E9FC731B2ADD}"/>
              </a:ext>
            </a:extLst>
          </p:cNvPr>
          <p:cNvSpPr>
            <a:spLocks xmlns:a="http://schemas.openxmlformats.org/drawingml/2006/main" noGrp="1"/>
          </p:cNvSpPr>
          <p:nvPr/>
        </p:nvSpPr>
        <p:spPr>
          <a:xfrm xmlns:a="http://schemas.openxmlformats.org/drawingml/2006/main">
            <a:off x="762000" y="549592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0" name="07 Gap Analyst">
            <a:extLst xmlns:a="http://schemas.openxmlformats.org/drawingml/2006/main">
              <a:ext uri="{FF2B5EF4-FFF2-40B4-BE49-F238E27FC236}">
                <a16:creationId xmlns:a16="http://schemas.microsoft.com/office/drawing/2014/main" id="{FE2B1FC4-ACB0-42E2-A10B-F65ACFF4C0CD}"/>
              </a:ext>
            </a:extLst>
          </p:cNvPr>
          <p:cNvSpPr>
            <a:spLocks xmlns:a="http://schemas.openxmlformats.org/drawingml/2006/main" noGrp="1"/>
          </p:cNvSpPr>
          <p:nvPr/>
        </p:nvSpPr>
        <p:spPr>
          <a:xfrm xmlns:a="http://schemas.openxmlformats.org/drawingml/2006/main">
            <a:off x="952500" y="56864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07 Gap Analyst</a:t>
            </a:r>
          </a:p>
        </p:txBody>
      </p:sp>
      <p:sp>
        <p:nvSpPr>
          <p:cNvPr id="31" name="Gap + priority + action">
            <a:extLst xmlns:a="http://schemas.openxmlformats.org/drawingml/2006/main">
              <a:ext uri="{FF2B5EF4-FFF2-40B4-BE49-F238E27FC236}">
                <a16:creationId xmlns:a16="http://schemas.microsoft.com/office/drawing/2014/main" id="{5CC2A447-4368-40E9-B32A-0D2170C2CE37}"/>
              </a:ext>
            </a:extLst>
          </p:cNvPr>
          <p:cNvSpPr>
            <a:spLocks xmlns:a="http://schemas.openxmlformats.org/drawingml/2006/main" noGrp="1"/>
          </p:cNvSpPr>
          <p:nvPr/>
        </p:nvSpPr>
        <p:spPr>
          <a:xfrm xmlns:a="http://schemas.openxmlformats.org/drawingml/2006/main">
            <a:off x="952500" y="61817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Gap + priority + action</a:t>
            </a:r>
          </a:p>
        </p:txBody>
      </p:sp>
      <p:cxnSp>
        <p:nvCxnSpPr>
          <p:cNvPr id="73" name=""/>
          <p:cNvCxnSpPr>
            <a:stCxn xmlns:a="http://schemas.openxmlformats.org/drawingml/2006/main" id="25" idx="2"/>
            <a:endCxn xmlns:a="http://schemas.openxmlformats.org/drawingml/2006/main" id="29" idx="0"/>
          </p:cNvCxnSpPr>
          <p:nvPr/>
        </p:nvCxnSpPr>
        <p:spPr>
          <a:xfrm xmlns:a="http://schemas.openxmlformats.org/drawingml/2006/main">
            <a:off x="2857500" y="5095875"/>
            <a:ext cx="0" cy="40005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33" name="">
            <a:extLst xmlns:a="http://schemas.openxmlformats.org/drawingml/2006/main">
              <a:ext uri="{FF2B5EF4-FFF2-40B4-BE49-F238E27FC236}">
                <a16:creationId xmlns:a16="http://schemas.microsoft.com/office/drawing/2014/main" id="{D8A2E0F0-C871-4C08-A74B-720DB913FC21}"/>
              </a:ext>
            </a:extLst>
          </p:cNvPr>
          <p:cNvSpPr>
            <a:spLocks xmlns:a="http://schemas.openxmlformats.org/drawingml/2006/main" noGrp="1"/>
          </p:cNvSpPr>
          <p:nvPr/>
        </p:nvSpPr>
        <p:spPr>
          <a:xfrm xmlns:a="http://schemas.openxmlformats.org/drawingml/2006/main">
            <a:off x="5524500" y="549592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4" name="08 Synthesizer">
            <a:extLst xmlns:a="http://schemas.openxmlformats.org/drawingml/2006/main">
              <a:ext uri="{FF2B5EF4-FFF2-40B4-BE49-F238E27FC236}">
                <a16:creationId xmlns:a16="http://schemas.microsoft.com/office/drawing/2014/main" id="{2E06F05A-5006-46F5-BE26-07FD474DDD8C}"/>
              </a:ext>
            </a:extLst>
          </p:cNvPr>
          <p:cNvSpPr>
            <a:spLocks xmlns:a="http://schemas.openxmlformats.org/drawingml/2006/main" noGrp="1"/>
          </p:cNvSpPr>
          <p:nvPr/>
        </p:nvSpPr>
        <p:spPr>
          <a:xfrm xmlns:a="http://schemas.openxmlformats.org/drawingml/2006/main">
            <a:off x="5715000" y="56864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08 Synthesizer</a:t>
            </a:r>
          </a:p>
        </p:txBody>
      </p:sp>
      <p:sp>
        <p:nvSpPr>
          <p:cNvPr id="35" name="Executive recommendation">
            <a:extLst xmlns:a="http://schemas.openxmlformats.org/drawingml/2006/main">
              <a:ext uri="{FF2B5EF4-FFF2-40B4-BE49-F238E27FC236}">
                <a16:creationId xmlns:a16="http://schemas.microsoft.com/office/drawing/2014/main" id="{1E336265-B775-4999-82F2-9D599E392352}"/>
              </a:ext>
            </a:extLst>
          </p:cNvPr>
          <p:cNvSpPr>
            <a:spLocks xmlns:a="http://schemas.openxmlformats.org/drawingml/2006/main" noGrp="1"/>
          </p:cNvSpPr>
          <p:nvPr/>
        </p:nvSpPr>
        <p:spPr>
          <a:xfrm xmlns:a="http://schemas.openxmlformats.org/drawingml/2006/main">
            <a:off x="5715000" y="61817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Executive recommendation</a:t>
            </a:r>
          </a:p>
        </p:txBody>
      </p:sp>
      <p:cxnSp>
        <p:nvCxnSpPr>
          <p:cNvPr id="77" name=""/>
          <p:cNvCxnSpPr>
            <a:stCxn xmlns:a="http://schemas.openxmlformats.org/drawingml/2006/main" id="29" idx="3"/>
            <a:endCxn xmlns:a="http://schemas.openxmlformats.org/drawingml/2006/main" id="33" idx="1"/>
          </p:cNvCxnSpPr>
          <p:nvPr/>
        </p:nvCxnSpPr>
        <p:spPr>
          <a:xfrm xmlns:a="http://schemas.openxmlformats.org/drawingml/2006/main">
            <a:off x="4953000" y="6086475"/>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37" name="">
            <a:extLst xmlns:a="http://schemas.openxmlformats.org/drawingml/2006/main">
              <a:ext uri="{FF2B5EF4-FFF2-40B4-BE49-F238E27FC236}">
                <a16:creationId xmlns:a16="http://schemas.microsoft.com/office/drawing/2014/main" id="{8C436EBC-5CD0-4FA0-9702-AD1338C0B8BB}"/>
              </a:ext>
            </a:extLst>
          </p:cNvPr>
          <p:cNvSpPr>
            <a:spLocks xmlns:a="http://schemas.openxmlformats.org/drawingml/2006/main" noGrp="1"/>
          </p:cNvSpPr>
          <p:nvPr/>
        </p:nvSpPr>
        <p:spPr>
          <a:xfrm xmlns:a="http://schemas.openxmlformats.org/drawingml/2006/main">
            <a:off x="10287000" y="5495925"/>
            <a:ext cx="4191000" cy="11811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8" name="09 Critic">
            <a:extLst xmlns:a="http://schemas.openxmlformats.org/drawingml/2006/main">
              <a:ext uri="{FF2B5EF4-FFF2-40B4-BE49-F238E27FC236}">
                <a16:creationId xmlns:a16="http://schemas.microsoft.com/office/drawing/2014/main" id="{454B689A-827D-4BDC-AF12-9EE3FEBD4CEC}"/>
              </a:ext>
            </a:extLst>
          </p:cNvPr>
          <p:cNvSpPr>
            <a:spLocks xmlns:a="http://schemas.openxmlformats.org/drawingml/2006/main" noGrp="1"/>
          </p:cNvSpPr>
          <p:nvPr/>
        </p:nvSpPr>
        <p:spPr>
          <a:xfrm xmlns:a="http://schemas.openxmlformats.org/drawingml/2006/main">
            <a:off x="10477500" y="56864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09 Critic</a:t>
            </a:r>
          </a:p>
        </p:txBody>
      </p:sp>
      <p:sp>
        <p:nvSpPr>
          <p:cNvPr id="39" name="Consistency + issues">
            <a:extLst xmlns:a="http://schemas.openxmlformats.org/drawingml/2006/main">
              <a:ext uri="{FF2B5EF4-FFF2-40B4-BE49-F238E27FC236}">
                <a16:creationId xmlns:a16="http://schemas.microsoft.com/office/drawing/2014/main" id="{828D6F1D-16CD-46ED-B134-EE3CD16D69C6}"/>
              </a:ext>
            </a:extLst>
          </p:cNvPr>
          <p:cNvSpPr>
            <a:spLocks xmlns:a="http://schemas.openxmlformats.org/drawingml/2006/main" noGrp="1"/>
          </p:cNvSpPr>
          <p:nvPr/>
        </p:nvSpPr>
        <p:spPr>
          <a:xfrm xmlns:a="http://schemas.openxmlformats.org/drawingml/2006/main">
            <a:off x="10477500" y="61817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Consistency + issues</a:t>
            </a:r>
          </a:p>
        </p:txBody>
      </p:sp>
      <p:cxnSp>
        <p:nvCxnSpPr>
          <p:cNvPr id="81" name=""/>
          <p:cNvCxnSpPr>
            <a:stCxn xmlns:a="http://schemas.openxmlformats.org/drawingml/2006/main" id="33" idx="3"/>
            <a:endCxn xmlns:a="http://schemas.openxmlformats.org/drawingml/2006/main" id="37" idx="1"/>
          </p:cNvCxnSpPr>
          <p:nvPr/>
        </p:nvCxnSpPr>
        <p:spPr>
          <a:xfrm xmlns:a="http://schemas.openxmlformats.org/drawingml/2006/main">
            <a:off x="9715500" y="6086475"/>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41" name="Shared state carries the original question, articles, t">
            <a:extLst xmlns:a="http://schemas.openxmlformats.org/drawingml/2006/main">
              <a:ext uri="{FF2B5EF4-FFF2-40B4-BE49-F238E27FC236}">
                <a16:creationId xmlns:a16="http://schemas.microsoft.com/office/drawing/2014/main" id="{08BAC0CB-1168-4BD5-B98B-8E78051A49B3}"/>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Shared state carries the original question, articles, topics, coverage, graph, scores and final narrative.</a:t>
            </a:r>
          </a:p>
        </p:txBody>
      </p:sp>
    </p:spTree>
    <p:extLst>
      <p:ext uri="{BB962C8B-B14F-4D97-AF65-F5344CB8AC3E}">
        <p14:creationId xmlns:p14="http://schemas.microsoft.com/office/powerpoint/2010/main" val="6616742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GENTS 01–02">
            <a:extLst xmlns:a="http://schemas.openxmlformats.org/drawingml/2006/main">
              <a:ext uri="{FF2B5EF4-FFF2-40B4-BE49-F238E27FC236}">
                <a16:creationId xmlns:a16="http://schemas.microsoft.com/office/drawing/2014/main" id="{A8648B33-55E4-4FB9-940C-0E99F3BAA04F}"/>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AGENTS 01–02</a:t>
            </a:r>
          </a:p>
        </p:txBody>
      </p:sp>
      <p:sp>
        <p:nvSpPr>
          <p:cNvPr id="2" name="Planner and Scout: a question becomes evidence">
            <a:extLst xmlns:a="http://schemas.openxmlformats.org/drawingml/2006/main">
              <a:ext uri="{FF2B5EF4-FFF2-40B4-BE49-F238E27FC236}">
                <a16:creationId xmlns:a16="http://schemas.microsoft.com/office/drawing/2014/main" id="{7837F857-D690-4DFA-A6AE-FF85B1082DC5}"/>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Planner and Scout: a question becomes evidence</a:t>
            </a:r>
          </a:p>
        </p:txBody>
      </p:sp>
      <p:sp>
        <p:nvSpPr>
          <p:cNvPr id="3" name="">
            <a:extLst xmlns:a="http://schemas.openxmlformats.org/drawingml/2006/main">
              <a:ext uri="{FF2B5EF4-FFF2-40B4-BE49-F238E27FC236}">
                <a16:creationId xmlns:a16="http://schemas.microsoft.com/office/drawing/2014/main" id="{66C5A280-9705-4874-8D0C-334964DF527D}"/>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FBD524DD-24B9-4EE9-BADB-B2609D02A3AB}"/>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5">
            <a:extLst xmlns:a="http://schemas.openxmlformats.org/drawingml/2006/main">
              <a:ext uri="{FF2B5EF4-FFF2-40B4-BE49-F238E27FC236}">
                <a16:creationId xmlns:a16="http://schemas.microsoft.com/office/drawing/2014/main" id="{88686D38-30FF-4999-8B9E-060DF382A8BF}"/>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05</a:t>
            </a:r>
          </a:p>
        </p:txBody>
      </p:sp>
      <p:sp>
        <p:nvSpPr>
          <p:cNvPr id="6" name="UI input: “AI in healthcare” + Market scan">
            <a:extLst xmlns:a="http://schemas.openxmlformats.org/drawingml/2006/main">
              <a:ext uri="{FF2B5EF4-FFF2-40B4-BE49-F238E27FC236}">
                <a16:creationId xmlns:a16="http://schemas.microsoft.com/office/drawing/2014/main" id="{27D94F85-E223-44B6-A8A2-7A3A1678BFD6}"/>
              </a:ext>
            </a:extLst>
          </p:cNvPr>
          <p:cNvSpPr>
            <a:spLocks xmlns:a="http://schemas.openxmlformats.org/drawingml/2006/main" noGrp="1"/>
          </p:cNvSpPr>
          <p:nvPr/>
        </p:nvSpPr>
        <p:spPr>
          <a:xfrm xmlns:a="http://schemas.openxmlformats.org/drawingml/2006/main">
            <a:off x="762000" y="22955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UI input: “AI in healthcare” + Market scan</a:t>
            </a:r>
          </a:p>
        </p:txBody>
      </p:sp>
      <p:graphicFrame>
        <p:nvGraphicFramePr>
          <p:cNvPr id="16" name=""/>
          <p:cNvGraphicFramePr/>
          <p:nvPr/>
        </p:nvGraphicFramePr>
        <p:xfrm>
          <a:off xmlns:a="http://schemas.openxmlformats.org/drawingml/2006/main" x="762000" y="3209925"/>
          <a:ext xmlns:a="http://schemas.openxmlformats.org/drawingml/2006/main" cx="13716000" cy="2647950"/>
        </p:xfrm>
        <a:graphic xmlns:a="http://schemas.openxmlformats.org/drawingml/2006/main">
          <a:graphicData uri="http://schemas.openxmlformats.org/drawingml/2006/table">
            <a:tbl>
              <a:tblPr/>
              <a:tblGrid>
                <a:gridCol w="8763000"/>
                <a:gridCol w="4953000"/>
              </a:tblGrid>
              <a:tr h="661988">
                <a:tc>
                  <a:txBody>
                    <a:bodyPr lIns="171450" tIns="123825" rIns="171450" bIns="114300">
                      <a:noAutofit/>
                    </a:bodyPr>
                    <a:lstStyle/>
                    <a:p>
                      <a:r>
                        <a:rPr sz="1800" b="1">
                          <a:solidFill>
                            <a:srgbClr val="FFFFFF"/>
                          </a:solidFill>
                          <a:latin typeface="Segoe UI"/>
                          <a:ea typeface="Segoe UI"/>
                          <a:cs typeface="Segoe UI"/>
                        </a:rPr>
                        <a:t>Planner output: queries[]</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Scout action</a:t>
                      </a:r>
                    </a:p>
                  </a:txBody>
                  <a:tcPr marL="91440" marR="91440" marT="45720" marB="45720">
                    <a:solidFill>
                      <a:srgbClr val="0B2238"/>
                    </a:solidFill>
                  </a:tcPr>
                </a:tc>
              </a:tr>
              <a:tr h="661988">
                <a:tc>
                  <a:txBody>
                    <a:bodyPr lIns="171450" tIns="123825" rIns="171450" bIns="114300">
                      <a:noAutofit/>
                    </a:bodyPr>
                    <a:lstStyle/>
                    <a:p>
                      <a:r>
                        <a:rPr sz="2025" b="1">
                          <a:solidFill>
                            <a:srgbClr val="102C43"/>
                          </a:solidFill>
                          <a:latin typeface="Segoe UI"/>
                          <a:ea typeface="Segoe UI"/>
                          <a:cs typeface="Segoe UI"/>
                        </a:rPr>
                        <a:t>AI in healthcare</a:t>
                      </a:r>
                    </a:p>
                  </a:txBody>
                  <a:tcPr marL="91440" marR="91440" marT="45720" marB="45720">
                    <a:solidFill>
                      <a:srgbClr val="F5F8FB"/>
                    </a:solidFill>
                  </a:tcPr>
                </a:tc>
                <a:tc>
                  <a:txBody>
                    <a:bodyPr lIns="171450" tIns="123825" rIns="171450" bIns="114300">
                      <a:noAutofit/>
                    </a:bodyPr>
                    <a:lstStyle/>
                    <a:p>
                      <a:r>
                        <a:rPr sz="2025" b="0">
                          <a:solidFill>
                            <a:srgbClr val="102C43"/>
                          </a:solidFill>
                          <a:latin typeface="Segoe UI"/>
                          <a:ea typeface="Segoe UI"/>
                          <a:cs typeface="Segoe UI"/>
                        </a:rPr>
                        <a:t>Tavily: request up to 8 results</a:t>
                      </a:r>
                    </a:p>
                  </a:txBody>
                  <a:tcPr marL="91440" marR="91440" marT="45720" marB="45720">
                    <a:solidFill>
                      <a:srgbClr val="F5F8FB"/>
                    </a:solidFill>
                  </a:tcPr>
                </a:tc>
              </a:tr>
              <a:tr h="661988">
                <a:tc>
                  <a:txBody>
                    <a:bodyPr lIns="171450" tIns="123825" rIns="171450" bIns="114300">
                      <a:noAutofit/>
                    </a:bodyPr>
                    <a:lstStyle/>
                    <a:p>
                      <a:r>
                        <a:rPr sz="2025" b="1">
                          <a:solidFill>
                            <a:srgbClr val="102C43"/>
                          </a:solidFill>
                          <a:latin typeface="Segoe UI"/>
                          <a:ea typeface="Segoe UI"/>
                          <a:cs typeface="Segoe UI"/>
                        </a:rPr>
                        <a:t>AI in healthcare emerging trends</a:t>
                      </a:r>
                    </a:p>
                  </a:txBody>
                  <a:tcPr marL="91440" marR="91440" marT="45720" marB="45720">
                    <a:solidFill>
                      <a:srgbClr val="FFFFFF"/>
                    </a:solidFill>
                  </a:tcPr>
                </a:tc>
                <a:tc>
                  <a:txBody>
                    <a:bodyPr lIns="171450" tIns="123825" rIns="171450" bIns="114300">
                      <a:noAutofit/>
                    </a:bodyPr>
                    <a:lstStyle/>
                    <a:p>
                      <a:r>
                        <a:rPr sz="2025" b="0">
                          <a:solidFill>
                            <a:srgbClr val="102C43"/>
                          </a:solidFill>
                          <a:latin typeface="Segoe UI"/>
                          <a:ea typeface="Segoe UI"/>
                          <a:cs typeface="Segoe UI"/>
                        </a:rPr>
                        <a:t>Tavily: request up to 8 results</a:t>
                      </a:r>
                    </a:p>
                  </a:txBody>
                  <a:tcPr marL="91440" marR="91440" marT="45720" marB="45720">
                    <a:solidFill>
                      <a:srgbClr val="FFFFFF"/>
                    </a:solidFill>
                  </a:tcPr>
                </a:tc>
              </a:tr>
              <a:tr h="661988">
                <a:tc>
                  <a:txBody>
                    <a:bodyPr lIns="171450" tIns="123825" rIns="171450" bIns="114300">
                      <a:noAutofit/>
                    </a:bodyPr>
                    <a:lstStyle/>
                    <a:p>
                      <a:r>
                        <a:rPr sz="2025" b="1">
                          <a:solidFill>
                            <a:srgbClr val="102C43"/>
                          </a:solidFill>
                          <a:latin typeface="Segoe UI"/>
                          <a:ea typeface="Segoe UI"/>
                          <a:cs typeface="Segoe UI"/>
                        </a:rPr>
                        <a:t>AI in healthcare regulation governance</a:t>
                      </a:r>
                    </a:p>
                  </a:txBody>
                  <a:tcPr marL="91440" marR="91440" marT="45720" marB="45720">
                    <a:solidFill>
                      <a:srgbClr val="F5F8FB"/>
                    </a:solidFill>
                  </a:tcPr>
                </a:tc>
                <a:tc>
                  <a:txBody>
                    <a:bodyPr lIns="171450" tIns="123825" rIns="171450" bIns="114300">
                      <a:noAutofit/>
                    </a:bodyPr>
                    <a:lstStyle/>
                    <a:p>
                      <a:r>
                        <a:rPr sz="2025" b="0">
                          <a:solidFill>
                            <a:srgbClr val="102C43"/>
                          </a:solidFill>
                          <a:latin typeface="Segoe UI"/>
                          <a:ea typeface="Segoe UI"/>
                          <a:cs typeface="Segoe UI"/>
                        </a:rPr>
                        <a:t>Tavily: request up to 8 results</a:t>
                      </a:r>
                    </a:p>
                  </a:txBody>
                  <a:tcPr marL="91440" marR="91440" marT="45720" marB="45720">
                    <a:solidFill>
                      <a:srgbClr val="F5F8FB"/>
                    </a:solidFill>
                  </a:tcPr>
                </a:tc>
              </a:tr>
            </a:tbl>
          </a:graphicData>
        </a:graphic>
      </p:graphicFrame>
      <p:sp>
        <p:nvSpPr>
          <p:cNvPr id="8" name="Pool results, deduplicate URLs, retain article metadata">
            <a:extLst xmlns:a="http://schemas.openxmlformats.org/drawingml/2006/main">
              <a:ext uri="{FF2B5EF4-FFF2-40B4-BE49-F238E27FC236}">
                <a16:creationId xmlns:a16="http://schemas.microsoft.com/office/drawing/2014/main" id="{E078C28D-59FF-402A-9C1C-4E3B85CB0FF6}"/>
              </a:ext>
            </a:extLst>
          </p:cNvPr>
          <p:cNvSpPr>
            <a:spLocks xmlns:a="http://schemas.openxmlformats.org/drawingml/2006/main" noGrp="1"/>
          </p:cNvSpPr>
          <p:nvPr/>
        </p:nvSpPr>
        <p:spPr>
          <a:xfrm xmlns:a="http://schemas.openxmlformats.org/drawingml/2006/main">
            <a:off x="762000" y="6238875"/>
            <a:ext cx="1371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007D82"/>
                </a:solidFill>
                <a:latin typeface="Segoe UI"/>
                <a:ea typeface="Segoe UI"/>
                <a:cs typeface="Segoe UI"/>
              </a:defRPr>
            </a:pPr>
            <a:r>
              <a:rPr sz="2550" b="1">
                <a:solidFill>
                  <a:srgbClr val="007D82"/>
                </a:solidFill>
                <a:latin typeface="Segoe UI"/>
                <a:ea typeface="Segoe UI"/>
                <a:cs typeface="Segoe UI"/>
              </a:rPr>
              <a:t>Pool results, deduplicate URLs, retain article metadata</a:t>
            </a:r>
          </a:p>
        </p:txBody>
      </p:sp>
      <p:sp>
        <p:nvSpPr>
          <p:cNvPr id="9" name="Output: articles[] + signal_source + scout_stats. Three">
            <a:extLst xmlns:a="http://schemas.openxmlformats.org/drawingml/2006/main">
              <a:ext uri="{FF2B5EF4-FFF2-40B4-BE49-F238E27FC236}">
                <a16:creationId xmlns:a16="http://schemas.microsoft.com/office/drawing/2014/main" id="{B18D43DD-9258-434A-A567-74E40C743E01}"/>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Output: articles[] + signal_source + scout_stats. Three queries can return fewer than 24 unique articles.</a:t>
            </a:r>
          </a:p>
        </p:txBody>
      </p:sp>
    </p:spTree>
    <p:extLst>
      <p:ext uri="{BB962C8B-B14F-4D97-AF65-F5344CB8AC3E}">
        <p14:creationId xmlns:p14="http://schemas.microsoft.com/office/powerpoint/2010/main" val="19973935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GENT 03 / EXTRACT">
            <a:extLst xmlns:a="http://schemas.openxmlformats.org/drawingml/2006/main">
              <a:ext uri="{FF2B5EF4-FFF2-40B4-BE49-F238E27FC236}">
                <a16:creationId xmlns:a16="http://schemas.microsoft.com/office/drawing/2014/main" id="{8F80ED6E-1514-476F-A326-9B83B81E108D}"/>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03 / EXTRACT</a:t>
            </a:r>
          </a:p>
        </p:txBody>
      </p:sp>
      <p:sp>
        <p:nvSpPr>
          <p:cNvPr id="2" name="Topic extraction: what the first model call reads">
            <a:extLst xmlns:a="http://schemas.openxmlformats.org/drawingml/2006/main">
              <a:ext uri="{FF2B5EF4-FFF2-40B4-BE49-F238E27FC236}">
                <a16:creationId xmlns:a16="http://schemas.microsoft.com/office/drawing/2014/main" id="{F1A54895-5771-41A0-9839-6A3CCD4726F0}"/>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Topic extraction: what the first model call reads</a:t>
            </a:r>
          </a:p>
        </p:txBody>
      </p:sp>
      <p:sp>
        <p:nvSpPr>
          <p:cNvPr id="3" name="">
            <a:extLst xmlns:a="http://schemas.openxmlformats.org/drawingml/2006/main">
              <a:ext uri="{FF2B5EF4-FFF2-40B4-BE49-F238E27FC236}">
                <a16:creationId xmlns:a16="http://schemas.microsoft.com/office/drawing/2014/main" id="{6A0EA8E0-4692-4E06-9498-DCCBBF3D798B}"/>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BC8A8479-D7B0-4438-9365-825220962BCF}"/>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6">
            <a:extLst xmlns:a="http://schemas.openxmlformats.org/drawingml/2006/main">
              <a:ext uri="{FF2B5EF4-FFF2-40B4-BE49-F238E27FC236}">
                <a16:creationId xmlns:a16="http://schemas.microsoft.com/office/drawing/2014/main" id="{D61B6155-F653-4C4E-9F77-DE8BB81E6C9B}"/>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06</a:t>
            </a:r>
          </a:p>
        </p:txBody>
      </p:sp>
      <p:sp>
        <p:nvSpPr>
          <p:cNvPr id="6" name="INPUT: SIX ARTICLES PER CALL">
            <a:extLst xmlns:a="http://schemas.openxmlformats.org/drawingml/2006/main">
              <a:ext uri="{FF2B5EF4-FFF2-40B4-BE49-F238E27FC236}">
                <a16:creationId xmlns:a16="http://schemas.microsoft.com/office/drawing/2014/main" id="{13D40521-DE2B-4B70-B8CE-71495C3C669A}"/>
              </a:ext>
            </a:extLst>
          </p:cNvPr>
          <p:cNvSpPr>
            <a:spLocks xmlns:a="http://schemas.openxmlformats.org/drawingml/2006/main" noGrp="1"/>
          </p:cNvSpPr>
          <p:nvPr/>
        </p:nvSpPr>
        <p:spPr>
          <a:xfrm xmlns:a="http://schemas.openxmlformats.org/drawingml/2006/main">
            <a:off x="762000" y="23336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INPUT: SIX ARTICLES PER CALL</a:t>
            </a:r>
          </a:p>
        </p:txBody>
      </p:sp>
      <p:sp>
        <p:nvSpPr>
          <p:cNvPr id="7" name="[0] Hospital A establishes an AI oversight committee&#10;Da">
            <a:extLst xmlns:a="http://schemas.openxmlformats.org/drawingml/2006/main">
              <a:ext uri="{FF2B5EF4-FFF2-40B4-BE49-F238E27FC236}">
                <a16:creationId xmlns:a16="http://schemas.microsoft.com/office/drawing/2014/main" id="{B8EE342B-1846-429A-8C78-EB7714C465EC}"/>
              </a:ext>
            </a:extLst>
          </p:cNvPr>
          <p:cNvSpPr>
            <a:spLocks xmlns:a="http://schemas.openxmlformats.org/drawingml/2006/main" noGrp="1"/>
          </p:cNvSpPr>
          <p:nvPr/>
        </p:nvSpPr>
        <p:spPr>
          <a:xfrm xmlns:a="http://schemas.openxmlformats.org/drawingml/2006/main">
            <a:off x="762000" y="2914650"/>
            <a:ext cx="652462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[0] Hospital A establishes an AI oversight committee</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Date: 2026-09-13</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Source: hospital.example</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Excerpt: committee reviews models before deployment…</a:t>
            </a:r>
          </a:p>
        </p:txBody>
      </p:sp>
      <p:sp>
        <p:nvSpPr>
          <p:cNvPr id="8" name="OUTPUT FOR ARTICLE INDEX 0">
            <a:extLst xmlns:a="http://schemas.openxmlformats.org/drawingml/2006/main">
              <a:ext uri="{FF2B5EF4-FFF2-40B4-BE49-F238E27FC236}">
                <a16:creationId xmlns:a16="http://schemas.microsoft.com/office/drawing/2014/main" id="{E9E68D09-4D79-4F3B-9ED6-D328E44F4F1C}"/>
              </a:ext>
            </a:extLst>
          </p:cNvPr>
          <p:cNvSpPr>
            <a:spLocks xmlns:a="http://schemas.openxmlformats.org/drawingml/2006/main" noGrp="1"/>
          </p:cNvSpPr>
          <p:nvPr/>
        </p:nvSpPr>
        <p:spPr>
          <a:xfrm xmlns:a="http://schemas.openxmlformats.org/drawingml/2006/main">
            <a:off x="8239125" y="23336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OUTPUT FOR ARTICLE INDEX 0</a:t>
            </a:r>
          </a:p>
        </p:txBody>
      </p:sp>
      <p:sp>
        <p:nvSpPr>
          <p:cNvPr id="9" name="topics: [“Clinical AI Governance”]&#10;entities: [{name: “H">
            <a:extLst xmlns:a="http://schemas.openxmlformats.org/drawingml/2006/main">
              <a:ext uri="{FF2B5EF4-FFF2-40B4-BE49-F238E27FC236}">
                <a16:creationId xmlns:a16="http://schemas.microsoft.com/office/drawing/2014/main" id="{C43B98C6-D253-46FD-A74F-D6DF75014CEE}"/>
              </a:ext>
            </a:extLst>
          </p:cNvPr>
          <p:cNvSpPr>
            <a:spLocks xmlns:a="http://schemas.openxmlformats.org/drawingml/2006/main" noGrp="1"/>
          </p:cNvSpPr>
          <p:nvPr/>
        </p:nvSpPr>
        <p:spPr>
          <a:xfrm xmlns:a="http://schemas.openxmlformats.org/drawingml/2006/main">
            <a:off x="8239125" y="2914650"/>
            <a:ext cx="6238875"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43"/>
                </a:solidFill>
                <a:latin typeface="Segoe UI"/>
                <a:ea typeface="Segoe UI"/>
                <a:cs typeface="Segoe UI"/>
              </a:defRPr>
            </a:pPr>
            <a:r>
              <a:rPr sz="2100" b="0">
                <a:solidFill>
                  <a:srgbClr val="102C43"/>
                </a:solidFill>
                <a:latin typeface="Segoe UI"/>
                <a:ea typeface="Segoe UI"/>
                <a:cs typeface="Segoe UI"/>
              </a:rPr>
              <a:t>topics: [“Clinical AI Governance”]</a:t>
            </a:r>
          </a:p>
          <a:p xmlns:a="http://schemas.openxmlformats.org/drawingml/2006/main">
            <a:pPr>
              <a:defRPr sz="2100" b="0">
                <a:solidFill>
                  <a:srgbClr val="102C43"/>
                </a:solidFill>
                <a:latin typeface="Segoe UI"/>
                <a:ea typeface="Segoe UI"/>
                <a:cs typeface="Segoe UI"/>
              </a:defRPr>
            </a:pPr>
            <a:r>
              <a:rPr sz="2100" b="0">
                <a:solidFill>
                  <a:srgbClr val="102C43"/>
                </a:solidFill>
                <a:latin typeface="Segoe UI"/>
                <a:ea typeface="Segoe UI"/>
                <a:cs typeface="Segoe UI"/>
              </a:rPr>
              <a:t>entities: [{name: “Hospital A”, type: “ORGANISATION”}]</a:t>
            </a:r>
          </a:p>
          <a:p xmlns:a="http://schemas.openxmlformats.org/drawingml/2006/main">
            <a:pPr>
              <a:defRPr sz="2100" b="0">
                <a:solidFill>
                  <a:srgbClr val="102C43"/>
                </a:solidFill>
                <a:latin typeface="Segoe UI"/>
                <a:ea typeface="Segoe UI"/>
                <a:cs typeface="Segoe UI"/>
              </a:defRPr>
            </a:pPr>
            <a:r>
              <a:rPr sz="2100" b="0">
                <a:solidFill>
                  <a:srgbClr val="102C43"/>
                </a:solidFill>
                <a:latin typeface="Segoe UI"/>
                <a:ea typeface="Segoe UI"/>
                <a:cs typeface="Segoe UI"/>
              </a:rPr>
              <a:t>driver: “New committee reviews clinical models”</a:t>
            </a:r>
          </a:p>
        </p:txBody>
      </p:sp>
      <p:sp>
        <p:nvSpPr>
          <p:cNvPr id="10" name="">
            <a:extLst xmlns:a="http://schemas.openxmlformats.org/drawingml/2006/main">
              <a:ext uri="{FF2B5EF4-FFF2-40B4-BE49-F238E27FC236}">
                <a16:creationId xmlns:a16="http://schemas.microsoft.com/office/drawing/2014/main" id="{333E2A72-A583-4D66-A5FC-25E20607593A}"/>
              </a:ext>
            </a:extLst>
          </p:cNvPr>
          <p:cNvSpPr>
            <a:spLocks xmlns:a="http://schemas.openxmlformats.org/drawingml/2006/main" noGrp="1"/>
          </p:cNvSpPr>
          <p:nvPr/>
        </p:nvSpPr>
        <p:spPr>
          <a:xfrm xmlns:a="http://schemas.openxmlformats.org/drawingml/2006/main">
            <a:off x="762000" y="527685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1" name="12 articles × 2 themes = 24 extracted mentions">
            <a:extLst xmlns:a="http://schemas.openxmlformats.org/drawingml/2006/main">
              <a:ext uri="{FF2B5EF4-FFF2-40B4-BE49-F238E27FC236}">
                <a16:creationId xmlns:a16="http://schemas.microsoft.com/office/drawing/2014/main" id="{05E9D193-D954-444B-B46E-1F116B27FD5F}"/>
              </a:ext>
            </a:extLst>
          </p:cNvPr>
          <p:cNvSpPr>
            <a:spLocks xmlns:a="http://schemas.openxmlformats.org/drawingml/2006/main" noGrp="1"/>
          </p:cNvSpPr>
          <p:nvPr/>
        </p:nvSpPr>
        <p:spPr>
          <a:xfrm xmlns:a="http://schemas.openxmlformats.org/drawingml/2006/main">
            <a:off x="762000" y="56864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1">
                <a:solidFill>
                  <a:srgbClr val="007D82"/>
                </a:solidFill>
                <a:latin typeface="Segoe UI"/>
                <a:ea typeface="Segoe UI"/>
                <a:cs typeface="Segoe UI"/>
              </a:defRPr>
            </a:pPr>
            <a:r>
              <a:rPr sz="2850" b="1">
                <a:solidFill>
                  <a:srgbClr val="007D82"/>
                </a:solidFill>
                <a:latin typeface="Segoe UI"/>
                <a:ea typeface="Segoe UI"/>
                <a:cs typeface="Segoe UI"/>
              </a:rPr>
              <a:t>12 articles × 2 themes = 24 extracted mentions</a:t>
            </a:r>
          </a:p>
        </p:txBody>
      </p:sp>
      <p:sp>
        <p:nvSpPr>
          <p:cNvPr id="12" name="Clean phrase keys and retain their article indexes.&#10;Exa">
            <a:extLst xmlns:a="http://schemas.openxmlformats.org/drawingml/2006/main">
              <a:ext uri="{FF2B5EF4-FFF2-40B4-BE49-F238E27FC236}">
                <a16:creationId xmlns:a16="http://schemas.microsoft.com/office/drawing/2014/main" id="{7F425FC2-5A3F-4A05-AA77-3027D7291874}"/>
              </a:ext>
            </a:extLst>
          </p:cNvPr>
          <p:cNvSpPr>
            <a:spLocks xmlns:a="http://schemas.openxmlformats.org/drawingml/2006/main" noGrp="1"/>
          </p:cNvSpPr>
          <p:nvPr/>
        </p:nvSpPr>
        <p:spPr>
          <a:xfrm xmlns:a="http://schemas.openxmlformats.org/drawingml/2006/main">
            <a:off x="762000" y="6477000"/>
            <a:ext cx="1371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Clean phrase keys and retain their article indexes.</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Example: “The AI governance trends” becomes “ai governance”.</a:t>
            </a:r>
          </a:p>
        </p:txBody>
      </p:sp>
      <p:sp>
        <p:nvSpPr>
          <p:cNvPr id="13" name="Illustrative extraction. The model returns themes, enti">
            <a:extLst xmlns:a="http://schemas.openxmlformats.org/drawingml/2006/main">
              <a:ext uri="{FF2B5EF4-FFF2-40B4-BE49-F238E27FC236}">
                <a16:creationId xmlns:a16="http://schemas.microsoft.com/office/drawing/2014/main" id="{D30E5B22-6F97-4FAB-BA96-2B721C01B0DD}"/>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Illustrative extraction. The model returns themes, entities and a driver. Code creates graph relationships later.</a:t>
            </a:r>
          </a:p>
        </p:txBody>
      </p:sp>
    </p:spTree>
    <p:extLst>
      <p:ext uri="{BB962C8B-B14F-4D97-AF65-F5344CB8AC3E}">
        <p14:creationId xmlns:p14="http://schemas.microsoft.com/office/powerpoint/2010/main" val="1613618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AGENT 03 / CONSOLIDATE">
            <a:extLst xmlns:a="http://schemas.openxmlformats.org/drawingml/2006/main">
              <a:ext uri="{FF2B5EF4-FFF2-40B4-BE49-F238E27FC236}">
                <a16:creationId xmlns:a16="http://schemas.microsoft.com/office/drawing/2014/main" id="{A97ABE33-E929-48F4-A6E2-B4B54944C31C}"/>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03 / CONSOLIDATE</a:t>
            </a:r>
          </a:p>
        </p:txBody>
      </p:sp>
      <p:sp>
        <p:nvSpPr>
          <p:cNvPr id="2" name="Topic consolidation: group, name, map back">
            <a:extLst xmlns:a="http://schemas.openxmlformats.org/drawingml/2006/main">
              <a:ext uri="{FF2B5EF4-FFF2-40B4-BE49-F238E27FC236}">
                <a16:creationId xmlns:a16="http://schemas.microsoft.com/office/drawing/2014/main" id="{F532AF63-5A91-40E1-8046-9AFFAD2701A2}"/>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Topic consolidation: group, name, map back</a:t>
            </a:r>
          </a:p>
        </p:txBody>
      </p:sp>
      <p:sp>
        <p:nvSpPr>
          <p:cNvPr id="3" name="">
            <a:extLst xmlns:a="http://schemas.openxmlformats.org/drawingml/2006/main">
              <a:ext uri="{FF2B5EF4-FFF2-40B4-BE49-F238E27FC236}">
                <a16:creationId xmlns:a16="http://schemas.microsoft.com/office/drawing/2014/main" id="{6D7A7124-2E81-481B-B803-3B1476CD06EE}"/>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D8D1AC1A-766E-490A-B74F-165ED784EBB4}"/>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7">
            <a:extLst xmlns:a="http://schemas.openxmlformats.org/drawingml/2006/main">
              <a:ext uri="{FF2B5EF4-FFF2-40B4-BE49-F238E27FC236}">
                <a16:creationId xmlns:a16="http://schemas.microsoft.com/office/drawing/2014/main" id="{A52A85D6-56F7-4350-B578-4E99C78B0323}"/>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07</a:t>
            </a:r>
          </a:p>
        </p:txBody>
      </p:sp>
      <p:sp>
        <p:nvSpPr>
          <p:cNvPr id="6" name="">
            <a:extLst xmlns:a="http://schemas.openxmlformats.org/drawingml/2006/main">
              <a:ext uri="{FF2B5EF4-FFF2-40B4-BE49-F238E27FC236}">
                <a16:creationId xmlns:a16="http://schemas.microsoft.com/office/drawing/2014/main" id="{808857A3-90E2-4F0C-B7AC-696BAF009655}"/>
              </a:ext>
            </a:extLst>
          </p:cNvPr>
          <p:cNvSpPr>
            <a:spLocks xmlns:a="http://schemas.openxmlformats.org/drawingml/2006/main" noGrp="1"/>
          </p:cNvSpPr>
          <p:nvPr/>
        </p:nvSpPr>
        <p:spPr>
          <a:xfrm xmlns:a="http://schemas.openxmlformats.org/drawingml/2006/main">
            <a:off x="762000" y="2362200"/>
            <a:ext cx="3143250" cy="19145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24 mentions">
            <a:extLst xmlns:a="http://schemas.openxmlformats.org/drawingml/2006/main">
              <a:ext uri="{FF2B5EF4-FFF2-40B4-BE49-F238E27FC236}">
                <a16:creationId xmlns:a16="http://schemas.microsoft.com/office/drawing/2014/main" id="{36C4C1FB-5114-4A28-89A2-E8A9BA3236F9}"/>
              </a:ext>
            </a:extLst>
          </p:cNvPr>
          <p:cNvSpPr>
            <a:spLocks xmlns:a="http://schemas.openxmlformats.org/drawingml/2006/main" noGrp="1"/>
          </p:cNvSpPr>
          <p:nvPr/>
        </p:nvSpPr>
        <p:spPr>
          <a:xfrm xmlns:a="http://schemas.openxmlformats.org/drawingml/2006/main">
            <a:off x="952500" y="25812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24 mentions</a:t>
            </a:r>
          </a:p>
        </p:txBody>
      </p:sp>
      <p:sp>
        <p:nvSpPr>
          <p:cNvPr id="8" name="16 cleaned phrases">
            <a:extLst xmlns:a="http://schemas.openxmlformats.org/drawingml/2006/main">
              <a:ext uri="{FF2B5EF4-FFF2-40B4-BE49-F238E27FC236}">
                <a16:creationId xmlns:a16="http://schemas.microsoft.com/office/drawing/2014/main" id="{7F18F9BF-9335-448F-AF2D-73EB7A46C55C}"/>
              </a:ext>
            </a:extLst>
          </p:cNvPr>
          <p:cNvSpPr>
            <a:spLocks xmlns:a="http://schemas.openxmlformats.org/drawingml/2006/main" noGrp="1"/>
          </p:cNvSpPr>
          <p:nvPr/>
        </p:nvSpPr>
        <p:spPr>
          <a:xfrm xmlns:a="http://schemas.openxmlformats.org/drawingml/2006/main">
            <a:off x="952500" y="3305175"/>
            <a:ext cx="276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16 cleaned phrases</a:t>
            </a:r>
          </a:p>
        </p:txBody>
      </p:sp>
      <p:sp>
        <p:nvSpPr>
          <p:cNvPr id="9" name="">
            <a:extLst xmlns:a="http://schemas.openxmlformats.org/drawingml/2006/main">
              <a:ext uri="{FF2B5EF4-FFF2-40B4-BE49-F238E27FC236}">
                <a16:creationId xmlns:a16="http://schemas.microsoft.com/office/drawing/2014/main" id="{738A8CC4-B809-44D7-B8A2-227C2F5AF6EA}"/>
              </a:ext>
            </a:extLst>
          </p:cNvPr>
          <p:cNvSpPr>
            <a:spLocks xmlns:a="http://schemas.openxmlformats.org/drawingml/2006/main" noGrp="1"/>
          </p:cNvSpPr>
          <p:nvPr/>
        </p:nvSpPr>
        <p:spPr>
          <a:xfrm xmlns:a="http://schemas.openxmlformats.org/drawingml/2006/main">
            <a:off x="4286250" y="2362200"/>
            <a:ext cx="3143250" cy="19145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0" name="Embed + cluster">
            <a:extLst xmlns:a="http://schemas.openxmlformats.org/drawingml/2006/main">
              <a:ext uri="{FF2B5EF4-FFF2-40B4-BE49-F238E27FC236}">
                <a16:creationId xmlns:a16="http://schemas.microsoft.com/office/drawing/2014/main" id="{3F8A4B1C-2336-4051-97F6-7944B9DEEFD5}"/>
              </a:ext>
            </a:extLst>
          </p:cNvPr>
          <p:cNvSpPr>
            <a:spLocks xmlns:a="http://schemas.openxmlformats.org/drawingml/2006/main" noGrp="1"/>
          </p:cNvSpPr>
          <p:nvPr/>
        </p:nvSpPr>
        <p:spPr>
          <a:xfrm xmlns:a="http://schemas.openxmlformats.org/drawingml/2006/main">
            <a:off x="4476750" y="25812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Embed + cluster</a:t>
            </a:r>
          </a:p>
        </p:txBody>
      </p:sp>
      <p:sp>
        <p:nvSpPr>
          <p:cNvPr id="11" name="Compare to centroids">
            <a:extLst xmlns:a="http://schemas.openxmlformats.org/drawingml/2006/main">
              <a:ext uri="{FF2B5EF4-FFF2-40B4-BE49-F238E27FC236}">
                <a16:creationId xmlns:a16="http://schemas.microsoft.com/office/drawing/2014/main" id="{1F0080B6-2C08-4A08-918E-D50D65BECBA9}"/>
              </a:ext>
            </a:extLst>
          </p:cNvPr>
          <p:cNvSpPr>
            <a:spLocks xmlns:a="http://schemas.openxmlformats.org/drawingml/2006/main" noGrp="1"/>
          </p:cNvSpPr>
          <p:nvPr/>
        </p:nvSpPr>
        <p:spPr>
          <a:xfrm xmlns:a="http://schemas.openxmlformats.org/drawingml/2006/main">
            <a:off x="4476750" y="3305175"/>
            <a:ext cx="276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Compare to centroids</a:t>
            </a:r>
          </a:p>
        </p:txBody>
      </p:sp>
      <p:cxnSp>
        <p:nvCxnSpPr>
          <p:cNvPr id="35" name=""/>
          <p:cNvCxnSpPr>
            <a:stCxn xmlns:a="http://schemas.openxmlformats.org/drawingml/2006/main" id="6" idx="3"/>
            <a:endCxn xmlns:a="http://schemas.openxmlformats.org/drawingml/2006/main" id="9" idx="1"/>
          </p:cNvCxnSpPr>
          <p:nvPr/>
        </p:nvCxnSpPr>
        <p:spPr>
          <a:xfrm xmlns:a="http://schemas.openxmlformats.org/drawingml/2006/main">
            <a:off x="3905250" y="3319463"/>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3" name="">
            <a:extLst xmlns:a="http://schemas.openxmlformats.org/drawingml/2006/main">
              <a:ext uri="{FF2B5EF4-FFF2-40B4-BE49-F238E27FC236}">
                <a16:creationId xmlns:a16="http://schemas.microsoft.com/office/drawing/2014/main" id="{9AAB995F-623C-4781-ADC6-CD94C1BD4EE6}"/>
              </a:ext>
            </a:extLst>
          </p:cNvPr>
          <p:cNvSpPr>
            <a:spLocks xmlns:a="http://schemas.openxmlformats.org/drawingml/2006/main" noGrp="1"/>
          </p:cNvSpPr>
          <p:nvPr/>
        </p:nvSpPr>
        <p:spPr>
          <a:xfrm xmlns:a="http://schemas.openxmlformats.org/drawingml/2006/main">
            <a:off x="7810500" y="2362200"/>
            <a:ext cx="3143250" cy="19145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4" name="Second LLM call">
            <a:extLst xmlns:a="http://schemas.openxmlformats.org/drawingml/2006/main">
              <a:ext uri="{FF2B5EF4-FFF2-40B4-BE49-F238E27FC236}">
                <a16:creationId xmlns:a16="http://schemas.microsoft.com/office/drawing/2014/main" id="{F018F928-7010-44B9-A00F-4DAC09EE76F9}"/>
              </a:ext>
            </a:extLst>
          </p:cNvPr>
          <p:cNvSpPr>
            <a:spLocks xmlns:a="http://schemas.openxmlformats.org/drawingml/2006/main" noGrp="1"/>
          </p:cNvSpPr>
          <p:nvPr/>
        </p:nvSpPr>
        <p:spPr>
          <a:xfrm xmlns:a="http://schemas.openxmlformats.org/drawingml/2006/main">
            <a:off x="8001000" y="25812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Second LLM call</a:t>
            </a:r>
          </a:p>
        </p:txBody>
      </p:sp>
      <p:sp>
        <p:nvSpPr>
          <p:cNvPr id="15" name="Name groups, merge synonyms">
            <a:extLst xmlns:a="http://schemas.openxmlformats.org/drawingml/2006/main">
              <a:ext uri="{FF2B5EF4-FFF2-40B4-BE49-F238E27FC236}">
                <a16:creationId xmlns:a16="http://schemas.microsoft.com/office/drawing/2014/main" id="{EDFE8D4C-1408-4AEC-B7F0-A0470AFCD852}"/>
              </a:ext>
            </a:extLst>
          </p:cNvPr>
          <p:cNvSpPr>
            <a:spLocks xmlns:a="http://schemas.openxmlformats.org/drawingml/2006/main" noGrp="1"/>
          </p:cNvSpPr>
          <p:nvPr/>
        </p:nvSpPr>
        <p:spPr>
          <a:xfrm xmlns:a="http://schemas.openxmlformats.org/drawingml/2006/main">
            <a:off x="8001000" y="3305175"/>
            <a:ext cx="276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Name groups, merge synonyms</a:t>
            </a:r>
          </a:p>
        </p:txBody>
      </p:sp>
      <p:cxnSp>
        <p:nvCxnSpPr>
          <p:cNvPr id="39" name=""/>
          <p:cNvCxnSpPr>
            <a:stCxn xmlns:a="http://schemas.openxmlformats.org/drawingml/2006/main" id="9" idx="3"/>
            <a:endCxn xmlns:a="http://schemas.openxmlformats.org/drawingml/2006/main" id="13" idx="1"/>
          </p:cNvCxnSpPr>
          <p:nvPr/>
        </p:nvCxnSpPr>
        <p:spPr>
          <a:xfrm xmlns:a="http://schemas.openxmlformats.org/drawingml/2006/main">
            <a:off x="7429500" y="3319463"/>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7" name="">
            <a:extLst xmlns:a="http://schemas.openxmlformats.org/drawingml/2006/main">
              <a:ext uri="{FF2B5EF4-FFF2-40B4-BE49-F238E27FC236}">
                <a16:creationId xmlns:a16="http://schemas.microsoft.com/office/drawing/2014/main" id="{9C958096-6C5A-4529-9C0A-05E927ABCA6D}"/>
              </a:ext>
            </a:extLst>
          </p:cNvPr>
          <p:cNvSpPr>
            <a:spLocks xmlns:a="http://schemas.openxmlformats.org/drawingml/2006/main" noGrp="1"/>
          </p:cNvSpPr>
          <p:nvPr/>
        </p:nvSpPr>
        <p:spPr>
          <a:xfrm xmlns:a="http://schemas.openxmlformats.org/drawingml/2006/main">
            <a:off x="11334750" y="2362200"/>
            <a:ext cx="3143250" cy="19145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8" name="3 topic records">
            <a:extLst xmlns:a="http://schemas.openxmlformats.org/drawingml/2006/main">
              <a:ext uri="{FF2B5EF4-FFF2-40B4-BE49-F238E27FC236}">
                <a16:creationId xmlns:a16="http://schemas.microsoft.com/office/drawing/2014/main" id="{F1A5EB45-F3A9-40A5-A807-3FC3435C2235}"/>
              </a:ext>
            </a:extLst>
          </p:cNvPr>
          <p:cNvSpPr>
            <a:spLocks xmlns:a="http://schemas.openxmlformats.org/drawingml/2006/main" noGrp="1"/>
          </p:cNvSpPr>
          <p:nvPr/>
        </p:nvSpPr>
        <p:spPr>
          <a:xfrm xmlns:a="http://schemas.openxmlformats.org/drawingml/2006/main">
            <a:off x="11525250" y="25812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3 topic records</a:t>
            </a:r>
          </a:p>
        </p:txBody>
      </p:sp>
      <p:sp>
        <p:nvSpPr>
          <p:cNvPr id="19" name="Recover article evidence">
            <a:extLst xmlns:a="http://schemas.openxmlformats.org/drawingml/2006/main">
              <a:ext uri="{FF2B5EF4-FFF2-40B4-BE49-F238E27FC236}">
                <a16:creationId xmlns:a16="http://schemas.microsoft.com/office/drawing/2014/main" id="{DF153F55-A1DA-430F-A971-0AD2A251E545}"/>
              </a:ext>
            </a:extLst>
          </p:cNvPr>
          <p:cNvSpPr>
            <a:spLocks xmlns:a="http://schemas.openxmlformats.org/drawingml/2006/main" noGrp="1"/>
          </p:cNvSpPr>
          <p:nvPr/>
        </p:nvSpPr>
        <p:spPr>
          <a:xfrm xmlns:a="http://schemas.openxmlformats.org/drawingml/2006/main">
            <a:off x="11525250" y="3305175"/>
            <a:ext cx="276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Recover article evidence</a:t>
            </a:r>
          </a:p>
        </p:txBody>
      </p:sp>
      <p:cxnSp>
        <p:nvCxnSpPr>
          <p:cNvPr id="43" name=""/>
          <p:cNvCxnSpPr>
            <a:stCxn xmlns:a="http://schemas.openxmlformats.org/drawingml/2006/main" id="13" idx="3"/>
            <a:endCxn xmlns:a="http://schemas.openxmlformats.org/drawingml/2006/main" id="17" idx="1"/>
          </p:cNvCxnSpPr>
          <p:nvPr/>
        </p:nvCxnSpPr>
        <p:spPr>
          <a:xfrm xmlns:a="http://schemas.openxmlformats.org/drawingml/2006/main">
            <a:off x="10953750" y="3319463"/>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1" name="Similarity = dot(unit vector, unit centroid)    Join at">
            <a:extLst xmlns:a="http://schemas.openxmlformats.org/drawingml/2006/main">
              <a:ext uri="{FF2B5EF4-FFF2-40B4-BE49-F238E27FC236}">
                <a16:creationId xmlns:a16="http://schemas.microsoft.com/office/drawing/2014/main" id="{FF43FDA5-156E-4D14-B4CD-DD3FCDDE04D3}"/>
              </a:ext>
            </a:extLst>
          </p:cNvPr>
          <p:cNvSpPr>
            <a:spLocks xmlns:a="http://schemas.openxmlformats.org/drawingml/2006/main" noGrp="1"/>
          </p:cNvSpPr>
          <p:nvPr/>
        </p:nvSpPr>
        <p:spPr>
          <a:xfrm xmlns:a="http://schemas.openxmlformats.org/drawingml/2006/main">
            <a:off x="762000" y="4667250"/>
            <a:ext cx="1371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007D82"/>
                </a:solidFill>
                <a:latin typeface="Segoe UI"/>
                <a:ea typeface="Segoe UI"/>
                <a:cs typeface="Segoe UI"/>
              </a:defRPr>
            </a:pPr>
            <a:r>
              <a:rPr sz="2550" b="1">
                <a:solidFill>
                  <a:srgbClr val="007D82"/>
                </a:solidFill>
                <a:latin typeface="Segoe UI"/>
                <a:ea typeface="Segoe UI"/>
                <a:cs typeface="Segoe UI"/>
              </a:rPr>
              <a:t>Similarity = dot(unit vector, unit centroid)    Join at ≥ 0.93</a:t>
            </a:r>
          </a:p>
        </p:txBody>
      </p:sp>
      <p:graphicFrame>
        <p:nvGraphicFramePr>
          <p:cNvPr id="45" name=""/>
          <p:cNvGraphicFramePr/>
          <p:nvPr/>
        </p:nvGraphicFramePr>
        <p:xfrm>
          <a:off xmlns:a="http://schemas.openxmlformats.org/drawingml/2006/main" x="762000" y="5238750"/>
          <a:ext xmlns:a="http://schemas.openxmlformats.org/drawingml/2006/main" cx="13716000" cy="1943100"/>
        </p:xfrm>
        <a:graphic xmlns:a="http://schemas.openxmlformats.org/drawingml/2006/main">
          <a:graphicData uri="http://schemas.openxmlformats.org/drawingml/2006/table">
            <a:tbl>
              <a:tblPr/>
              <a:tblGrid>
                <a:gridCol w="5619750"/>
                <a:gridCol w="2571750"/>
                <a:gridCol w="5524500"/>
              </a:tblGrid>
              <a:tr h="485775">
                <a:tc>
                  <a:txBody>
                    <a:bodyPr lIns="171450" tIns="123825" rIns="171450" bIns="114300">
                      <a:noAutofit/>
                    </a:bodyPr>
                    <a:lstStyle/>
                    <a:p>
                      <a:r>
                        <a:rPr sz="1800" b="1">
                          <a:solidFill>
                            <a:srgbClr val="FFFFFF"/>
                          </a:solidFill>
                          <a:latin typeface="Segoe UI"/>
                          <a:ea typeface="Segoe UI"/>
                          <a:cs typeface="Segoe UI"/>
                        </a:rPr>
                        <a:t>Canonical output example</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Member groups</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Recovered evidence</a:t>
                      </a:r>
                    </a:p>
                  </a:txBody>
                  <a:tcPr marL="91440" marR="91440" marT="45720" marB="45720">
                    <a:solidFill>
                      <a:srgbClr val="0B2238"/>
                    </a:solidFill>
                  </a:tcPr>
                </a:tc>
              </a:tr>
              <a:tr h="485775">
                <a:tc>
                  <a:txBody>
                    <a:bodyPr lIns="171450" tIns="123825" rIns="171450" bIns="114300">
                      <a:noAutofit/>
                    </a:bodyPr>
                    <a:lstStyle/>
                    <a:p>
                      <a:r>
                        <a:rPr sz="1800" b="1">
                          <a:solidFill>
                            <a:srgbClr val="102C43"/>
                          </a:solidFill>
                          <a:latin typeface="Segoe UI"/>
                          <a:ea typeface="Segoe UI"/>
                          <a:cs typeface="Segoe UI"/>
                        </a:rPr>
                        <a:t>Clinical AI Governance</a:t>
                      </a:r>
                    </a:p>
                  </a:txBody>
                  <a:tcPr marL="91440" marR="91440" marT="45720" marB="45720">
                    <a:solidFill>
                      <a:srgbClr val="F5F8FB"/>
                    </a:solidFill>
                  </a:tcPr>
                </a:tc>
                <a:tc>
                  <a:txBody>
                    <a:bodyPr lIns="171450" tIns="123825" rIns="171450" bIns="114300">
                      <a:noAutofit/>
                    </a:bodyPr>
                    <a:lstStyle/>
                    <a:p>
                      <a:r>
                        <a:rPr sz="1800" b="0">
                          <a:solidFill>
                            <a:srgbClr val="102C43"/>
                          </a:solidFill>
                          <a:latin typeface="Segoe UI"/>
                          <a:ea typeface="Segoe UI"/>
                          <a:cs typeface="Segoe UI"/>
                        </a:rPr>
                        <a:t>[0, 2]</a:t>
                      </a:r>
                    </a:p>
                  </a:txBody>
                  <a:tcPr marL="91440" marR="91440" marT="45720" marB="45720">
                    <a:solidFill>
                      <a:srgbClr val="F5F8FB"/>
                    </a:solidFill>
                  </a:tcPr>
                </a:tc>
                <a:tc>
                  <a:txBody>
                    <a:bodyPr lIns="171450" tIns="123825" rIns="171450" bIns="114300">
                      <a:noAutofit/>
                    </a:bodyPr>
                    <a:lstStyle/>
                    <a:p>
                      <a:r>
                        <a:rPr sz="1800" b="0">
                          <a:solidFill>
                            <a:srgbClr val="102C43"/>
                          </a:solidFill>
                          <a:latin typeface="Segoe UI"/>
                          <a:ea typeface="Segoe UI"/>
                          <a:cs typeface="Segoe UI"/>
                        </a:rPr>
                        <a:t>5 article URLs across 4 domains</a:t>
                      </a:r>
                    </a:p>
                  </a:txBody>
                  <a:tcPr marL="91440" marR="91440" marT="45720" marB="45720">
                    <a:solidFill>
                      <a:srgbClr val="F5F8FB"/>
                    </a:solidFill>
                  </a:tcPr>
                </a:tc>
              </a:tr>
              <a:tr h="485775">
                <a:tc>
                  <a:txBody>
                    <a:bodyPr lIns="171450" tIns="123825" rIns="171450" bIns="114300">
                      <a:noAutofit/>
                    </a:bodyPr>
                    <a:lstStyle/>
                    <a:p>
                      <a:r>
                        <a:rPr sz="1800" b="1">
                          <a:solidFill>
                            <a:srgbClr val="102C43"/>
                          </a:solidFill>
                          <a:latin typeface="Segoe UI"/>
                          <a:ea typeface="Segoe UI"/>
                          <a:cs typeface="Segoe UI"/>
                        </a:rPr>
                        <a:t>Healthcare Agentic AI</a:t>
                      </a:r>
                    </a:p>
                  </a:txBody>
                  <a:tcPr marL="91440" marR="91440" marT="45720" marB="45720">
                    <a:solidFill>
                      <a:srgbClr val="FFFFFF"/>
                    </a:solidFill>
                  </a:tcPr>
                </a:tc>
                <a:tc>
                  <a:txBody>
                    <a:bodyPr lIns="171450" tIns="123825" rIns="171450" bIns="114300">
                      <a:noAutofit/>
                    </a:bodyPr>
                    <a:lstStyle/>
                    <a:p>
                      <a:r>
                        <a:rPr sz="1800" b="0">
                          <a:solidFill>
                            <a:srgbClr val="102C43"/>
                          </a:solidFill>
                          <a:latin typeface="Segoe UI"/>
                          <a:ea typeface="Segoe UI"/>
                          <a:cs typeface="Segoe UI"/>
                        </a:rPr>
                        <a:t>[1]</a:t>
                      </a:r>
                    </a:p>
                  </a:txBody>
                  <a:tcPr marL="91440" marR="91440" marT="45720" marB="45720">
                    <a:solidFill>
                      <a:srgbClr val="FFFFFF"/>
                    </a:solidFill>
                  </a:tcPr>
                </a:tc>
                <a:tc>
                  <a:txBody>
                    <a:bodyPr lIns="171450" tIns="123825" rIns="171450" bIns="114300">
                      <a:noAutofit/>
                    </a:bodyPr>
                    <a:lstStyle/>
                    <a:p>
                      <a:r>
                        <a:rPr sz="1800" b="0">
                          <a:solidFill>
                            <a:srgbClr val="102C43"/>
                          </a:solidFill>
                          <a:latin typeface="Segoe UI"/>
                          <a:ea typeface="Segoe UI"/>
                          <a:cs typeface="Segoe UI"/>
                        </a:rPr>
                        <a:t>Its own URLs, entities and dates</a:t>
                      </a:r>
                    </a:p>
                  </a:txBody>
                  <a:tcPr marL="91440" marR="91440" marT="45720" marB="45720">
                    <a:solidFill>
                      <a:srgbClr val="FFFFFF"/>
                    </a:solidFill>
                  </a:tcPr>
                </a:tc>
              </a:tr>
              <a:tr h="485775">
                <a:tc>
                  <a:txBody>
                    <a:bodyPr lIns="171450" tIns="123825" rIns="171450" bIns="114300">
                      <a:noAutofit/>
                    </a:bodyPr>
                    <a:lstStyle/>
                    <a:p>
                      <a:r>
                        <a:rPr sz="1800" b="1">
                          <a:solidFill>
                            <a:srgbClr val="102C43"/>
                          </a:solidFill>
                          <a:latin typeface="Segoe UI"/>
                          <a:ea typeface="Segoe UI"/>
                          <a:cs typeface="Segoe UI"/>
                        </a:rPr>
                        <a:t>AI Diagnostic Accuracy</a:t>
                      </a:r>
                    </a:p>
                  </a:txBody>
                  <a:tcPr marL="91440" marR="91440" marT="45720" marB="45720">
                    <a:solidFill>
                      <a:srgbClr val="F5F8FB"/>
                    </a:solidFill>
                  </a:tcPr>
                </a:tc>
                <a:tc>
                  <a:txBody>
                    <a:bodyPr lIns="171450" tIns="123825" rIns="171450" bIns="114300">
                      <a:noAutofit/>
                    </a:bodyPr>
                    <a:lstStyle/>
                    <a:p>
                      <a:r>
                        <a:rPr sz="1800" b="0">
                          <a:solidFill>
                            <a:srgbClr val="102C43"/>
                          </a:solidFill>
                          <a:latin typeface="Segoe UI"/>
                          <a:ea typeface="Segoe UI"/>
                          <a:cs typeface="Segoe UI"/>
                        </a:rPr>
                        <a:t>[3]</a:t>
                      </a:r>
                    </a:p>
                  </a:txBody>
                  <a:tcPr marL="91440" marR="91440" marT="45720" marB="45720">
                    <a:solidFill>
                      <a:srgbClr val="F5F8FB"/>
                    </a:solidFill>
                  </a:tcPr>
                </a:tc>
                <a:tc>
                  <a:txBody>
                    <a:bodyPr lIns="171450" tIns="123825" rIns="171450" bIns="114300">
                      <a:noAutofit/>
                    </a:bodyPr>
                    <a:lstStyle/>
                    <a:p>
                      <a:r>
                        <a:rPr sz="1800" b="0">
                          <a:solidFill>
                            <a:srgbClr val="102C43"/>
                          </a:solidFill>
                          <a:latin typeface="Segoe UI"/>
                          <a:ea typeface="Segoe UI"/>
                          <a:cs typeface="Segoe UI"/>
                        </a:rPr>
                        <a:t>Its own URLs, entities and dates</a:t>
                      </a:r>
                    </a:p>
                  </a:txBody>
                  <a:tcPr marL="91440" marR="91440" marT="45720" marB="45720">
                    <a:solidFill>
                      <a:srgbClr val="F5F8FB"/>
                    </a:solidFill>
                  </a:tcPr>
                </a:tc>
              </a:tr>
            </a:tbl>
          </a:graphicData>
        </a:graphic>
      </p:graphicFrame>
      <p:sp>
        <p:nvSpPr>
          <p:cNvPr id="23" name="Illustrative counts. Output is 3 topic records plus the">
            <a:extLst xmlns:a="http://schemas.openxmlformats.org/drawingml/2006/main">
              <a:ext uri="{FF2B5EF4-FFF2-40B4-BE49-F238E27FC236}">
                <a16:creationId xmlns:a16="http://schemas.microsoft.com/office/drawing/2014/main" id="{B75FB64E-12BA-4986-B84E-D8CF8FF79B53}"/>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Illustrative counts. Output is 3 topic records plus the original articles in state. Topic names emerge from this scan.</a:t>
            </a:r>
          </a:p>
        </p:txBody>
      </p:sp>
    </p:spTree>
    <p:extLst>
      <p:ext uri="{BB962C8B-B14F-4D97-AF65-F5344CB8AC3E}">
        <p14:creationId xmlns:p14="http://schemas.microsoft.com/office/powerpoint/2010/main" val="16501379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GENT 04 / PYTHON CALCULATION">
            <a:extLst xmlns:a="http://schemas.openxmlformats.org/drawingml/2006/main">
              <a:ext uri="{FF2B5EF4-FFF2-40B4-BE49-F238E27FC236}">
                <a16:creationId xmlns:a16="http://schemas.microsoft.com/office/drawing/2014/main" id="{655D4997-5C3A-4601-891E-1CB05768244A}"/>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04 / PYTHON CALCULATION</a:t>
            </a:r>
          </a:p>
        </p:txBody>
      </p:sp>
      <p:sp>
        <p:nvSpPr>
          <p:cNvPr id="2" name="Attention: breadth and recency, calculated explicitly">
            <a:extLst xmlns:a="http://schemas.openxmlformats.org/drawingml/2006/main">
              <a:ext uri="{FF2B5EF4-FFF2-40B4-BE49-F238E27FC236}">
                <a16:creationId xmlns:a16="http://schemas.microsoft.com/office/drawing/2014/main" id="{E4CC6F1D-A2F9-41A2-98BF-C4F3C5C7BA11}"/>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Attention: breadth and recency, calculated explicitly</a:t>
            </a:r>
          </a:p>
        </p:txBody>
      </p:sp>
      <p:sp>
        <p:nvSpPr>
          <p:cNvPr id="3" name="">
            <a:extLst xmlns:a="http://schemas.openxmlformats.org/drawingml/2006/main">
              <a:ext uri="{FF2B5EF4-FFF2-40B4-BE49-F238E27FC236}">
                <a16:creationId xmlns:a16="http://schemas.microsoft.com/office/drawing/2014/main" id="{DB952C7C-B555-4BEC-A557-CD2AED755242}"/>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0971A57D-BA60-49A1-B885-B43FAC26EC8D}"/>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8">
            <a:extLst xmlns:a="http://schemas.openxmlformats.org/drawingml/2006/main">
              <a:ext uri="{FF2B5EF4-FFF2-40B4-BE49-F238E27FC236}">
                <a16:creationId xmlns:a16="http://schemas.microsoft.com/office/drawing/2014/main" id="{162F791B-26DC-4DAE-884C-808B9D40187E}"/>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08</a:t>
            </a:r>
          </a:p>
        </p:txBody>
      </p:sp>
      <p:sp>
        <p:nvSpPr>
          <p:cNvPr id="6" name="Example input: 5 articles, 4 publishers, newest article">
            <a:extLst xmlns:a="http://schemas.openxmlformats.org/drawingml/2006/main">
              <a:ext uri="{FF2B5EF4-FFF2-40B4-BE49-F238E27FC236}">
                <a16:creationId xmlns:a16="http://schemas.microsoft.com/office/drawing/2014/main" id="{13C4B0C9-E020-450A-9361-304C38479CFA}"/>
              </a:ext>
            </a:extLst>
          </p:cNvPr>
          <p:cNvSpPr>
            <a:spLocks xmlns:a="http://schemas.openxmlformats.org/drawingml/2006/main" noGrp="1"/>
          </p:cNvSpPr>
          <p:nvPr/>
        </p:nvSpPr>
        <p:spPr>
          <a:xfrm xmlns:a="http://schemas.openxmlformats.org/drawingml/2006/main">
            <a:off x="762000" y="23145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536C80"/>
                </a:solidFill>
                <a:latin typeface="Segoe UI"/>
                <a:ea typeface="Segoe UI"/>
                <a:cs typeface="Segoe UI"/>
              </a:defRPr>
            </a:pPr>
            <a:r>
              <a:rPr sz="2475" b="0">
                <a:solidFill>
                  <a:srgbClr val="536C80"/>
                </a:solidFill>
                <a:latin typeface="Segoe UI"/>
                <a:ea typeface="Segoe UI"/>
                <a:cs typeface="Segoe UI"/>
              </a:rPr>
              <a:t>Example input: 5 articles, 4 publishers, newest article 4 days ago</a:t>
            </a:r>
          </a:p>
        </p:txBody>
      </p:sp>
      <p:sp>
        <p:nvSpPr>
          <p:cNvPr id="7" name="BREADTH: REWARD DISTINCT PUBLISHERS">
            <a:extLst xmlns:a="http://schemas.openxmlformats.org/drawingml/2006/main">
              <a:ext uri="{FF2B5EF4-FFF2-40B4-BE49-F238E27FC236}">
                <a16:creationId xmlns:a16="http://schemas.microsoft.com/office/drawing/2014/main" id="{E63D7ADC-9DE1-4717-AC1E-298DCC857A5C}"/>
              </a:ext>
            </a:extLst>
          </p:cNvPr>
          <p:cNvSpPr>
            <a:spLocks xmlns:a="http://schemas.openxmlformats.org/drawingml/2006/main" noGrp="1"/>
          </p:cNvSpPr>
          <p:nvPr/>
        </p:nvSpPr>
        <p:spPr>
          <a:xfrm xmlns:a="http://schemas.openxmlformats.org/drawingml/2006/main">
            <a:off x="762000" y="3219450"/>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BREADTH: REWARD DISTINCT PUBLISHERS</a:t>
            </a:r>
          </a:p>
        </p:txBody>
      </p:sp>
      <p:sp>
        <p:nvSpPr>
          <p:cNvPr id="8" name="B = min(1, 0.7 × publishers / 6 + 0.3 × min(articles, 1">
            <a:extLst xmlns:a="http://schemas.openxmlformats.org/drawingml/2006/main">
              <a:ext uri="{FF2B5EF4-FFF2-40B4-BE49-F238E27FC236}">
                <a16:creationId xmlns:a16="http://schemas.microsoft.com/office/drawing/2014/main" id="{D14D15C1-E4FC-4F3B-8D3E-8DA62732CA8A}"/>
              </a:ext>
            </a:extLst>
          </p:cNvPr>
          <p:cNvSpPr>
            <a:spLocks xmlns:a="http://schemas.openxmlformats.org/drawingml/2006/main" noGrp="1"/>
          </p:cNvSpPr>
          <p:nvPr/>
        </p:nvSpPr>
        <p:spPr>
          <a:xfrm xmlns:a="http://schemas.openxmlformats.org/drawingml/2006/main">
            <a:off x="762000" y="3724275"/>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102C43"/>
                </a:solidFill>
                <a:latin typeface="Segoe UI"/>
                <a:ea typeface="Segoe UI"/>
                <a:cs typeface="Segoe UI"/>
              </a:defRPr>
            </a:pPr>
            <a:r>
              <a:rPr sz="2400" b="0">
                <a:solidFill>
                  <a:srgbClr val="102C43"/>
                </a:solidFill>
                <a:latin typeface="Segoe UI"/>
                <a:ea typeface="Segoe UI"/>
                <a:cs typeface="Segoe UI"/>
              </a:rPr>
              <a:t>B = min(1, 0.7 × publishers / 6 + 0.3 × min(articles, 12) / 12)</a:t>
            </a:r>
          </a:p>
        </p:txBody>
      </p:sp>
      <p:sp>
        <p:nvSpPr>
          <p:cNvPr id="9" name="B = 0.7 × 4/6 + 0.3 × 5/12 = 0.5917">
            <a:extLst xmlns:a="http://schemas.openxmlformats.org/drawingml/2006/main">
              <a:ext uri="{FF2B5EF4-FFF2-40B4-BE49-F238E27FC236}">
                <a16:creationId xmlns:a16="http://schemas.microsoft.com/office/drawing/2014/main" id="{9D3A7B66-FE12-46D7-BA72-8315A3CB75DA}"/>
              </a:ext>
            </a:extLst>
          </p:cNvPr>
          <p:cNvSpPr>
            <a:spLocks xmlns:a="http://schemas.openxmlformats.org/drawingml/2006/main" noGrp="1"/>
          </p:cNvSpPr>
          <p:nvPr/>
        </p:nvSpPr>
        <p:spPr>
          <a:xfrm xmlns:a="http://schemas.openxmlformats.org/drawingml/2006/main">
            <a:off x="762000" y="44005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007D82"/>
                </a:solidFill>
                <a:latin typeface="Segoe UI"/>
                <a:ea typeface="Segoe UI"/>
                <a:cs typeface="Segoe UI"/>
              </a:defRPr>
            </a:pPr>
            <a:r>
              <a:rPr sz="2475" b="1">
                <a:solidFill>
                  <a:srgbClr val="007D82"/>
                </a:solidFill>
                <a:latin typeface="Segoe UI"/>
                <a:ea typeface="Segoe UI"/>
                <a:cs typeface="Segoe UI"/>
              </a:rPr>
              <a:t>B = 0.7 × 4/6 + 0.3 × 5/12 = 0.5917</a:t>
            </a:r>
          </a:p>
        </p:txBody>
      </p:sp>
      <p:sp>
        <p:nvSpPr>
          <p:cNvPr id="10" name="RECENCY: DISCOUNT OLDER SIGNALS">
            <a:extLst xmlns:a="http://schemas.openxmlformats.org/drawingml/2006/main">
              <a:ext uri="{FF2B5EF4-FFF2-40B4-BE49-F238E27FC236}">
                <a16:creationId xmlns:a16="http://schemas.microsoft.com/office/drawing/2014/main" id="{80EE9738-7870-4F1E-BF06-175FCE2013CF}"/>
              </a:ext>
            </a:extLst>
          </p:cNvPr>
          <p:cNvSpPr>
            <a:spLocks xmlns:a="http://schemas.openxmlformats.org/drawingml/2006/main" noGrp="1"/>
          </p:cNvSpPr>
          <p:nvPr/>
        </p:nvSpPr>
        <p:spPr>
          <a:xfrm xmlns:a="http://schemas.openxmlformats.org/drawingml/2006/main">
            <a:off x="762000" y="5257800"/>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RECENCY: DISCOUNT OLDER SIGNALS</a:t>
            </a:r>
          </a:p>
        </p:txBody>
      </p:sp>
      <p:sp>
        <p:nvSpPr>
          <p:cNvPr id="11" name="R = exp(−days / 30) = exp(−4 / 30) = 0.8752">
            <a:extLst xmlns:a="http://schemas.openxmlformats.org/drawingml/2006/main">
              <a:ext uri="{FF2B5EF4-FFF2-40B4-BE49-F238E27FC236}">
                <a16:creationId xmlns:a16="http://schemas.microsoft.com/office/drawing/2014/main" id="{DB9465C1-0A6A-418E-9F66-17B5F5A4F7B1}"/>
              </a:ext>
            </a:extLst>
          </p:cNvPr>
          <p:cNvSpPr>
            <a:spLocks xmlns:a="http://schemas.openxmlformats.org/drawingml/2006/main" noGrp="1"/>
          </p:cNvSpPr>
          <p:nvPr/>
        </p:nvSpPr>
        <p:spPr>
          <a:xfrm xmlns:a="http://schemas.openxmlformats.org/drawingml/2006/main">
            <a:off x="762000" y="5762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102C43"/>
                </a:solidFill>
                <a:latin typeface="Segoe UI"/>
                <a:ea typeface="Segoe UI"/>
                <a:cs typeface="Segoe UI"/>
              </a:defRPr>
            </a:pPr>
            <a:r>
              <a:rPr sz="2550" b="0">
                <a:solidFill>
                  <a:srgbClr val="102C43"/>
                </a:solidFill>
                <a:latin typeface="Segoe UI"/>
                <a:ea typeface="Segoe UI"/>
                <a:cs typeface="Segoe UI"/>
              </a:rPr>
              <a:t>R = exp(−days / 30) = exp(−4 / 30) = 0.8752</a:t>
            </a:r>
          </a:p>
        </p:txBody>
      </p:sp>
      <p:sp>
        <p:nvSpPr>
          <p:cNvPr id="12" name="">
            <a:extLst xmlns:a="http://schemas.openxmlformats.org/drawingml/2006/main">
              <a:ext uri="{FF2B5EF4-FFF2-40B4-BE49-F238E27FC236}">
                <a16:creationId xmlns:a16="http://schemas.microsoft.com/office/drawing/2014/main" id="{9D20B230-709E-484F-83E4-357F5B79BB30}"/>
              </a:ext>
            </a:extLst>
          </p:cNvPr>
          <p:cNvSpPr>
            <a:spLocks xmlns:a="http://schemas.openxmlformats.org/drawingml/2006/main" noGrp="1"/>
          </p:cNvSpPr>
          <p:nvPr/>
        </p:nvSpPr>
        <p:spPr>
          <a:xfrm xmlns:a="http://schemas.openxmlformats.org/drawingml/2006/main">
            <a:off x="762000" y="650557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3" name="Attention = 0.7B + 0.3R">
            <a:extLst xmlns:a="http://schemas.openxmlformats.org/drawingml/2006/main">
              <a:ext uri="{FF2B5EF4-FFF2-40B4-BE49-F238E27FC236}">
                <a16:creationId xmlns:a16="http://schemas.microsoft.com/office/drawing/2014/main" id="{299F5B7C-622B-4039-9BCD-1E021CECEE98}"/>
              </a:ext>
            </a:extLst>
          </p:cNvPr>
          <p:cNvSpPr>
            <a:spLocks xmlns:a="http://schemas.openxmlformats.org/drawingml/2006/main" noGrp="1"/>
          </p:cNvSpPr>
          <p:nvPr/>
        </p:nvSpPr>
        <p:spPr>
          <a:xfrm xmlns:a="http://schemas.openxmlformats.org/drawingml/2006/main">
            <a:off x="762000" y="6762750"/>
            <a:ext cx="1038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Attention = 0.7B + 0.3R</a:t>
            </a:r>
          </a:p>
        </p:txBody>
      </p:sp>
      <p:sp>
        <p:nvSpPr>
          <p:cNvPr id="14" name="0.6767">
            <a:extLst xmlns:a="http://schemas.openxmlformats.org/drawingml/2006/main">
              <a:ext uri="{FF2B5EF4-FFF2-40B4-BE49-F238E27FC236}">
                <a16:creationId xmlns:a16="http://schemas.microsoft.com/office/drawing/2014/main" id="{225A37E3-C6E5-4BCB-ACA1-76B46B10E503}"/>
              </a:ext>
            </a:extLst>
          </p:cNvPr>
          <p:cNvSpPr>
            <a:spLocks xmlns:a="http://schemas.openxmlformats.org/drawingml/2006/main" noGrp="1"/>
          </p:cNvSpPr>
          <p:nvPr/>
        </p:nvSpPr>
        <p:spPr>
          <a:xfrm xmlns:a="http://schemas.openxmlformats.org/drawingml/2006/main">
            <a:off x="11525250" y="66579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007D82"/>
                </a:solidFill>
                <a:latin typeface="Segoe UI"/>
                <a:ea typeface="Segoe UI"/>
                <a:cs typeface="Segoe UI"/>
              </a:defRPr>
            </a:pPr>
            <a:r>
              <a:rPr sz="4050" b="1">
                <a:solidFill>
                  <a:srgbClr val="007D82"/>
                </a:solidFill>
                <a:latin typeface="Segoe UI"/>
                <a:ea typeface="Segoe UI"/>
                <a:cs typeface="Segoe UI"/>
              </a:rPr>
              <a:t>0.6767</a:t>
            </a:r>
          </a:p>
        </p:txBody>
      </p:sp>
      <p:sp>
        <p:nvSpPr>
          <p:cNvPr id="15" name="The state field is momentum. This score measures sample">
            <a:extLst xmlns:a="http://schemas.openxmlformats.org/drawingml/2006/main">
              <a:ext uri="{FF2B5EF4-FFF2-40B4-BE49-F238E27FC236}">
                <a16:creationId xmlns:a16="http://schemas.microsoft.com/office/drawing/2014/main" id="{6E3A189B-EA7E-457A-BF93-F83AA68315E5}"/>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The state field is momentum. This score measures sampled attention. Historical growth is not measured.</a:t>
            </a:r>
          </a:p>
        </p:txBody>
      </p:sp>
    </p:spTree>
    <p:extLst>
      <p:ext uri="{BB962C8B-B14F-4D97-AF65-F5344CB8AC3E}">
        <p14:creationId xmlns:p14="http://schemas.microsoft.com/office/powerpoint/2010/main" val="7410182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AGENT 05 / RETRIEVE">
            <a:extLst xmlns:a="http://schemas.openxmlformats.org/drawingml/2006/main">
              <a:ext uri="{FF2B5EF4-FFF2-40B4-BE49-F238E27FC236}">
                <a16:creationId xmlns:a16="http://schemas.microsoft.com/office/drawing/2014/main" id="{65A015A0-FF5A-41F4-8DBF-79F6BCBC44E9}"/>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05 / RETRIEVE</a:t>
            </a:r>
          </a:p>
        </p:txBody>
      </p:sp>
      <p:sp>
        <p:nvSpPr>
          <p:cNvPr id="2" name="Coverage: the retrieval funnel for each topic">
            <a:extLst xmlns:a="http://schemas.openxmlformats.org/drawingml/2006/main">
              <a:ext uri="{FF2B5EF4-FFF2-40B4-BE49-F238E27FC236}">
                <a16:creationId xmlns:a16="http://schemas.microsoft.com/office/drawing/2014/main" id="{19799B51-5F85-4E40-A8EC-A4E84FD36117}"/>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Coverage: the retrieval funnel for each topic</a:t>
            </a:r>
          </a:p>
        </p:txBody>
      </p:sp>
      <p:sp>
        <p:nvSpPr>
          <p:cNvPr id="3" name="">
            <a:extLst xmlns:a="http://schemas.openxmlformats.org/drawingml/2006/main">
              <a:ext uri="{FF2B5EF4-FFF2-40B4-BE49-F238E27FC236}">
                <a16:creationId xmlns:a16="http://schemas.microsoft.com/office/drawing/2014/main" id="{3E186AEC-A807-46D0-9638-A51ACFA9DD1C}"/>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17FF9922-5B79-4F2B-8208-8D37898F5A92}"/>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09">
            <a:extLst xmlns:a="http://schemas.openxmlformats.org/drawingml/2006/main">
              <a:ext uri="{FF2B5EF4-FFF2-40B4-BE49-F238E27FC236}">
                <a16:creationId xmlns:a16="http://schemas.microsoft.com/office/drawing/2014/main" id="{F7A6AD66-CD33-4EC5-A39C-7E5ABC2E9BA7}"/>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09</a:t>
            </a:r>
          </a:p>
        </p:txBody>
      </p:sp>
      <p:sp>
        <p:nvSpPr>
          <p:cNvPr id="6" name="Query = topic label + description">
            <a:extLst xmlns:a="http://schemas.openxmlformats.org/drawingml/2006/main">
              <a:ext uri="{FF2B5EF4-FFF2-40B4-BE49-F238E27FC236}">
                <a16:creationId xmlns:a16="http://schemas.microsoft.com/office/drawing/2014/main" id="{1BBC4C3E-04E1-4F3E-9230-C974983DC365}"/>
              </a:ext>
            </a:extLst>
          </p:cNvPr>
          <p:cNvSpPr>
            <a:spLocks xmlns:a="http://schemas.openxmlformats.org/drawingml/2006/main" noGrp="1"/>
          </p:cNvSpPr>
          <p:nvPr/>
        </p:nvSpPr>
        <p:spPr>
          <a:xfrm xmlns:a="http://schemas.openxmlformats.org/drawingml/2006/main">
            <a:off x="762000" y="226695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007D82"/>
                </a:solidFill>
                <a:latin typeface="Segoe UI"/>
                <a:ea typeface="Segoe UI"/>
                <a:cs typeface="Segoe UI"/>
              </a:defRPr>
            </a:pPr>
            <a:r>
              <a:rPr sz="2925" b="1">
                <a:solidFill>
                  <a:srgbClr val="007D82"/>
                </a:solidFill>
                <a:latin typeface="Segoe UI"/>
                <a:ea typeface="Segoe UI"/>
                <a:cs typeface="Segoe UI"/>
              </a:rPr>
              <a:t>Query = topic label + description</a:t>
            </a:r>
          </a:p>
        </p:txBody>
      </p:sp>
      <p:sp>
        <p:nvSpPr>
          <p:cNvPr id="7" name="">
            <a:extLst xmlns:a="http://schemas.openxmlformats.org/drawingml/2006/main">
              <a:ext uri="{FF2B5EF4-FFF2-40B4-BE49-F238E27FC236}">
                <a16:creationId xmlns:a16="http://schemas.microsoft.com/office/drawing/2014/main" id="{682971F6-BE1C-4DE9-AC2F-5E4F247274FA}"/>
              </a:ext>
            </a:extLst>
          </p:cNvPr>
          <p:cNvSpPr>
            <a:spLocks xmlns:a="http://schemas.openxmlformats.org/drawingml/2006/main" noGrp="1"/>
          </p:cNvSpPr>
          <p:nvPr/>
        </p:nvSpPr>
        <p:spPr>
          <a:xfrm xmlns:a="http://schemas.openxmlformats.org/drawingml/2006/main">
            <a:off x="762000" y="3314700"/>
            <a:ext cx="3143250" cy="20859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8" name="Up to 50 chunks">
            <a:extLst xmlns:a="http://schemas.openxmlformats.org/drawingml/2006/main">
              <a:ext uri="{FF2B5EF4-FFF2-40B4-BE49-F238E27FC236}">
                <a16:creationId xmlns:a16="http://schemas.microsoft.com/office/drawing/2014/main" id="{C1D9439C-11CA-493A-B063-571D85DDA174}"/>
              </a:ext>
            </a:extLst>
          </p:cNvPr>
          <p:cNvSpPr>
            <a:spLocks xmlns:a="http://schemas.openxmlformats.org/drawingml/2006/main" noGrp="1"/>
          </p:cNvSpPr>
          <p:nvPr/>
        </p:nvSpPr>
        <p:spPr>
          <a:xfrm xmlns:a="http://schemas.openxmlformats.org/drawingml/2006/main">
            <a:off x="952500" y="35337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Up to 50 chunks</a:t>
            </a:r>
          </a:p>
        </p:txBody>
      </p:sp>
      <p:sp>
        <p:nvSpPr>
          <p:cNvPr id="9" name="Embed query, search FAISS">
            <a:extLst xmlns:a="http://schemas.openxmlformats.org/drawingml/2006/main">
              <a:ext uri="{FF2B5EF4-FFF2-40B4-BE49-F238E27FC236}">
                <a16:creationId xmlns:a16="http://schemas.microsoft.com/office/drawing/2014/main" id="{400E76D6-D227-4A27-823D-C5FF7E90BE22}"/>
              </a:ext>
            </a:extLst>
          </p:cNvPr>
          <p:cNvSpPr>
            <a:spLocks xmlns:a="http://schemas.openxmlformats.org/drawingml/2006/main" noGrp="1"/>
          </p:cNvSpPr>
          <p:nvPr/>
        </p:nvSpPr>
        <p:spPr>
          <a:xfrm xmlns:a="http://schemas.openxmlformats.org/drawingml/2006/main">
            <a:off x="952500" y="4257675"/>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Embed query, search FAISS</a:t>
            </a:r>
          </a:p>
        </p:txBody>
      </p:sp>
      <p:sp>
        <p:nvSpPr>
          <p:cNvPr id="10" name="">
            <a:extLst xmlns:a="http://schemas.openxmlformats.org/drawingml/2006/main">
              <a:ext uri="{FF2B5EF4-FFF2-40B4-BE49-F238E27FC236}">
                <a16:creationId xmlns:a16="http://schemas.microsoft.com/office/drawing/2014/main" id="{5D940FDE-1290-4DD7-9F9F-0CC64BB2D3F1}"/>
              </a:ext>
            </a:extLst>
          </p:cNvPr>
          <p:cNvSpPr>
            <a:spLocks xmlns:a="http://schemas.openxmlformats.org/drawingml/2006/main" noGrp="1"/>
          </p:cNvSpPr>
          <p:nvPr/>
        </p:nvSpPr>
        <p:spPr>
          <a:xfrm xmlns:a="http://schemas.openxmlformats.org/drawingml/2006/main">
            <a:off x="4286250" y="3314700"/>
            <a:ext cx="3143250" cy="20859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Up to 10 documents">
            <a:extLst xmlns:a="http://schemas.openxmlformats.org/drawingml/2006/main">
              <a:ext uri="{FF2B5EF4-FFF2-40B4-BE49-F238E27FC236}">
                <a16:creationId xmlns:a16="http://schemas.microsoft.com/office/drawing/2014/main" id="{814ED69C-DB94-40D5-8C59-DF5214002BDA}"/>
              </a:ext>
            </a:extLst>
          </p:cNvPr>
          <p:cNvSpPr>
            <a:spLocks xmlns:a="http://schemas.openxmlformats.org/drawingml/2006/main" noGrp="1"/>
          </p:cNvSpPr>
          <p:nvPr/>
        </p:nvSpPr>
        <p:spPr>
          <a:xfrm xmlns:a="http://schemas.openxmlformats.org/drawingml/2006/main">
            <a:off x="4476750" y="35337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Up to 10 documents</a:t>
            </a:r>
          </a:p>
        </p:txBody>
      </p:sp>
      <p:sp>
        <p:nvSpPr>
          <p:cNvPr id="12" name="One best passage per document">
            <a:extLst xmlns:a="http://schemas.openxmlformats.org/drawingml/2006/main">
              <a:ext uri="{FF2B5EF4-FFF2-40B4-BE49-F238E27FC236}">
                <a16:creationId xmlns:a16="http://schemas.microsoft.com/office/drawing/2014/main" id="{DE53E645-2C79-4C1B-9E87-C426F3F469E3}"/>
              </a:ext>
            </a:extLst>
          </p:cNvPr>
          <p:cNvSpPr>
            <a:spLocks xmlns:a="http://schemas.openxmlformats.org/drawingml/2006/main" noGrp="1"/>
          </p:cNvSpPr>
          <p:nvPr/>
        </p:nvSpPr>
        <p:spPr>
          <a:xfrm xmlns:a="http://schemas.openxmlformats.org/drawingml/2006/main">
            <a:off x="4476750" y="4257675"/>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One best passage per document</a:t>
            </a:r>
          </a:p>
        </p:txBody>
      </p: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3905250" y="435768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4" name="">
            <a:extLst xmlns:a="http://schemas.openxmlformats.org/drawingml/2006/main">
              <a:ext uri="{FF2B5EF4-FFF2-40B4-BE49-F238E27FC236}">
                <a16:creationId xmlns:a16="http://schemas.microsoft.com/office/drawing/2014/main" id="{4DF25BDB-7FB2-495A-8E0E-C8CCF6431A4B}"/>
              </a:ext>
            </a:extLst>
          </p:cNvPr>
          <p:cNvSpPr>
            <a:spLocks xmlns:a="http://schemas.openxmlformats.org/drawingml/2006/main" noGrp="1"/>
          </p:cNvSpPr>
          <p:nvPr/>
        </p:nvSpPr>
        <p:spPr>
          <a:xfrm xmlns:a="http://schemas.openxmlformats.org/drawingml/2006/main">
            <a:off x="7810500" y="3314700"/>
            <a:ext cx="3143250" cy="20859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5" name="One judge call">
            <a:extLst xmlns:a="http://schemas.openxmlformats.org/drawingml/2006/main">
              <a:ext uri="{FF2B5EF4-FFF2-40B4-BE49-F238E27FC236}">
                <a16:creationId xmlns:a16="http://schemas.microsoft.com/office/drawing/2014/main" id="{AA4B92CE-AC24-4245-8101-4263E7804EEB}"/>
              </a:ext>
            </a:extLst>
          </p:cNvPr>
          <p:cNvSpPr>
            <a:spLocks xmlns:a="http://schemas.openxmlformats.org/drawingml/2006/main" noGrp="1"/>
          </p:cNvSpPr>
          <p:nvPr/>
        </p:nvSpPr>
        <p:spPr>
          <a:xfrm xmlns:a="http://schemas.openxmlformats.org/drawingml/2006/main">
            <a:off x="8001000" y="35337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One judge call</a:t>
            </a:r>
          </a:p>
        </p:txBody>
      </p:sp>
      <p:sp>
        <p:nvSpPr>
          <p:cNvPr id="16" name="Verdict for each candidate">
            <a:extLst xmlns:a="http://schemas.openxmlformats.org/drawingml/2006/main">
              <a:ext uri="{FF2B5EF4-FFF2-40B4-BE49-F238E27FC236}">
                <a16:creationId xmlns:a16="http://schemas.microsoft.com/office/drawing/2014/main" id="{2B8BB662-04FF-4E87-AD3C-5F5360D0E9ED}"/>
              </a:ext>
            </a:extLst>
          </p:cNvPr>
          <p:cNvSpPr>
            <a:spLocks xmlns:a="http://schemas.openxmlformats.org/drawingml/2006/main" noGrp="1"/>
          </p:cNvSpPr>
          <p:nvPr/>
        </p:nvSpPr>
        <p:spPr>
          <a:xfrm xmlns:a="http://schemas.openxmlformats.org/drawingml/2006/main">
            <a:off x="8001000" y="4257675"/>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Verdict for each candidate</a:t>
            </a:r>
          </a:p>
        </p:txBody>
      </p:sp>
      <p:cxnSp>
        <p:nvCxnSpPr>
          <p:cNvPr id="42" name=""/>
          <p:cNvCxnSpPr>
            <a:stCxn xmlns:a="http://schemas.openxmlformats.org/drawingml/2006/main" id="10" idx="3"/>
            <a:endCxn xmlns:a="http://schemas.openxmlformats.org/drawingml/2006/main" id="14" idx="1"/>
          </p:cNvCxnSpPr>
          <p:nvPr/>
        </p:nvCxnSpPr>
        <p:spPr>
          <a:xfrm xmlns:a="http://schemas.openxmlformats.org/drawingml/2006/main">
            <a:off x="7429500" y="435768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8" name="">
            <a:extLst xmlns:a="http://schemas.openxmlformats.org/drawingml/2006/main">
              <a:ext uri="{FF2B5EF4-FFF2-40B4-BE49-F238E27FC236}">
                <a16:creationId xmlns:a16="http://schemas.microsoft.com/office/drawing/2014/main" id="{1FB7B472-0204-408D-B016-B2A35827356D}"/>
              </a:ext>
            </a:extLst>
          </p:cNvPr>
          <p:cNvSpPr>
            <a:spLocks xmlns:a="http://schemas.openxmlformats.org/drawingml/2006/main" noGrp="1"/>
          </p:cNvSpPr>
          <p:nvPr/>
        </p:nvSpPr>
        <p:spPr>
          <a:xfrm xmlns:a="http://schemas.openxmlformats.org/drawingml/2006/main">
            <a:off x="11334750" y="3314700"/>
            <a:ext cx="3143250" cy="20859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9" name="Up to 5 matches">
            <a:extLst xmlns:a="http://schemas.openxmlformats.org/drawingml/2006/main">
              <a:ext uri="{FF2B5EF4-FFF2-40B4-BE49-F238E27FC236}">
                <a16:creationId xmlns:a16="http://schemas.microsoft.com/office/drawing/2014/main" id="{D47E3858-C508-4AD8-90BE-11CB5EF8E8C1}"/>
              </a:ext>
            </a:extLst>
          </p:cNvPr>
          <p:cNvSpPr>
            <a:spLocks xmlns:a="http://schemas.openxmlformats.org/drawingml/2006/main" noGrp="1"/>
          </p:cNvSpPr>
          <p:nvPr/>
        </p:nvSpPr>
        <p:spPr>
          <a:xfrm xmlns:a="http://schemas.openxmlformats.org/drawingml/2006/main">
            <a:off x="11525250" y="35337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Up to 5 matches</a:t>
            </a:r>
          </a:p>
        </p:txBody>
      </p:sp>
      <p:sp>
        <p:nvSpPr>
          <p:cNvPr id="20" name="Keep covers or partial">
            <a:extLst xmlns:a="http://schemas.openxmlformats.org/drawingml/2006/main">
              <a:ext uri="{FF2B5EF4-FFF2-40B4-BE49-F238E27FC236}">
                <a16:creationId xmlns:a16="http://schemas.microsoft.com/office/drawing/2014/main" id="{45FD12B5-4EDE-4520-B527-F8ED352C0419}"/>
              </a:ext>
            </a:extLst>
          </p:cNvPr>
          <p:cNvSpPr>
            <a:spLocks xmlns:a="http://schemas.openxmlformats.org/drawingml/2006/main" noGrp="1"/>
          </p:cNvSpPr>
          <p:nvPr/>
        </p:nvSpPr>
        <p:spPr>
          <a:xfrm xmlns:a="http://schemas.openxmlformats.org/drawingml/2006/main">
            <a:off x="11525250" y="4257675"/>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Keep covers or partial</a:t>
            </a:r>
          </a:p>
        </p:txBody>
      </p:sp>
      <p:cxnSp>
        <p:nvCxnSpPr>
          <p:cNvPr id="46" name=""/>
          <p:cNvCxnSpPr>
            <a:stCxn xmlns:a="http://schemas.openxmlformats.org/drawingml/2006/main" id="14" idx="3"/>
            <a:endCxn xmlns:a="http://schemas.openxmlformats.org/drawingml/2006/main" id="18" idx="1"/>
          </p:cNvCxnSpPr>
          <p:nvPr/>
        </p:nvCxnSpPr>
        <p:spPr>
          <a:xfrm xmlns:a="http://schemas.openxmlformats.org/drawingml/2006/main">
            <a:off x="10953750" y="435768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2" name="Python filters candidates">
            <a:extLst xmlns:a="http://schemas.openxmlformats.org/drawingml/2006/main">
              <a:ext uri="{FF2B5EF4-FFF2-40B4-BE49-F238E27FC236}">
                <a16:creationId xmlns:a16="http://schemas.microsoft.com/office/drawing/2014/main" id="{D122DD55-319D-4082-AEDE-7D1D1A203F50}"/>
              </a:ext>
            </a:extLst>
          </p:cNvPr>
          <p:cNvSpPr>
            <a:spLocks xmlns:a="http://schemas.openxmlformats.org/drawingml/2006/main" noGrp="1"/>
          </p:cNvSpPr>
          <p:nvPr/>
        </p:nvSpPr>
        <p:spPr>
          <a:xfrm xmlns:a="http://schemas.openxmlformats.org/drawingml/2006/main">
            <a:off x="762000" y="5838825"/>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43"/>
                </a:solidFill>
                <a:latin typeface="Segoe UI"/>
                <a:ea typeface="Segoe UI"/>
                <a:cs typeface="Segoe UI"/>
              </a:defRPr>
            </a:pPr>
            <a:r>
              <a:rPr sz="2400" b="1">
                <a:solidFill>
                  <a:srgbClr val="102C43"/>
                </a:solidFill>
                <a:latin typeface="Segoe UI"/>
                <a:ea typeface="Segoe UI"/>
                <a:cs typeface="Segoe UI"/>
              </a:rPr>
              <a:t>Python filters candidates</a:t>
            </a:r>
          </a:p>
        </p:txBody>
      </p:sp>
      <p:sp>
        <p:nvSpPr>
          <p:cNvPr id="23" name="Exclude Syndicated Archive.&#10;Require similarity ≥ 0.62.&#10;">
            <a:extLst xmlns:a="http://schemas.openxmlformats.org/drawingml/2006/main">
              <a:ext uri="{FF2B5EF4-FFF2-40B4-BE49-F238E27FC236}">
                <a16:creationId xmlns:a16="http://schemas.microsoft.com/office/drawing/2014/main" id="{90534727-85DC-4498-B9B5-8B4ED44E77E1}"/>
              </a:ext>
            </a:extLst>
          </p:cNvPr>
          <p:cNvSpPr>
            <a:spLocks xmlns:a="http://schemas.openxmlformats.org/drawingml/2006/main" noGrp="1"/>
          </p:cNvSpPr>
          <p:nvPr/>
        </p:nvSpPr>
        <p:spPr>
          <a:xfrm xmlns:a="http://schemas.openxmlformats.org/drawingml/2006/main">
            <a:off x="762000" y="6419850"/>
            <a:ext cx="647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Exclude Syndicated Archive.</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Require similarity ≥ 0.62.</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Several chunks from one note count as one document.</a:t>
            </a:r>
          </a:p>
        </p:txBody>
      </p:sp>
      <p:sp>
        <p:nvSpPr>
          <p:cNvPr id="24" name="Loop over the topic list">
            <a:extLst xmlns:a="http://schemas.openxmlformats.org/drawingml/2006/main">
              <a:ext uri="{FF2B5EF4-FFF2-40B4-BE49-F238E27FC236}">
                <a16:creationId xmlns:a16="http://schemas.microsoft.com/office/drawing/2014/main" id="{AAA0CBB6-FBC3-45E2-8947-5FCC27FFC3E4}"/>
              </a:ext>
            </a:extLst>
          </p:cNvPr>
          <p:cNvSpPr>
            <a:spLocks xmlns:a="http://schemas.openxmlformats.org/drawingml/2006/main" noGrp="1"/>
          </p:cNvSpPr>
          <p:nvPr/>
        </p:nvSpPr>
        <p:spPr>
          <a:xfrm xmlns:a="http://schemas.openxmlformats.org/drawingml/2006/main">
            <a:off x="8286750" y="58388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43"/>
                </a:solidFill>
                <a:latin typeface="Segoe UI"/>
                <a:ea typeface="Segoe UI"/>
                <a:cs typeface="Segoe UI"/>
              </a:defRPr>
            </a:pPr>
            <a:r>
              <a:rPr sz="2400" b="1">
                <a:solidFill>
                  <a:srgbClr val="102C43"/>
                </a:solidFill>
                <a:latin typeface="Segoe UI"/>
                <a:ea typeface="Segoe UI"/>
                <a:cs typeface="Segoe UI"/>
              </a:rPr>
              <a:t>Loop over the topic list</a:t>
            </a:r>
          </a:p>
        </p:txBody>
      </p:sp>
      <p:sp>
        <p:nvSpPr>
          <p:cNvPr id="25" name="3 topics mean 3 coverage assessments.&#10;Each topic receiv">
            <a:extLst xmlns:a="http://schemas.openxmlformats.org/drawingml/2006/main">
              <a:ext uri="{FF2B5EF4-FFF2-40B4-BE49-F238E27FC236}">
                <a16:creationId xmlns:a16="http://schemas.microsoft.com/office/drawing/2014/main" id="{3F851F73-A339-4B6E-ADB6-4F865800B751}"/>
              </a:ext>
            </a:extLst>
          </p:cNvPr>
          <p:cNvSpPr>
            <a:spLocks xmlns:a="http://schemas.openxmlformats.org/drawingml/2006/main" noGrp="1"/>
          </p:cNvSpPr>
          <p:nvPr/>
        </p:nvSpPr>
        <p:spPr>
          <a:xfrm xmlns:a="http://schemas.openxmlformats.org/drawingml/2006/main">
            <a:off x="8286750" y="6419850"/>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3 topics mean 3 coverage assessments.</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Each topic receives its own matches, reasons,</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coverage score and staleness.</a:t>
            </a:r>
          </a:p>
        </p:txBody>
      </p:sp>
    </p:spTree>
    <p:extLst>
      <p:ext uri="{BB962C8B-B14F-4D97-AF65-F5344CB8AC3E}">
        <p14:creationId xmlns:p14="http://schemas.microsoft.com/office/powerpoint/2010/main" val="781424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GENT 05 / JUDGE">
            <a:extLst xmlns:a="http://schemas.openxmlformats.org/drawingml/2006/main">
              <a:ext uri="{FF2B5EF4-FFF2-40B4-BE49-F238E27FC236}">
                <a16:creationId xmlns:a16="http://schemas.microsoft.com/office/drawing/2014/main" id="{25E60DAB-3286-4830-A073-139F03DA9478}"/>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05 / JUDGE</a:t>
            </a:r>
          </a:p>
        </p:txBody>
      </p:sp>
      <p:sp>
        <p:nvSpPr>
          <p:cNvPr id="2" name="The judge reads excerpts and returns reasons">
            <a:extLst xmlns:a="http://schemas.openxmlformats.org/drawingml/2006/main">
              <a:ext uri="{FF2B5EF4-FFF2-40B4-BE49-F238E27FC236}">
                <a16:creationId xmlns:a16="http://schemas.microsoft.com/office/drawing/2014/main" id="{DD16C395-A173-4625-B4BB-59022E8A9DB2}"/>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The judge reads excerpts and returns reasons</a:t>
            </a:r>
          </a:p>
        </p:txBody>
      </p:sp>
      <p:sp>
        <p:nvSpPr>
          <p:cNvPr id="3" name="">
            <a:extLst xmlns:a="http://schemas.openxmlformats.org/drawingml/2006/main">
              <a:ext uri="{FF2B5EF4-FFF2-40B4-BE49-F238E27FC236}">
                <a16:creationId xmlns:a16="http://schemas.microsoft.com/office/drawing/2014/main" id="{EB884494-FF3B-4B27-9BA2-7C44675C41C8}"/>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454F74D6-1D85-4D39-BBF0-D92B62441E4B}"/>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0">
            <a:extLst xmlns:a="http://schemas.openxmlformats.org/drawingml/2006/main">
              <a:ext uri="{FF2B5EF4-FFF2-40B4-BE49-F238E27FC236}">
                <a16:creationId xmlns:a16="http://schemas.microsoft.com/office/drawing/2014/main" id="{36EC551F-B877-469F-851E-899AC3B4B120}"/>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10</a:t>
            </a:r>
          </a:p>
        </p:txBody>
      </p:sp>
      <p:sp>
        <p:nvSpPr>
          <p:cNvPr id="6" name="INPUT TO THE MODEL">
            <a:extLst xmlns:a="http://schemas.openxmlformats.org/drawingml/2006/main">
              <a:ext uri="{FF2B5EF4-FFF2-40B4-BE49-F238E27FC236}">
                <a16:creationId xmlns:a16="http://schemas.microsoft.com/office/drawing/2014/main" id="{F9AD013D-D85B-4088-B644-D4FA90908357}"/>
              </a:ext>
            </a:extLst>
          </p:cNvPr>
          <p:cNvSpPr>
            <a:spLocks xmlns:a="http://schemas.openxmlformats.org/drawingml/2006/main" noGrp="1"/>
          </p:cNvSpPr>
          <p:nvPr/>
        </p:nvSpPr>
        <p:spPr>
          <a:xfrm xmlns:a="http://schemas.openxmlformats.org/drawingml/2006/main">
            <a:off x="762000" y="2295525"/>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INPUT TO THE MODEL</a:t>
            </a:r>
          </a:p>
        </p:txBody>
      </p:sp>
      <p:sp>
        <p:nvSpPr>
          <p:cNvPr id="7" name="Clinical AI Governance: oversight and accountability fo">
            <a:extLst xmlns:a="http://schemas.openxmlformats.org/drawingml/2006/main">
              <a:ext uri="{FF2B5EF4-FFF2-40B4-BE49-F238E27FC236}">
                <a16:creationId xmlns:a16="http://schemas.microsoft.com/office/drawing/2014/main" id="{2D13335D-10FC-4E2F-BBA1-00A1F4E802B6}"/>
              </a:ext>
            </a:extLst>
          </p:cNvPr>
          <p:cNvSpPr>
            <a:spLocks xmlns:a="http://schemas.openxmlformats.org/drawingml/2006/main" noGrp="1"/>
          </p:cNvSpPr>
          <p:nvPr/>
        </p:nvSpPr>
        <p:spPr>
          <a:xfrm xmlns:a="http://schemas.openxmlformats.org/drawingml/2006/main">
            <a:off x="762000" y="2800350"/>
            <a:ext cx="13716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Clinical AI Governance: oversight and accountability for clinical models.</a:t>
            </a:r>
          </a:p>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For each candidate: document ID, title, metadata, similarity and a 420-character excerpt.</a:t>
            </a:r>
          </a:p>
        </p:txBody>
      </p:sp>
      <p:graphicFrame>
        <p:nvGraphicFramePr>
          <p:cNvPr id="17" name=""/>
          <p:cNvGraphicFramePr/>
          <p:nvPr/>
        </p:nvGraphicFramePr>
        <p:xfrm>
          <a:off xmlns:a="http://schemas.openxmlformats.org/drawingml/2006/main" x="762000" y="4200525"/>
          <a:ext xmlns:a="http://schemas.openxmlformats.org/drawingml/2006/main" cx="13716000" cy="2524125"/>
        </p:xfrm>
        <a:graphic xmlns:a="http://schemas.openxmlformats.org/drawingml/2006/main">
          <a:graphicData uri="http://schemas.openxmlformats.org/drawingml/2006/table">
            <a:tbl>
              <a:tblPr/>
              <a:tblGrid>
                <a:gridCol w="6858000"/>
                <a:gridCol w="2476500"/>
                <a:gridCol w="4381500"/>
              </a:tblGrid>
              <a:tr h="631031">
                <a:tc>
                  <a:txBody>
                    <a:bodyPr lIns="171450" tIns="123825" rIns="171450" bIns="114300">
                      <a:noAutofit/>
                    </a:bodyPr>
                    <a:lstStyle/>
                    <a:p>
                      <a:r>
                        <a:rPr sz="1800" b="1">
                          <a:solidFill>
                            <a:srgbClr val="FFFFFF"/>
                          </a:solidFill>
                          <a:latin typeface="Segoe UI"/>
                          <a:ea typeface="Segoe UI"/>
                          <a:cs typeface="Segoe UI"/>
                        </a:rPr>
                        <a:t>Illustrative candidate excerpt</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Model verdict</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Reason returned</a:t>
                      </a:r>
                    </a:p>
                  </a:txBody>
                  <a:tcPr marL="91440" marR="91440" marT="45720" marB="45720">
                    <a:solidFill>
                      <a:srgbClr val="0B2238"/>
                    </a:solidFill>
                  </a:tcPr>
                </a:tc>
              </a:tr>
              <a:tr h="631031">
                <a:tc>
                  <a:txBody>
                    <a:bodyPr lIns="171450" tIns="123825" rIns="171450" bIns="114300">
                      <a:noAutofit/>
                    </a:bodyPr>
                    <a:lstStyle/>
                    <a:p>
                      <a:r>
                        <a:rPr sz="1875" b="1">
                          <a:solidFill>
                            <a:srgbClr val="102C43"/>
                          </a:solidFill>
                          <a:latin typeface="Segoe UI"/>
                          <a:ea typeface="Segoe UI"/>
                          <a:cs typeface="Segoe UI"/>
                        </a:rPr>
                        <a:t>RN-9001: approval gates and clinical AI oversight</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covers</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Directly addresses governance</a:t>
                      </a:r>
                    </a:p>
                  </a:txBody>
                  <a:tcPr marL="91440" marR="91440" marT="45720" marB="45720">
                    <a:solidFill>
                      <a:srgbClr val="F5F8FB"/>
                    </a:solidFill>
                  </a:tcPr>
                </a:tc>
              </a:tr>
              <a:tr h="631031">
                <a:tc>
                  <a:txBody>
                    <a:bodyPr lIns="171450" tIns="123825" rIns="171450" bIns="114300">
                      <a:noAutofit/>
                    </a:bodyPr>
                    <a:lstStyle/>
                    <a:p>
                      <a:r>
                        <a:rPr sz="1875" b="1">
                          <a:solidFill>
                            <a:srgbClr val="102C43"/>
                          </a:solidFill>
                          <a:latin typeface="Segoe UI"/>
                          <a:ea typeface="Segoe UI"/>
                          <a:cs typeface="Segoe UI"/>
                        </a:rPr>
                        <a:t>RN-9002: an audit subsection on clinical models</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partial</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Covers one part of governance</a:t>
                      </a:r>
                    </a:p>
                  </a:txBody>
                  <a:tcPr marL="91440" marR="91440" marT="45720" marB="45720">
                    <a:solidFill>
                      <a:srgbClr val="FFFFFF"/>
                    </a:solidFill>
                  </a:tcPr>
                </a:tc>
              </a:tr>
              <a:tr h="631031">
                <a:tc>
                  <a:txBody>
                    <a:bodyPr lIns="171450" tIns="123825" rIns="171450" bIns="114300">
                      <a:noAutofit/>
                    </a:bodyPr>
                    <a:lstStyle/>
                    <a:p>
                      <a:r>
                        <a:rPr sz="1875" b="1">
                          <a:solidFill>
                            <a:srgbClr val="102C43"/>
                          </a:solidFill>
                          <a:latin typeface="Segoe UI"/>
                          <a:ea typeface="Segoe UI"/>
                          <a:cs typeface="Segoe UI"/>
                        </a:rPr>
                        <a:t>RN-9003: diagnostic accuracy benchmarks</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tangential</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Same domain, different subject</a:t>
                      </a:r>
                    </a:p>
                  </a:txBody>
                  <a:tcPr marL="91440" marR="91440" marT="45720" marB="45720">
                    <a:solidFill>
                      <a:srgbClr val="F5F8FB"/>
                    </a:solidFill>
                  </a:tcPr>
                </a:tc>
              </a:tr>
            </a:tbl>
          </a:graphicData>
        </a:graphic>
      </p:graphicFrame>
      <p:sp>
        <p:nvSpPr>
          <p:cNvPr id="9" name="Output: [{doc_id, verdict, reason}]. Python assigns wei">
            <a:extLst xmlns:a="http://schemas.openxmlformats.org/drawingml/2006/main">
              <a:ext uri="{FF2B5EF4-FFF2-40B4-BE49-F238E27FC236}">
                <a16:creationId xmlns:a16="http://schemas.microsoft.com/office/drawing/2014/main" id="{432DBA24-22AD-4244-81C9-C6D59492BC8B}"/>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Output: [{doc_id, verdict, reason}]. Python assigns weights of 1, 0.5, 0, 0 and calculates the scores next.</a:t>
            </a:r>
          </a:p>
        </p:txBody>
      </p:sp>
    </p:spTree>
    <p:extLst>
      <p:ext uri="{BB962C8B-B14F-4D97-AF65-F5344CB8AC3E}">
        <p14:creationId xmlns:p14="http://schemas.microsoft.com/office/powerpoint/2010/main" val="16289637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05 / CALCULATE">
            <a:extLst xmlns:a="http://schemas.openxmlformats.org/drawingml/2006/main">
              <a:ext uri="{FF2B5EF4-FFF2-40B4-BE49-F238E27FC236}">
                <a16:creationId xmlns:a16="http://schemas.microsoft.com/office/drawing/2014/main" id="{F4804548-DC7B-4C6A-B9CE-EEF814FF1709}"/>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05 / CALCULATE</a:t>
            </a:r>
          </a:p>
        </p:txBody>
      </p:sp>
      <p:sp>
        <p:nvSpPr>
          <p:cNvPr id="2" name="Coverage combines relevance, age and depth">
            <a:extLst xmlns:a="http://schemas.openxmlformats.org/drawingml/2006/main">
              <a:ext uri="{FF2B5EF4-FFF2-40B4-BE49-F238E27FC236}">
                <a16:creationId xmlns:a16="http://schemas.microsoft.com/office/drawing/2014/main" id="{1F60DE28-2DC3-43F5-8ED4-6DF1592A0A2B}"/>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Coverage combines relevance, age and depth</a:t>
            </a:r>
          </a:p>
        </p:txBody>
      </p:sp>
      <p:sp>
        <p:nvSpPr>
          <p:cNvPr id="3" name="">
            <a:extLst xmlns:a="http://schemas.openxmlformats.org/drawingml/2006/main">
              <a:ext uri="{FF2B5EF4-FFF2-40B4-BE49-F238E27FC236}">
                <a16:creationId xmlns:a16="http://schemas.microsoft.com/office/drawing/2014/main" id="{8A77FD08-B8BD-4B34-9F32-2DE4E4AF1BB6}"/>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FBD0E792-DFB8-476C-8EA1-7F60C284D715}"/>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1">
            <a:extLst xmlns:a="http://schemas.openxmlformats.org/drawingml/2006/main">
              <a:ext uri="{FF2B5EF4-FFF2-40B4-BE49-F238E27FC236}">
                <a16:creationId xmlns:a16="http://schemas.microsoft.com/office/drawing/2014/main" id="{B3173E69-58B0-471A-BEC8-CCA21F4EEE0A}"/>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11</a:t>
            </a:r>
          </a:p>
        </p:txBody>
      </p:sp>
      <p:sp>
        <p:nvSpPr>
          <p:cNvPr id="6" name="Freshness F = 1 through day 120, 0 from day 450">
            <a:extLst xmlns:a="http://schemas.openxmlformats.org/drawingml/2006/main">
              <a:ext uri="{FF2B5EF4-FFF2-40B4-BE49-F238E27FC236}">
                <a16:creationId xmlns:a16="http://schemas.microsoft.com/office/drawing/2014/main" id="{30A8561C-9FCD-4CA2-8A24-450ED9E188C6}"/>
              </a:ext>
            </a:extLst>
          </p:cNvPr>
          <p:cNvSpPr>
            <a:spLocks xmlns:a="http://schemas.openxmlformats.org/drawingml/2006/main" noGrp="1"/>
          </p:cNvSpPr>
          <p:nvPr/>
        </p:nvSpPr>
        <p:spPr>
          <a:xfrm xmlns:a="http://schemas.openxmlformats.org/drawingml/2006/main">
            <a:off x="762000" y="2286000"/>
            <a:ext cx="13716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43"/>
                </a:solidFill>
                <a:latin typeface="Segoe UI"/>
                <a:ea typeface="Segoe UI"/>
                <a:cs typeface="Segoe UI"/>
              </a:defRPr>
            </a:pPr>
            <a:r>
              <a:rPr sz="2625" b="1">
                <a:solidFill>
                  <a:srgbClr val="102C43"/>
                </a:solidFill>
                <a:latin typeface="Segoe UI"/>
                <a:ea typeface="Segoe UI"/>
                <a:cs typeface="Segoe UI"/>
              </a:rPr>
              <a:t>Freshness F = 1 through day 120, 0 from day 450</a:t>
            </a:r>
          </a:p>
        </p:txBody>
      </p:sp>
      <p:sp>
        <p:nvSpPr>
          <p:cNvPr id="7" name="Between them: F = 1 − (age − 120) / 330     At 285 days">
            <a:extLst xmlns:a="http://schemas.openxmlformats.org/drawingml/2006/main">
              <a:ext uri="{FF2B5EF4-FFF2-40B4-BE49-F238E27FC236}">
                <a16:creationId xmlns:a16="http://schemas.microsoft.com/office/drawing/2014/main" id="{B1224723-E52A-43ED-B950-54E2623A0F49}"/>
              </a:ext>
            </a:extLst>
          </p:cNvPr>
          <p:cNvSpPr>
            <a:spLocks xmlns:a="http://schemas.openxmlformats.org/drawingml/2006/main" noGrp="1"/>
          </p:cNvSpPr>
          <p:nvPr/>
        </p:nvSpPr>
        <p:spPr>
          <a:xfrm xmlns:a="http://schemas.openxmlformats.org/drawingml/2006/main">
            <a:off x="762000" y="2905125"/>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536C80"/>
                </a:solidFill>
                <a:latin typeface="Segoe UI"/>
                <a:ea typeface="Segoe UI"/>
                <a:cs typeface="Segoe UI"/>
              </a:defRPr>
            </a:pPr>
            <a:r>
              <a:rPr sz="2250" b="0">
                <a:solidFill>
                  <a:srgbClr val="536C80"/>
                </a:solidFill>
                <a:latin typeface="Segoe UI"/>
                <a:ea typeface="Segoe UI"/>
                <a:cs typeface="Segoe UI"/>
              </a:rPr>
              <a:t>Between them: F = 1 − (age − 120) / 330     At 285 days: F = 0.50</a:t>
            </a:r>
          </a:p>
        </p:txBody>
      </p:sp>
      <p:sp>
        <p:nvSpPr>
          <p:cNvPr id="8" name="Usable weight u = relevance × (0.25 + 0.75 × F)">
            <a:extLst xmlns:a="http://schemas.openxmlformats.org/drawingml/2006/main">
              <a:ext uri="{FF2B5EF4-FFF2-40B4-BE49-F238E27FC236}">
                <a16:creationId xmlns:a16="http://schemas.microsoft.com/office/drawing/2014/main" id="{2B8BDA4B-F3E2-43F6-8E0A-46F98B49515F}"/>
              </a:ext>
            </a:extLst>
          </p:cNvPr>
          <p:cNvSpPr>
            <a:spLocks xmlns:a="http://schemas.openxmlformats.org/drawingml/2006/main" noGrp="1"/>
          </p:cNvSpPr>
          <p:nvPr/>
        </p:nvSpPr>
        <p:spPr>
          <a:xfrm xmlns:a="http://schemas.openxmlformats.org/drawingml/2006/main">
            <a:off x="762000" y="3733800"/>
            <a:ext cx="1371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007D82"/>
                </a:solidFill>
                <a:latin typeface="Segoe UI"/>
                <a:ea typeface="Segoe UI"/>
                <a:cs typeface="Segoe UI"/>
              </a:defRPr>
            </a:pPr>
            <a:r>
              <a:rPr sz="2700" b="1">
                <a:solidFill>
                  <a:srgbClr val="007D82"/>
                </a:solidFill>
                <a:latin typeface="Segoe UI"/>
                <a:ea typeface="Segoe UI"/>
                <a:cs typeface="Segoe UI"/>
              </a:rPr>
              <a:t>Usable weight u = relevance × (0.25 + 0.75 × F)</a:t>
            </a:r>
          </a:p>
        </p:txBody>
      </p:sp>
      <p:graphicFrame>
        <p:nvGraphicFramePr>
          <p:cNvPr id="21" name=""/>
          <p:cNvGraphicFramePr/>
          <p:nvPr/>
        </p:nvGraphicFramePr>
        <p:xfrm>
          <a:off xmlns:a="http://schemas.openxmlformats.org/drawingml/2006/main" x="762000" y="4572000"/>
          <a:ext xmlns:a="http://schemas.openxmlformats.org/drawingml/2006/main" cx="13716000" cy="1771650"/>
        </p:xfrm>
        <a:graphic xmlns:a="http://schemas.openxmlformats.org/drawingml/2006/main">
          <a:graphicData uri="http://schemas.openxmlformats.org/drawingml/2006/table">
            <a:tbl>
              <a:tblPr/>
              <a:tblGrid>
                <a:gridCol w="5619750"/>
                <a:gridCol w="2667000"/>
                <a:gridCol w="2190750"/>
                <a:gridCol w="1143000"/>
                <a:gridCol w="2095500"/>
              </a:tblGrid>
              <a:tr h="590550">
                <a:tc>
                  <a:txBody>
                    <a:bodyPr lIns="171450" tIns="123825" rIns="171450" bIns="114300">
                      <a:noAutofit/>
                    </a:bodyPr>
                    <a:lstStyle/>
                    <a:p>
                      <a:r>
                        <a:rPr sz="1800" b="1">
                          <a:solidFill>
                            <a:srgbClr val="FFFFFF"/>
                          </a:solidFill>
                          <a:latin typeface="Segoe UI"/>
                          <a:ea typeface="Segoe UI"/>
                          <a:cs typeface="Segoe UI"/>
                        </a:rPr>
                        <a:t>Accepted document</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Verdict weight</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Age</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F</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Usable u</a:t>
                      </a:r>
                    </a:p>
                  </a:txBody>
                  <a:tcPr marL="91440" marR="91440" marT="45720" marB="45720">
                    <a:solidFill>
                      <a:srgbClr val="0B2238"/>
                    </a:solidFill>
                  </a:tcPr>
                </a:tc>
              </a:tr>
              <a:tr h="590550">
                <a:tc>
                  <a:txBody>
                    <a:bodyPr lIns="171450" tIns="123825" rIns="171450" bIns="114300">
                      <a:noAutofit/>
                    </a:bodyPr>
                    <a:lstStyle/>
                    <a:p>
                      <a:r>
                        <a:rPr sz="1875" b="1">
                          <a:solidFill>
                            <a:srgbClr val="102C43"/>
                          </a:solidFill>
                          <a:latin typeface="Segoe UI"/>
                          <a:ea typeface="Segoe UI"/>
                          <a:cs typeface="Segoe UI"/>
                        </a:rPr>
                        <a:t>RN-9001: covers</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1.0</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500 days</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0</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0.250</a:t>
                      </a:r>
                    </a:p>
                  </a:txBody>
                  <a:tcPr marL="91440" marR="91440" marT="45720" marB="45720">
                    <a:solidFill>
                      <a:srgbClr val="F5F8FB"/>
                    </a:solidFill>
                  </a:tcPr>
                </a:tc>
              </a:tr>
              <a:tr h="590550">
                <a:tc>
                  <a:txBody>
                    <a:bodyPr lIns="171450" tIns="123825" rIns="171450" bIns="114300">
                      <a:noAutofit/>
                    </a:bodyPr>
                    <a:lstStyle/>
                    <a:p>
                      <a:r>
                        <a:rPr sz="1875" b="1">
                          <a:solidFill>
                            <a:srgbClr val="102C43"/>
                          </a:solidFill>
                          <a:latin typeface="Segoe UI"/>
                          <a:ea typeface="Segoe UI"/>
                          <a:cs typeface="Segoe UI"/>
                        </a:rPr>
                        <a:t>RN-9002: partial</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0.5</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500 days</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0</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0.125</a:t>
                      </a:r>
                    </a:p>
                  </a:txBody>
                  <a:tcPr marL="91440" marR="91440" marT="45720" marB="45720">
                    <a:solidFill>
                      <a:srgbClr val="FFFFFF"/>
                    </a:solidFill>
                  </a:tcPr>
                </a:tc>
              </a:tr>
            </a:tbl>
          </a:graphicData>
        </a:graphic>
      </p:graphicFrame>
      <p:sp>
        <p:nvSpPr>
          <p:cNvPr id="10" name="C = 0.6 × min(1, Σu / 5) + 0.4 × max(u)">
            <a:extLst xmlns:a="http://schemas.openxmlformats.org/drawingml/2006/main">
              <a:ext uri="{FF2B5EF4-FFF2-40B4-BE49-F238E27FC236}">
                <a16:creationId xmlns:a16="http://schemas.microsoft.com/office/drawing/2014/main" id="{F1521129-54CB-4C29-8B70-E51468FF1AAF}"/>
              </a:ext>
            </a:extLst>
          </p:cNvPr>
          <p:cNvSpPr>
            <a:spLocks xmlns:a="http://schemas.openxmlformats.org/drawingml/2006/main" noGrp="1"/>
          </p:cNvSpPr>
          <p:nvPr/>
        </p:nvSpPr>
        <p:spPr>
          <a:xfrm xmlns:a="http://schemas.openxmlformats.org/drawingml/2006/main">
            <a:off x="762000" y="662940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102C43"/>
                </a:solidFill>
                <a:latin typeface="Segoe UI"/>
                <a:ea typeface="Segoe UI"/>
                <a:cs typeface="Segoe UI"/>
              </a:defRPr>
            </a:pPr>
            <a:r>
              <a:rPr sz="2475" b="1">
                <a:solidFill>
                  <a:srgbClr val="102C43"/>
                </a:solidFill>
                <a:latin typeface="Segoe UI"/>
                <a:ea typeface="Segoe UI"/>
                <a:cs typeface="Segoe UI"/>
              </a:rPr>
              <a:t>C = 0.6 × min(1, Σu / 5) + 0.4 × max(u)</a:t>
            </a:r>
          </a:p>
        </p:txBody>
      </p:sp>
      <p:sp>
        <p:nvSpPr>
          <p:cNvPr id="11" name="0.145">
            <a:extLst xmlns:a="http://schemas.openxmlformats.org/drawingml/2006/main">
              <a:ext uri="{FF2B5EF4-FFF2-40B4-BE49-F238E27FC236}">
                <a16:creationId xmlns:a16="http://schemas.microsoft.com/office/drawing/2014/main" id="{795BCB43-ACD9-47A2-A004-7BE93096206C}"/>
              </a:ext>
            </a:extLst>
          </p:cNvPr>
          <p:cNvSpPr>
            <a:spLocks xmlns:a="http://schemas.openxmlformats.org/drawingml/2006/main" noGrp="1"/>
          </p:cNvSpPr>
          <p:nvPr/>
        </p:nvSpPr>
        <p:spPr>
          <a:xfrm xmlns:a="http://schemas.openxmlformats.org/drawingml/2006/main">
            <a:off x="11763375" y="6496050"/>
            <a:ext cx="2714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007D82"/>
                </a:solidFill>
                <a:latin typeface="Segoe UI"/>
                <a:ea typeface="Segoe UI"/>
                <a:cs typeface="Segoe UI"/>
              </a:defRPr>
            </a:pPr>
            <a:r>
              <a:rPr sz="4200" b="1">
                <a:solidFill>
                  <a:srgbClr val="007D82"/>
                </a:solidFill>
                <a:latin typeface="Segoe UI"/>
                <a:ea typeface="Segoe UI"/>
                <a:cs typeface="Segoe UI"/>
              </a:rPr>
              <a:t>0.145</a:t>
            </a:r>
          </a:p>
        </p:txBody>
      </p:sp>
      <p:sp>
        <p:nvSpPr>
          <p:cNvPr id="12" name="C = 0.6 × (0.375 / 5) + 0.4 × 0.25 = 0.145. Staleness: ">
            <a:extLst xmlns:a="http://schemas.openxmlformats.org/drawingml/2006/main">
              <a:ext uri="{FF2B5EF4-FFF2-40B4-BE49-F238E27FC236}">
                <a16:creationId xmlns:a16="http://schemas.microsoft.com/office/drawing/2014/main" id="{C3B9E130-F079-4E22-858B-1486FD8A0551}"/>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C = 0.6 × (0.375 / 5) + 0.4 × 0.25 = 0.145. Staleness: 500 days, the age of the newest accepted note.</a:t>
            </a:r>
          </a:p>
        </p:txBody>
      </p:sp>
    </p:spTree>
    <p:extLst>
      <p:ext uri="{BB962C8B-B14F-4D97-AF65-F5344CB8AC3E}">
        <p14:creationId xmlns:p14="http://schemas.microsoft.com/office/powerpoint/2010/main" val="8160924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AGENT 06 / BUILD RELATIONSHIPS">
            <a:extLst xmlns:a="http://schemas.openxmlformats.org/drawingml/2006/main">
              <a:ext uri="{FF2B5EF4-FFF2-40B4-BE49-F238E27FC236}">
                <a16:creationId xmlns:a16="http://schemas.microsoft.com/office/drawing/2014/main" id="{3700302E-A62E-4ECC-9566-FDEF9F61CC8A}"/>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06 / BUILD RELATIONSHIPS</a:t>
            </a:r>
          </a:p>
        </p:txBody>
      </p:sp>
      <p:sp>
        <p:nvSpPr>
          <p:cNvPr id="2" name="The graph connects a topic to its evidence">
            <a:extLst xmlns:a="http://schemas.openxmlformats.org/drawingml/2006/main">
              <a:ext uri="{FF2B5EF4-FFF2-40B4-BE49-F238E27FC236}">
                <a16:creationId xmlns:a16="http://schemas.microsoft.com/office/drawing/2014/main" id="{D65137A8-4161-40BF-9EFC-112F13C9A925}"/>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The graph connects a topic to its evidence</a:t>
            </a:r>
          </a:p>
        </p:txBody>
      </p:sp>
      <p:sp>
        <p:nvSpPr>
          <p:cNvPr id="3" name="">
            <a:extLst xmlns:a="http://schemas.openxmlformats.org/drawingml/2006/main">
              <a:ext uri="{FF2B5EF4-FFF2-40B4-BE49-F238E27FC236}">
                <a16:creationId xmlns:a16="http://schemas.microsoft.com/office/drawing/2014/main" id="{1CA24FDA-6CDA-4A9A-B8E1-3A188910B7AD}"/>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E369206D-7EE0-495C-B900-57B5337B58D9}"/>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2">
            <a:extLst xmlns:a="http://schemas.openxmlformats.org/drawingml/2006/main">
              <a:ext uri="{FF2B5EF4-FFF2-40B4-BE49-F238E27FC236}">
                <a16:creationId xmlns:a16="http://schemas.microsoft.com/office/drawing/2014/main" id="{68180110-94F3-43B2-9989-BDD0DE9B9538}"/>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C7CDDE58-C1FB-4138-9DE8-7EC4043E5170}"/>
              </a:ext>
            </a:extLst>
          </p:cNvPr>
          <p:cNvSpPr>
            <a:spLocks xmlns:a="http://schemas.openxmlformats.org/drawingml/2006/main" noGrp="1"/>
          </p:cNvSpPr>
          <p:nvPr/>
        </p:nvSpPr>
        <p:spPr>
          <a:xfrm xmlns:a="http://schemas.openxmlformats.org/drawingml/2006/main">
            <a:off x="762000" y="3438525"/>
            <a:ext cx="3619500" cy="14287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
            <a:extLst xmlns:a="http://schemas.openxmlformats.org/drawingml/2006/main">
              <a:ext uri="{FF2B5EF4-FFF2-40B4-BE49-F238E27FC236}">
                <a16:creationId xmlns:a16="http://schemas.microsoft.com/office/drawing/2014/main" id="{5477B501-A457-446F-8E89-42E195A226EE}"/>
              </a:ext>
            </a:extLst>
          </p:cNvPr>
          <p:cNvSpPr>
            <a:spLocks xmlns:a="http://schemas.openxmlformats.org/drawingml/2006/main" noGrp="1"/>
          </p:cNvSpPr>
          <p:nvPr/>
        </p:nvSpPr>
        <p:spPr>
          <a:xfrm xmlns:a="http://schemas.openxmlformats.org/drawingml/2006/main">
            <a:off x="5619750" y="3438525"/>
            <a:ext cx="4000500" cy="1428750"/>
          </a:xfrm>
          <a:prstGeom xmlns:a="http://schemas.openxmlformats.org/drawingml/2006/main" prst="rect">
            <a:avLst/>
          </a:prstGeom>
          <a:solidFill xmlns:a="http://schemas.openxmlformats.org/drawingml/2006/main">
            <a:srgbClr val="0B223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745DC8-898A-4374-A7A8-3C95A1EE422E}"/>
              </a:ext>
            </a:extLst>
          </p:cNvPr>
          <p:cNvSpPr>
            <a:spLocks xmlns:a="http://schemas.openxmlformats.org/drawingml/2006/main" noGrp="1"/>
          </p:cNvSpPr>
          <p:nvPr/>
        </p:nvSpPr>
        <p:spPr>
          <a:xfrm xmlns:a="http://schemas.openxmlformats.org/drawingml/2006/main">
            <a:off x="10858500" y="3438525"/>
            <a:ext cx="3619500" cy="14287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9" name="Hospital A">
            <a:extLst xmlns:a="http://schemas.openxmlformats.org/drawingml/2006/main">
              <a:ext uri="{FF2B5EF4-FFF2-40B4-BE49-F238E27FC236}">
                <a16:creationId xmlns:a16="http://schemas.microsoft.com/office/drawing/2014/main" id="{ECA3E78E-4A6A-4A9E-84B5-F4A6E976475C}"/>
              </a:ext>
            </a:extLst>
          </p:cNvPr>
          <p:cNvSpPr>
            <a:spLocks xmlns:a="http://schemas.openxmlformats.org/drawingml/2006/main" noGrp="1"/>
          </p:cNvSpPr>
          <p:nvPr/>
        </p:nvSpPr>
        <p:spPr>
          <a:xfrm xmlns:a="http://schemas.openxmlformats.org/drawingml/2006/main">
            <a:off x="962025" y="3762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02C43"/>
                </a:solidFill>
                <a:latin typeface="Segoe UI"/>
                <a:ea typeface="Segoe UI"/>
                <a:cs typeface="Segoe UI"/>
              </a:defRPr>
            </a:pPr>
            <a:r>
              <a:rPr sz="2550" b="1">
                <a:solidFill>
                  <a:srgbClr val="102C43"/>
                </a:solidFill>
                <a:latin typeface="Segoe UI"/>
                <a:ea typeface="Segoe UI"/>
                <a:cs typeface="Segoe UI"/>
              </a:rPr>
              <a:t>Hospital A</a:t>
            </a:r>
          </a:p>
        </p:txBody>
      </p:sp>
      <p:sp>
        <p:nvSpPr>
          <p:cNvPr id="10" name="Extracted entity">
            <a:extLst xmlns:a="http://schemas.openxmlformats.org/drawingml/2006/main">
              <a:ext uri="{FF2B5EF4-FFF2-40B4-BE49-F238E27FC236}">
                <a16:creationId xmlns:a16="http://schemas.microsoft.com/office/drawing/2014/main" id="{20F48130-9B3A-4843-AEA8-FD3DD6B935C0}"/>
              </a:ext>
            </a:extLst>
          </p:cNvPr>
          <p:cNvSpPr>
            <a:spLocks xmlns:a="http://schemas.openxmlformats.org/drawingml/2006/main" noGrp="1"/>
          </p:cNvSpPr>
          <p:nvPr/>
        </p:nvSpPr>
        <p:spPr>
          <a:xfrm xmlns:a="http://schemas.openxmlformats.org/drawingml/2006/main">
            <a:off x="962025" y="437197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Extracted entity</a:t>
            </a:r>
          </a:p>
        </p:txBody>
      </p:sp>
      <p:sp>
        <p:nvSpPr>
          <p:cNvPr id="11" name="Clinical AI&#10;Governance">
            <a:extLst xmlns:a="http://schemas.openxmlformats.org/drawingml/2006/main">
              <a:ext uri="{FF2B5EF4-FFF2-40B4-BE49-F238E27FC236}">
                <a16:creationId xmlns:a16="http://schemas.microsoft.com/office/drawing/2014/main" id="{117BD823-0DA8-4108-9A88-9560014EC050}"/>
              </a:ext>
            </a:extLst>
          </p:cNvPr>
          <p:cNvSpPr>
            <a:spLocks xmlns:a="http://schemas.openxmlformats.org/drawingml/2006/main" noGrp="1"/>
          </p:cNvSpPr>
          <p:nvPr/>
        </p:nvSpPr>
        <p:spPr>
          <a:xfrm xmlns:a="http://schemas.openxmlformats.org/drawingml/2006/main">
            <a:off x="5857875" y="3743325"/>
            <a:ext cx="3524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FFFFFF"/>
                </a:solidFill>
                <a:latin typeface="Segoe UI"/>
                <a:ea typeface="Segoe UI"/>
                <a:cs typeface="Segoe UI"/>
              </a:defRPr>
            </a:pPr>
            <a:r>
              <a:rPr sz="2775" b="1">
                <a:solidFill>
                  <a:srgbClr val="FFFFFF"/>
                </a:solidFill>
                <a:latin typeface="Segoe UI"/>
                <a:ea typeface="Segoe UI"/>
                <a:cs typeface="Segoe UI"/>
              </a:rPr>
              <a:t>Clinical AI</a:t>
            </a:r>
          </a:p>
          <a:p xmlns:a="http://schemas.openxmlformats.org/drawingml/2006/main">
            <a:pPr>
              <a:defRPr sz="2775" b="1">
                <a:solidFill>
                  <a:srgbClr val="FFFFFF"/>
                </a:solidFill>
                <a:latin typeface="Segoe UI"/>
                <a:ea typeface="Segoe UI"/>
                <a:cs typeface="Segoe UI"/>
              </a:defRPr>
            </a:pPr>
            <a:r>
              <a:rPr sz="2775" b="1">
                <a:solidFill>
                  <a:srgbClr val="FFFFFF"/>
                </a:solidFill>
                <a:latin typeface="Segoe UI"/>
                <a:ea typeface="Segoe UI"/>
                <a:cs typeface="Segoe UI"/>
              </a:rPr>
              <a:t>Governance</a:t>
            </a:r>
          </a:p>
        </p:txBody>
      </p:sp>
      <p:sp>
        <p:nvSpPr>
          <p:cNvPr id="12" name="RN-9001">
            <a:extLst xmlns:a="http://schemas.openxmlformats.org/drawingml/2006/main">
              <a:ext uri="{FF2B5EF4-FFF2-40B4-BE49-F238E27FC236}">
                <a16:creationId xmlns:a16="http://schemas.microsoft.com/office/drawing/2014/main" id="{FF339929-63CE-4DD0-90C6-4F6CAD86CB5E}"/>
              </a:ext>
            </a:extLst>
          </p:cNvPr>
          <p:cNvSpPr>
            <a:spLocks xmlns:a="http://schemas.openxmlformats.org/drawingml/2006/main" noGrp="1"/>
          </p:cNvSpPr>
          <p:nvPr/>
        </p:nvSpPr>
        <p:spPr>
          <a:xfrm xmlns:a="http://schemas.openxmlformats.org/drawingml/2006/main">
            <a:off x="11058525" y="3762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02C43"/>
                </a:solidFill>
                <a:latin typeface="Segoe UI"/>
                <a:ea typeface="Segoe UI"/>
                <a:cs typeface="Segoe UI"/>
              </a:defRPr>
            </a:pPr>
            <a:r>
              <a:rPr sz="2550" b="1">
                <a:solidFill>
                  <a:srgbClr val="102C43"/>
                </a:solidFill>
                <a:latin typeface="Segoe UI"/>
                <a:ea typeface="Segoe UI"/>
                <a:cs typeface="Segoe UI"/>
              </a:rPr>
              <a:t>RN-9001</a:t>
            </a:r>
          </a:p>
        </p:txBody>
      </p:sp>
      <p:sp>
        <p:nvSpPr>
          <p:cNvPr id="13" name="Accepted internal note">
            <a:extLst xmlns:a="http://schemas.openxmlformats.org/drawingml/2006/main">
              <a:ext uri="{FF2B5EF4-FFF2-40B4-BE49-F238E27FC236}">
                <a16:creationId xmlns:a16="http://schemas.microsoft.com/office/drawing/2014/main" id="{48656265-EB90-4256-91FB-F416AA492631}"/>
              </a:ext>
            </a:extLst>
          </p:cNvPr>
          <p:cNvSpPr>
            <a:spLocks xmlns:a="http://schemas.openxmlformats.org/drawingml/2006/main" noGrp="1"/>
          </p:cNvSpPr>
          <p:nvPr/>
        </p:nvSpPr>
        <p:spPr>
          <a:xfrm xmlns:a="http://schemas.openxmlformats.org/drawingml/2006/main">
            <a:off x="11058525" y="437197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Accepted internal note</a:t>
            </a:r>
          </a:p>
        </p:txBody>
      </p:sp>
      <p:cxnSp>
        <p:nvCxnSpPr>
          <p:cNvPr id="36" name=""/>
          <p:cNvCxnSpPr>
            <a:stCxn xmlns:a="http://schemas.openxmlformats.org/drawingml/2006/main" id="7" idx="1"/>
            <a:endCxn xmlns:a="http://schemas.openxmlformats.org/drawingml/2006/main" id="6" idx="3"/>
          </p:cNvCxnSpPr>
          <p:nvPr/>
        </p:nvCxnSpPr>
        <p:spPr>
          <a:xfrm xmlns:a="http://schemas.openxmlformats.org/drawingml/2006/main" flipH="1">
            <a:off x="4381500" y="4152900"/>
            <a:ext cx="1238250" cy="0"/>
          </a:xfrm>
          <a:prstGeom xmlns:a="http://schemas.openxmlformats.org/drawingml/2006/main" prst="straightConnector1">
            <a:avLst/>
          </a:prstGeom>
          <a:ln xmlns:a="http://schemas.openxmlformats.org/drawingml/2006/main" w="28575">
            <a:solidFill>
              <a:srgbClr val="007D82"/>
            </a:solidFill>
            <a:tailEnd type="triangle" w="med" len="med"/>
          </a:ln>
        </p:spPr>
      </p:cxn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9620250" y="4152900"/>
            <a:ext cx="1238250" cy="0"/>
          </a:xfrm>
          <a:prstGeom xmlns:a="http://schemas.openxmlformats.org/drawingml/2006/main" prst="straightConnector1">
            <a:avLst/>
          </a:prstGeom>
          <a:ln xmlns:a="http://schemas.openxmlformats.org/drawingml/2006/main" w="28575">
            <a:solidFill>
              <a:srgbClr val="007D82"/>
            </a:solidFill>
            <a:tailEnd type="triangle" w="med" len="med"/>
          </a:ln>
        </p:spPr>
      </p:cxnSp>
      <p:sp>
        <p:nvSpPr>
          <p:cNvPr id="16" name="mentions">
            <a:extLst xmlns:a="http://schemas.openxmlformats.org/drawingml/2006/main">
              <a:ext uri="{FF2B5EF4-FFF2-40B4-BE49-F238E27FC236}">
                <a16:creationId xmlns:a16="http://schemas.microsoft.com/office/drawing/2014/main" id="{50D9F67B-95D6-4FE2-AAE6-7C4F05ABB694}"/>
              </a:ext>
            </a:extLst>
          </p:cNvPr>
          <p:cNvSpPr>
            <a:spLocks xmlns:a="http://schemas.openxmlformats.org/drawingml/2006/main" noGrp="1"/>
          </p:cNvSpPr>
          <p:nvPr/>
        </p:nvSpPr>
        <p:spPr>
          <a:xfrm xmlns:a="http://schemas.openxmlformats.org/drawingml/2006/main">
            <a:off x="4333875" y="299085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mentions</a:t>
            </a:r>
          </a:p>
        </p:txBody>
      </p:sp>
      <p:sp>
        <p:nvSpPr>
          <p:cNvPr id="17" name="covered_by">
            <a:extLst xmlns:a="http://schemas.openxmlformats.org/drawingml/2006/main">
              <a:ext uri="{FF2B5EF4-FFF2-40B4-BE49-F238E27FC236}">
                <a16:creationId xmlns:a16="http://schemas.microsoft.com/office/drawing/2014/main" id="{8D172A5A-214B-4D71-B0E9-BD7D98B27FDA}"/>
              </a:ext>
            </a:extLst>
          </p:cNvPr>
          <p:cNvSpPr>
            <a:spLocks xmlns:a="http://schemas.openxmlformats.org/drawingml/2006/main" noGrp="1"/>
          </p:cNvSpPr>
          <p:nvPr/>
        </p:nvSpPr>
        <p:spPr>
          <a:xfrm xmlns:a="http://schemas.openxmlformats.org/drawingml/2006/main">
            <a:off x="9610725" y="2990850"/>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covered_by</a:t>
            </a:r>
          </a:p>
        </p:txBody>
      </p:sp>
      <p:sp>
        <p:nvSpPr>
          <p:cNvPr id="18" name="Input is already in shared state">
            <a:extLst xmlns:a="http://schemas.openxmlformats.org/drawingml/2006/main">
              <a:ext uri="{FF2B5EF4-FFF2-40B4-BE49-F238E27FC236}">
                <a16:creationId xmlns:a16="http://schemas.microsoft.com/office/drawing/2014/main" id="{6E188F57-02F1-4F1F-A614-D946B7812881}"/>
              </a:ext>
            </a:extLst>
          </p:cNvPr>
          <p:cNvSpPr>
            <a:spLocks xmlns:a="http://schemas.openxmlformats.org/drawingml/2006/main" noGrp="1"/>
          </p:cNvSpPr>
          <p:nvPr/>
        </p:nvSpPr>
        <p:spPr>
          <a:xfrm xmlns:a="http://schemas.openxmlformats.org/drawingml/2006/main">
            <a:off x="762000" y="56007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43"/>
                </a:solidFill>
                <a:latin typeface="Segoe UI"/>
                <a:ea typeface="Segoe UI"/>
                <a:cs typeface="Segoe UI"/>
              </a:defRPr>
            </a:pPr>
            <a:r>
              <a:rPr sz="2400" b="1">
                <a:solidFill>
                  <a:srgbClr val="102C43"/>
                </a:solidFill>
                <a:latin typeface="Segoe UI"/>
                <a:ea typeface="Segoe UI"/>
                <a:cs typeface="Segoe UI"/>
              </a:rPr>
              <a:t>Input is already in shared state</a:t>
            </a:r>
          </a:p>
        </p:txBody>
      </p:sp>
      <p:sp>
        <p:nvSpPr>
          <p:cNvPr id="19" name="Topic entities from article extraction.&#10;Accepted intern">
            <a:extLst xmlns:a="http://schemas.openxmlformats.org/drawingml/2006/main">
              <a:ext uri="{FF2B5EF4-FFF2-40B4-BE49-F238E27FC236}">
                <a16:creationId xmlns:a16="http://schemas.microsoft.com/office/drawing/2014/main" id="{4F90635D-D925-4961-8BA4-576307B921D7}"/>
              </a:ext>
            </a:extLst>
          </p:cNvPr>
          <p:cNvSpPr>
            <a:spLocks xmlns:a="http://schemas.openxmlformats.org/drawingml/2006/main" noGrp="1"/>
          </p:cNvSpPr>
          <p:nvPr/>
        </p:nvSpPr>
        <p:spPr>
          <a:xfrm xmlns:a="http://schemas.openxmlformats.org/drawingml/2006/main">
            <a:off x="762000" y="6181725"/>
            <a:ext cx="647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Topic entities from article extraction.</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Accepted internal documents from Coverage.</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Code assigns the relationship types.</a:t>
            </a:r>
          </a:p>
        </p:txBody>
      </p:sp>
      <p:sp>
        <p:nvSpPr>
          <p:cNvPr id="20" name="Output belongs to the selected run">
            <a:extLst xmlns:a="http://schemas.openxmlformats.org/drawingml/2006/main">
              <a:ext uri="{FF2B5EF4-FFF2-40B4-BE49-F238E27FC236}">
                <a16:creationId xmlns:a16="http://schemas.microsoft.com/office/drawing/2014/main" id="{C7B1D45F-B8D0-463D-8EDE-34CB474E8630}"/>
              </a:ext>
            </a:extLst>
          </p:cNvPr>
          <p:cNvSpPr>
            <a:spLocks xmlns:a="http://schemas.openxmlformats.org/drawingml/2006/main" noGrp="1"/>
          </p:cNvSpPr>
          <p:nvPr/>
        </p:nvSpPr>
        <p:spPr>
          <a:xfrm xmlns:a="http://schemas.openxmlformats.org/drawingml/2006/main">
            <a:off x="8286750" y="56007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43"/>
                </a:solidFill>
                <a:latin typeface="Segoe UI"/>
                <a:ea typeface="Segoe UI"/>
                <a:cs typeface="Segoe UI"/>
              </a:defRPr>
            </a:pPr>
            <a:r>
              <a:rPr sz="2400" b="1">
                <a:solidFill>
                  <a:srgbClr val="102C43"/>
                </a:solidFill>
                <a:latin typeface="Segoe UI"/>
                <a:ea typeface="Segoe UI"/>
                <a:cs typeface="Segoe UI"/>
              </a:rPr>
              <a:t>Output belongs to the selected run</a:t>
            </a:r>
          </a:p>
        </p:txBody>
      </p:sp>
      <p:sp>
        <p:nvSpPr>
          <p:cNvPr id="21" name="Nodes, links, graph statistics and central entities.&#10;Th">
            <a:extLst xmlns:a="http://schemas.openxmlformats.org/drawingml/2006/main">
              <a:ext uri="{FF2B5EF4-FFF2-40B4-BE49-F238E27FC236}">
                <a16:creationId xmlns:a16="http://schemas.microsoft.com/office/drawing/2014/main" id="{FDF85721-06F9-4841-9EFE-BFE300F1E20B}"/>
              </a:ext>
            </a:extLst>
          </p:cNvPr>
          <p:cNvSpPr>
            <a:spLocks xmlns:a="http://schemas.openxmlformats.org/drawingml/2006/main" noGrp="1"/>
          </p:cNvSpPr>
          <p:nvPr/>
        </p:nvSpPr>
        <p:spPr>
          <a:xfrm xmlns:a="http://schemas.openxmlformats.org/drawingml/2006/main">
            <a:off x="8286750" y="6181725"/>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Nodes, links, graph statistics and central entities.</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The UI shows the map for that question.</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SQLite preserves the result for replay.</a:t>
            </a:r>
          </a:p>
        </p:txBody>
      </p:sp>
      <p:sp>
        <p:nvSpPr>
          <p:cNvPr id="22" name="Illustrative relationship. “Covered by” may mean partia">
            <a:extLst xmlns:a="http://schemas.openxmlformats.org/drawingml/2006/main">
              <a:ext uri="{FF2B5EF4-FFF2-40B4-BE49-F238E27FC236}">
                <a16:creationId xmlns:a16="http://schemas.microsoft.com/office/drawing/2014/main" id="{26C80B9D-D2A1-4F95-B7F4-77EA0E008510}"/>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Illustrative relationship. “Covered by” may mean partial or stale coverage. The graph does not recalculate the gap.</a:t>
            </a:r>
          </a:p>
        </p:txBody>
      </p:sp>
    </p:spTree>
    <p:extLst>
      <p:ext uri="{BB962C8B-B14F-4D97-AF65-F5344CB8AC3E}">
        <p14:creationId xmlns:p14="http://schemas.microsoft.com/office/powerpoint/2010/main" val="20658297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GENT 07 / RANK">
            <a:extLst xmlns:a="http://schemas.openxmlformats.org/drawingml/2006/main">
              <a:ext uri="{FF2B5EF4-FFF2-40B4-BE49-F238E27FC236}">
                <a16:creationId xmlns:a16="http://schemas.microsoft.com/office/drawing/2014/main" id="{EE2BA51D-D412-498D-BC4C-B3CD41F086D1}"/>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 07 / RANK</a:t>
            </a:r>
          </a:p>
        </p:txBody>
      </p:sp>
      <p:sp>
        <p:nvSpPr>
          <p:cNvPr id="2" name="Gap scoring turns the evidence into a priority">
            <a:extLst xmlns:a="http://schemas.openxmlformats.org/drawingml/2006/main">
              <a:ext uri="{FF2B5EF4-FFF2-40B4-BE49-F238E27FC236}">
                <a16:creationId xmlns:a16="http://schemas.microsoft.com/office/drawing/2014/main" id="{21027B4A-2ECF-4579-905B-8E631398C4C8}"/>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Gap scoring turns the evidence into a priority</a:t>
            </a:r>
          </a:p>
        </p:txBody>
      </p:sp>
      <p:sp>
        <p:nvSpPr>
          <p:cNvPr id="3" name="">
            <a:extLst xmlns:a="http://schemas.openxmlformats.org/drawingml/2006/main">
              <a:ext uri="{FF2B5EF4-FFF2-40B4-BE49-F238E27FC236}">
                <a16:creationId xmlns:a16="http://schemas.microsoft.com/office/drawing/2014/main" id="{7A80AE1F-A800-4A8A-B727-B57839A61716}"/>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222BB7BB-3086-4664-B1AE-5B1A3E0AE03E}"/>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3">
            <a:extLst xmlns:a="http://schemas.openxmlformats.org/drawingml/2006/main">
              <a:ext uri="{FF2B5EF4-FFF2-40B4-BE49-F238E27FC236}">
                <a16:creationId xmlns:a16="http://schemas.microsoft.com/office/drawing/2014/main" id="{20320669-3790-4945-893A-5315EB9EE59E}"/>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13</a:t>
            </a:r>
          </a:p>
        </p:txBody>
      </p:sp>
      <p:sp>
        <p:nvSpPr>
          <p:cNvPr id="6" name="Gap = attention × (1 − coverage)">
            <a:extLst xmlns:a="http://schemas.openxmlformats.org/drawingml/2006/main">
              <a:ext uri="{FF2B5EF4-FFF2-40B4-BE49-F238E27FC236}">
                <a16:creationId xmlns:a16="http://schemas.microsoft.com/office/drawing/2014/main" id="{60B1AC0E-F040-4BEB-82A3-281576F0E600}"/>
              </a:ext>
            </a:extLst>
          </p:cNvPr>
          <p:cNvSpPr>
            <a:spLocks xmlns:a="http://schemas.openxmlformats.org/drawingml/2006/main" noGrp="1"/>
          </p:cNvSpPr>
          <p:nvPr/>
        </p:nvSpPr>
        <p:spPr>
          <a:xfrm xmlns:a="http://schemas.openxmlformats.org/drawingml/2006/main">
            <a:off x="762000" y="2324100"/>
            <a:ext cx="1371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102C43"/>
                </a:solidFill>
                <a:latin typeface="Segoe UI"/>
                <a:ea typeface="Segoe UI"/>
                <a:cs typeface="Segoe UI"/>
              </a:defRPr>
            </a:pPr>
            <a:r>
              <a:rPr sz="4050" b="1">
                <a:solidFill>
                  <a:srgbClr val="102C43"/>
                </a:solidFill>
                <a:latin typeface="Segoe UI"/>
                <a:ea typeface="Segoe UI"/>
                <a:cs typeface="Segoe UI"/>
              </a:rPr>
              <a:t>Gap = attention × (1 − coverage)</a:t>
            </a:r>
          </a:p>
        </p:txBody>
      </p:sp>
      <p:sp>
        <p:nvSpPr>
          <p:cNvPr id="7" name="0.6767 × (1 − 0.145) = 0.5786">
            <a:extLst xmlns:a="http://schemas.openxmlformats.org/drawingml/2006/main">
              <a:ext uri="{FF2B5EF4-FFF2-40B4-BE49-F238E27FC236}">
                <a16:creationId xmlns:a16="http://schemas.microsoft.com/office/drawing/2014/main" id="{6D19E648-3EF7-4EB8-B55D-AA1EFED9C377}"/>
              </a:ext>
            </a:extLst>
          </p:cNvPr>
          <p:cNvSpPr>
            <a:spLocks xmlns:a="http://schemas.openxmlformats.org/drawingml/2006/main" noGrp="1"/>
          </p:cNvSpPr>
          <p:nvPr/>
        </p:nvSpPr>
        <p:spPr>
          <a:xfrm xmlns:a="http://schemas.openxmlformats.org/drawingml/2006/main">
            <a:off x="762000" y="3429000"/>
            <a:ext cx="1371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007D82"/>
                </a:solidFill>
                <a:latin typeface="Segoe UI"/>
                <a:ea typeface="Segoe UI"/>
                <a:cs typeface="Segoe UI"/>
              </a:defRPr>
            </a:pPr>
            <a:r>
              <a:rPr sz="4125" b="1">
                <a:solidFill>
                  <a:srgbClr val="007D82"/>
                </a:solidFill>
                <a:latin typeface="Segoe UI"/>
                <a:ea typeface="Segoe UI"/>
                <a:cs typeface="Segoe UI"/>
              </a:rPr>
              <a:t>0.6767 × (1 − 0.145) = 0.5786</a:t>
            </a:r>
          </a:p>
        </p:txBody>
      </p:sp>
      <p:sp>
        <p:nvSpPr>
          <p:cNvPr id="8" name="">
            <a:extLst xmlns:a="http://schemas.openxmlformats.org/drawingml/2006/main">
              <a:ext uri="{FF2B5EF4-FFF2-40B4-BE49-F238E27FC236}">
                <a16:creationId xmlns:a16="http://schemas.microsoft.com/office/drawing/2014/main" id="{62AF347B-DA0A-47A1-BEC0-C29D139C28EA}"/>
              </a:ext>
            </a:extLst>
          </p:cNvPr>
          <p:cNvSpPr>
            <a:spLocks xmlns:a="http://schemas.openxmlformats.org/drawingml/2006/main" noGrp="1"/>
          </p:cNvSpPr>
          <p:nvPr/>
        </p:nvSpPr>
        <p:spPr>
          <a:xfrm xmlns:a="http://schemas.openxmlformats.org/drawingml/2006/main">
            <a:off x="762000" y="45339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9" name="Priority: CRITICAL">
            <a:extLst xmlns:a="http://schemas.openxmlformats.org/drawingml/2006/main">
              <a:ext uri="{FF2B5EF4-FFF2-40B4-BE49-F238E27FC236}">
                <a16:creationId xmlns:a16="http://schemas.microsoft.com/office/drawing/2014/main" id="{FF3FBC19-318F-47A3-BC78-AB05B2008F82}"/>
              </a:ext>
            </a:extLst>
          </p:cNvPr>
          <p:cNvSpPr>
            <a:spLocks xmlns:a="http://schemas.openxmlformats.org/drawingml/2006/main" noGrp="1"/>
          </p:cNvSpPr>
          <p:nvPr/>
        </p:nvSpPr>
        <p:spPr>
          <a:xfrm xmlns:a="http://schemas.openxmlformats.org/drawingml/2006/main">
            <a:off x="762000" y="49911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43"/>
                </a:solidFill>
                <a:latin typeface="Segoe UI"/>
                <a:ea typeface="Segoe UI"/>
                <a:cs typeface="Segoe UI"/>
              </a:defRPr>
            </a:pPr>
            <a:r>
              <a:rPr sz="2400" b="1">
                <a:solidFill>
                  <a:srgbClr val="102C43"/>
                </a:solidFill>
                <a:latin typeface="Segoe UI"/>
                <a:ea typeface="Segoe UI"/>
                <a:cs typeface="Segoe UI"/>
              </a:rPr>
              <a:t>Priority: CRITICAL</a:t>
            </a:r>
          </a:p>
        </p:txBody>
      </p:sp>
      <p:sp>
        <p:nvSpPr>
          <p:cNvPr id="10" name="Gap ≥ 0.45&#10;Strong sampled attention meets weak usable c">
            <a:extLst xmlns:a="http://schemas.openxmlformats.org/drawingml/2006/main">
              <a:ext uri="{FF2B5EF4-FFF2-40B4-BE49-F238E27FC236}">
                <a16:creationId xmlns:a16="http://schemas.microsoft.com/office/drawing/2014/main" id="{DDAB73F2-2550-428F-B47F-839AF685D9E5}"/>
              </a:ext>
            </a:extLst>
          </p:cNvPr>
          <p:cNvSpPr>
            <a:spLocks xmlns:a="http://schemas.openxmlformats.org/drawingml/2006/main" noGrp="1"/>
          </p:cNvSpPr>
          <p:nvPr/>
        </p:nvSpPr>
        <p:spPr>
          <a:xfrm xmlns:a="http://schemas.openxmlformats.org/drawingml/2006/main">
            <a:off x="762000" y="5572125"/>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Gap ≥ 0.45</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Strong sampled attention meets weak usable coverage.</a:t>
            </a:r>
          </a:p>
        </p:txBody>
      </p:sp>
      <p:sp>
        <p:nvSpPr>
          <p:cNvPr id="11" name="Action: REFRESH">
            <a:extLst xmlns:a="http://schemas.openxmlformats.org/drawingml/2006/main">
              <a:ext uri="{FF2B5EF4-FFF2-40B4-BE49-F238E27FC236}">
                <a16:creationId xmlns:a16="http://schemas.microsoft.com/office/drawing/2014/main" id="{A7250D70-A0F3-4011-B507-238C9C796870}"/>
              </a:ext>
            </a:extLst>
          </p:cNvPr>
          <p:cNvSpPr>
            <a:spLocks xmlns:a="http://schemas.openxmlformats.org/drawingml/2006/main" noGrp="1"/>
          </p:cNvSpPr>
          <p:nvPr/>
        </p:nvSpPr>
        <p:spPr>
          <a:xfrm xmlns:a="http://schemas.openxmlformats.org/drawingml/2006/main">
            <a:off x="8286750" y="49911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43"/>
                </a:solidFill>
                <a:latin typeface="Segoe UI"/>
                <a:ea typeface="Segoe UI"/>
                <a:cs typeface="Segoe UI"/>
              </a:defRPr>
            </a:pPr>
            <a:r>
              <a:rPr sz="2400" b="1">
                <a:solidFill>
                  <a:srgbClr val="102C43"/>
                </a:solidFill>
                <a:latin typeface="Segoe UI"/>
                <a:ea typeface="Segoe UI"/>
                <a:cs typeface="Segoe UI"/>
              </a:rPr>
              <a:t>Action: REFRESH</a:t>
            </a:r>
          </a:p>
        </p:txBody>
      </p:sp>
      <p:sp>
        <p:nvSpPr>
          <p:cNvPr id="12" name="Attention ≥ 0.50, coverage &lt; 0.70&#10;Newest accepted note ">
            <a:extLst xmlns:a="http://schemas.openxmlformats.org/drawingml/2006/main">
              <a:ext uri="{FF2B5EF4-FFF2-40B4-BE49-F238E27FC236}">
                <a16:creationId xmlns:a16="http://schemas.microsoft.com/office/drawing/2014/main" id="{7DCB1695-C4B2-4822-BC32-D0B76702EE8C}"/>
              </a:ext>
            </a:extLst>
          </p:cNvPr>
          <p:cNvSpPr>
            <a:spLocks xmlns:a="http://schemas.openxmlformats.org/drawingml/2006/main" noGrp="1"/>
          </p:cNvSpPr>
          <p:nvPr/>
        </p:nvSpPr>
        <p:spPr>
          <a:xfrm xmlns:a="http://schemas.openxmlformats.org/drawingml/2006/main">
            <a:off x="8286750" y="5572125"/>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Attention ≥ 0.50, coverage &lt; 0.70</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Newest accepted note &gt; 300 days old</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Refresh rule takes precedence over commissioning.</a:t>
            </a:r>
          </a:p>
        </p:txBody>
      </p:sp>
      <p:sp>
        <p:nvSpPr>
          <p:cNvPr id="13" name="Same worked example. Output: gap_score 0.5786, priority">
            <a:extLst xmlns:a="http://schemas.openxmlformats.org/drawingml/2006/main">
              <a:ext uri="{FF2B5EF4-FFF2-40B4-BE49-F238E27FC236}">
                <a16:creationId xmlns:a16="http://schemas.microsoft.com/office/drawing/2014/main" id="{B5F007DF-35E2-443A-B1D5-C877425A1227}"/>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Same worked example. Output: gap_score 0.5786, priority CRITICAL, quadrant refresh and an evidence-based rationale.</a:t>
            </a:r>
          </a:p>
        </p:txBody>
      </p:sp>
    </p:spTree>
    <p:extLst>
      <p:ext uri="{BB962C8B-B14F-4D97-AF65-F5344CB8AC3E}">
        <p14:creationId xmlns:p14="http://schemas.microsoft.com/office/powerpoint/2010/main" val="3809184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S 08–09">
            <a:extLst xmlns:a="http://schemas.openxmlformats.org/drawingml/2006/main">
              <a:ext uri="{FF2B5EF4-FFF2-40B4-BE49-F238E27FC236}">
                <a16:creationId xmlns:a16="http://schemas.microsoft.com/office/drawing/2014/main" id="{2BD0220A-7556-4D3E-951C-38409A46002D}"/>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AGENTS 08–09</a:t>
            </a:r>
          </a:p>
        </p:txBody>
      </p:sp>
      <p:sp>
        <p:nvSpPr>
          <p:cNvPr id="2" name="Synthesis writes the decision; Critic checks the number">
            <a:extLst xmlns:a="http://schemas.openxmlformats.org/drawingml/2006/main">
              <a:ext uri="{FF2B5EF4-FFF2-40B4-BE49-F238E27FC236}">
                <a16:creationId xmlns:a16="http://schemas.microsoft.com/office/drawing/2014/main" id="{86B5BAAB-24BA-4720-AB51-BB1CEC33D733}"/>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Synthesis writes the decision; Critic checks the numbers</a:t>
            </a:r>
          </a:p>
        </p:txBody>
      </p:sp>
      <p:sp>
        <p:nvSpPr>
          <p:cNvPr id="3" name="">
            <a:extLst xmlns:a="http://schemas.openxmlformats.org/drawingml/2006/main">
              <a:ext uri="{FF2B5EF4-FFF2-40B4-BE49-F238E27FC236}">
                <a16:creationId xmlns:a16="http://schemas.microsoft.com/office/drawing/2014/main" id="{93D49A16-A42E-458B-8596-6CEB97A0E274}"/>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90C7D5A9-3ADC-4F33-97EA-6007A3081C3D}"/>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4">
            <a:extLst xmlns:a="http://schemas.openxmlformats.org/drawingml/2006/main">
              <a:ext uri="{FF2B5EF4-FFF2-40B4-BE49-F238E27FC236}">
                <a16:creationId xmlns:a16="http://schemas.microsoft.com/office/drawing/2014/main" id="{85B841C7-CF34-49C8-B853-677ABF0A343E}"/>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14</a:t>
            </a:r>
          </a:p>
        </p:txBody>
      </p:sp>
      <p:sp>
        <p:nvSpPr>
          <p:cNvPr id="6" name="SYNTHESIZER INPUT">
            <a:extLst xmlns:a="http://schemas.openxmlformats.org/drawingml/2006/main">
              <a:ext uri="{FF2B5EF4-FFF2-40B4-BE49-F238E27FC236}">
                <a16:creationId xmlns:a16="http://schemas.microsoft.com/office/drawing/2014/main" id="{95664168-8FDA-4B2C-8848-9EDC9B888DFE}"/>
              </a:ext>
            </a:extLst>
          </p:cNvPr>
          <p:cNvSpPr>
            <a:spLocks xmlns:a="http://schemas.openxmlformats.org/drawingml/2006/main" noGrp="1"/>
          </p:cNvSpPr>
          <p:nvPr/>
        </p:nvSpPr>
        <p:spPr>
          <a:xfrm xmlns:a="http://schemas.openxmlformats.org/drawingml/2006/main">
            <a:off x="762000" y="2324100"/>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SYNTHESIZER INPUT</a:t>
            </a:r>
          </a:p>
        </p:txBody>
      </p:sp>
      <p:sp>
        <p:nvSpPr>
          <p:cNvPr id="7" name="Clinical AI Governance: attention 0.6767, coverage 0.14">
            <a:extLst xmlns:a="http://schemas.openxmlformats.org/drawingml/2006/main">
              <a:ext uri="{FF2B5EF4-FFF2-40B4-BE49-F238E27FC236}">
                <a16:creationId xmlns:a16="http://schemas.microsoft.com/office/drawing/2014/main" id="{4588AC49-4F44-4396-B776-07176646CD9F}"/>
              </a:ext>
            </a:extLst>
          </p:cNvPr>
          <p:cNvSpPr>
            <a:spLocks xmlns:a="http://schemas.openxmlformats.org/drawingml/2006/main" noGrp="1"/>
          </p:cNvSpPr>
          <p:nvPr/>
        </p:nvSpPr>
        <p:spPr>
          <a:xfrm xmlns:a="http://schemas.openxmlformats.org/drawingml/2006/main">
            <a:off x="762000" y="2847975"/>
            <a:ext cx="1371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Clinical AI Governance: attention 0.6767, coverage 0.145, gap 0.5786.</a:t>
            </a:r>
          </a:p>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CRITICAL / refresh. Newest accepted note: 500 days old.</a:t>
            </a:r>
          </a:p>
        </p:txBody>
      </p:sp>
      <p:sp>
        <p:nvSpPr>
          <p:cNvPr id="8" name="EXECUTIVE OUTPUT">
            <a:extLst xmlns:a="http://schemas.openxmlformats.org/drawingml/2006/main">
              <a:ext uri="{FF2B5EF4-FFF2-40B4-BE49-F238E27FC236}">
                <a16:creationId xmlns:a16="http://schemas.microsoft.com/office/drawing/2014/main" id="{BA22B7B9-3875-445E-8503-9A705A9D9DB0}"/>
              </a:ext>
            </a:extLst>
          </p:cNvPr>
          <p:cNvSpPr>
            <a:spLocks xmlns:a="http://schemas.openxmlformats.org/drawingml/2006/main" noGrp="1"/>
          </p:cNvSpPr>
          <p:nvPr/>
        </p:nvSpPr>
        <p:spPr>
          <a:xfrm xmlns:a="http://schemas.openxmlformats.org/drawingml/2006/main">
            <a:off x="762000" y="4162425"/>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EXECUTIVE OUTPUT</a:t>
            </a:r>
          </a:p>
        </p:txBody>
      </p:sp>
      <p:sp>
        <p:nvSpPr>
          <p:cNvPr id="9" name="“Refresh the clinical AI governance research. Current c">
            <a:extLst xmlns:a="http://schemas.openxmlformats.org/drawingml/2006/main">
              <a:ext uri="{FF2B5EF4-FFF2-40B4-BE49-F238E27FC236}">
                <a16:creationId xmlns:a16="http://schemas.microsoft.com/office/drawing/2014/main" id="{A9EC4E11-A396-4B4D-9D81-96306F25EA29}"/>
              </a:ext>
            </a:extLst>
          </p:cNvPr>
          <p:cNvSpPr>
            <a:spLocks xmlns:a="http://schemas.openxmlformats.org/drawingml/2006/main" noGrp="1"/>
          </p:cNvSpPr>
          <p:nvPr/>
        </p:nvSpPr>
        <p:spPr>
          <a:xfrm xmlns:a="http://schemas.openxmlformats.org/drawingml/2006/main">
            <a:off x="762000" y="4686300"/>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“Refresh the clinical AI governance research. Current coverage is dated,</a:t>
            </a:r>
          </a:p>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while this news sample shows substantial attention to the topic.”</a:t>
            </a:r>
          </a:p>
        </p:txBody>
      </p:sp>
      <p:sp>
        <p:nvSpPr>
          <p:cNvPr id="10" name="">
            <a:extLst xmlns:a="http://schemas.openxmlformats.org/drawingml/2006/main">
              <a:ext uri="{FF2B5EF4-FFF2-40B4-BE49-F238E27FC236}">
                <a16:creationId xmlns:a16="http://schemas.microsoft.com/office/drawing/2014/main" id="{B74A5A76-3600-42CF-8B57-AB8C5ECA7E05}"/>
              </a:ext>
            </a:extLst>
          </p:cNvPr>
          <p:cNvSpPr>
            <a:spLocks xmlns:a="http://schemas.openxmlformats.org/drawingml/2006/main" noGrp="1"/>
          </p:cNvSpPr>
          <p:nvPr/>
        </p:nvSpPr>
        <p:spPr>
          <a:xfrm xmlns:a="http://schemas.openxmlformats.org/drawingml/2006/main">
            <a:off x="762000" y="614362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1" name="Critic compares the summary with the supplied analytics">
            <a:extLst xmlns:a="http://schemas.openxmlformats.org/drawingml/2006/main">
              <a:ext uri="{FF2B5EF4-FFF2-40B4-BE49-F238E27FC236}">
                <a16:creationId xmlns:a16="http://schemas.microsoft.com/office/drawing/2014/main" id="{E42B68C8-7B68-4943-9E69-5CC44F32C10E}"/>
              </a:ext>
            </a:extLst>
          </p:cNvPr>
          <p:cNvSpPr>
            <a:spLocks xmlns:a="http://schemas.openxmlformats.org/drawingml/2006/main" noGrp="1"/>
          </p:cNvSpPr>
          <p:nvPr/>
        </p:nvSpPr>
        <p:spPr>
          <a:xfrm xmlns:a="http://schemas.openxmlformats.org/drawingml/2006/main">
            <a:off x="762000" y="65341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007D82"/>
                </a:solidFill>
                <a:latin typeface="Segoe UI"/>
                <a:ea typeface="Segoe UI"/>
                <a:cs typeface="Segoe UI"/>
              </a:defRPr>
            </a:pPr>
            <a:r>
              <a:rPr sz="2475" b="1">
                <a:solidFill>
                  <a:srgbClr val="007D82"/>
                </a:solidFill>
                <a:latin typeface="Segoe UI"/>
                <a:ea typeface="Segoe UI"/>
                <a:cs typeface="Segoe UI"/>
              </a:rPr>
              <a:t>Critic compares the summary with the supplied analytics.</a:t>
            </a:r>
          </a:p>
        </p:txBody>
      </p:sp>
      <p:sp>
        <p:nvSpPr>
          <p:cNvPr id="12" name="Illustrative summary. Output adds the narrative, comput">
            <a:extLst xmlns:a="http://schemas.openxmlformats.org/drawingml/2006/main">
              <a:ext uri="{FF2B5EF4-FFF2-40B4-BE49-F238E27FC236}">
                <a16:creationId xmlns:a16="http://schemas.microsoft.com/office/drawing/2014/main" id="{AA4C8C81-2DCC-4006-A01D-F9C08049BC3C}"/>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Illustrative summary. Output adds the narrative, computed actions, consistency verdict and any flagged issues.</a:t>
            </a:r>
          </a:p>
        </p:txBody>
      </p:sp>
    </p:spTree>
    <p:extLst>
      <p:ext uri="{BB962C8B-B14F-4D97-AF65-F5344CB8AC3E}">
        <p14:creationId xmlns:p14="http://schemas.microsoft.com/office/powerpoint/2010/main" val="14631046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PARATE RAG ROUTE">
            <a:extLst xmlns:a="http://schemas.openxmlformats.org/drawingml/2006/main">
              <a:ext uri="{FF2B5EF4-FFF2-40B4-BE49-F238E27FC236}">
                <a16:creationId xmlns:a16="http://schemas.microsoft.com/office/drawing/2014/main" id="{9568FE36-3E92-4B70-A0F0-F834B9B8B1C2}"/>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SEPARATE RAG ROUTE</a:t>
            </a:r>
          </a:p>
        </p:txBody>
      </p:sp>
      <p:sp>
        <p:nvSpPr>
          <p:cNvPr id="2" name="Library QA answers a different user need">
            <a:extLst xmlns:a="http://schemas.openxmlformats.org/drawingml/2006/main">
              <a:ext uri="{FF2B5EF4-FFF2-40B4-BE49-F238E27FC236}">
                <a16:creationId xmlns:a16="http://schemas.microsoft.com/office/drawing/2014/main" id="{7E05B6D3-EA58-4C71-ACBB-2CAFEC5FE4AF}"/>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Library QA answers a different user need</a:t>
            </a:r>
          </a:p>
        </p:txBody>
      </p:sp>
      <p:sp>
        <p:nvSpPr>
          <p:cNvPr id="3" name="">
            <a:extLst xmlns:a="http://schemas.openxmlformats.org/drawingml/2006/main">
              <a:ext uri="{FF2B5EF4-FFF2-40B4-BE49-F238E27FC236}">
                <a16:creationId xmlns:a16="http://schemas.microsoft.com/office/drawing/2014/main" id="{A2BC34EE-96EE-43C7-9625-0320648935C6}"/>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0CFF743F-B91C-4510-A3DF-C311CF59321B}"/>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5">
            <a:extLst xmlns:a="http://schemas.openxmlformats.org/drawingml/2006/main">
              <a:ext uri="{FF2B5EF4-FFF2-40B4-BE49-F238E27FC236}">
                <a16:creationId xmlns:a16="http://schemas.microsoft.com/office/drawing/2014/main" id="{198FA92E-5945-4E4C-8C7B-9E7E74CF4B5A}"/>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15</a:t>
            </a:r>
          </a:p>
        </p:txBody>
      </p:sp>
      <p:sp>
        <p:nvSpPr>
          <p:cNvPr id="6" name="“What governance practices does our research recommend ">
            <a:extLst xmlns:a="http://schemas.openxmlformats.org/drawingml/2006/main">
              <a:ext uri="{FF2B5EF4-FFF2-40B4-BE49-F238E27FC236}">
                <a16:creationId xmlns:a16="http://schemas.microsoft.com/office/drawing/2014/main" id="{E6FED04C-912C-478E-A6A2-76394F88FB92}"/>
              </a:ext>
            </a:extLst>
          </p:cNvPr>
          <p:cNvSpPr>
            <a:spLocks xmlns:a="http://schemas.openxmlformats.org/drawingml/2006/main" noGrp="1"/>
          </p:cNvSpPr>
          <p:nvPr/>
        </p:nvSpPr>
        <p:spPr>
          <a:xfrm xmlns:a="http://schemas.openxmlformats.org/drawingml/2006/main">
            <a:off x="762000" y="2305050"/>
            <a:ext cx="13716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102C43"/>
                </a:solidFill>
                <a:latin typeface="Segoe UI"/>
                <a:ea typeface="Segoe UI"/>
                <a:cs typeface="Segoe UI"/>
              </a:defRPr>
            </a:pPr>
            <a:r>
              <a:rPr sz="2925" b="1">
                <a:solidFill>
                  <a:srgbClr val="102C43"/>
                </a:solidFill>
                <a:latin typeface="Segoe UI"/>
                <a:ea typeface="Segoe UI"/>
                <a:cs typeface="Segoe UI"/>
              </a:rPr>
              <a:t>“What governance practices does our research recommend for clinical AI?”</a:t>
            </a:r>
          </a:p>
        </p:txBody>
      </p:sp>
      <p:sp>
        <p:nvSpPr>
          <p:cNvPr id="7" name="">
            <a:extLst xmlns:a="http://schemas.openxmlformats.org/drawingml/2006/main">
              <a:ext uri="{FF2B5EF4-FFF2-40B4-BE49-F238E27FC236}">
                <a16:creationId xmlns:a16="http://schemas.microsoft.com/office/drawing/2014/main" id="{B5B76219-7326-4320-B212-1D56BB47A645}"/>
              </a:ext>
            </a:extLst>
          </p:cNvPr>
          <p:cNvSpPr>
            <a:spLocks xmlns:a="http://schemas.openxmlformats.org/drawingml/2006/main" noGrp="1"/>
          </p:cNvSpPr>
          <p:nvPr/>
        </p:nvSpPr>
        <p:spPr>
          <a:xfrm xmlns:a="http://schemas.openxmlformats.org/drawingml/2006/main">
            <a:off x="762000" y="3924300"/>
            <a:ext cx="4318000" cy="20478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8" name="Retrieve">
            <a:extLst xmlns:a="http://schemas.openxmlformats.org/drawingml/2006/main">
              <a:ext uri="{FF2B5EF4-FFF2-40B4-BE49-F238E27FC236}">
                <a16:creationId xmlns:a16="http://schemas.microsoft.com/office/drawing/2014/main" id="{938AE631-3890-4F5A-9E73-54F771D00B5A}"/>
              </a:ext>
            </a:extLst>
          </p:cNvPr>
          <p:cNvSpPr>
            <a:spLocks xmlns:a="http://schemas.openxmlformats.org/drawingml/2006/main" noGrp="1"/>
          </p:cNvSpPr>
          <p:nvPr/>
        </p:nvSpPr>
        <p:spPr>
          <a:xfrm xmlns:a="http://schemas.openxmlformats.org/drawingml/2006/main">
            <a:off x="952500" y="414337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Retrieve</a:t>
            </a:r>
          </a:p>
        </p:txBody>
      </p:sp>
      <p:sp>
        <p:nvSpPr>
          <p:cNvPr id="9" name="Up to 6 internal passages">
            <a:extLst xmlns:a="http://schemas.openxmlformats.org/drawingml/2006/main">
              <a:ext uri="{FF2B5EF4-FFF2-40B4-BE49-F238E27FC236}">
                <a16:creationId xmlns:a16="http://schemas.microsoft.com/office/drawing/2014/main" id="{5F118C77-69D2-4FD0-BA0E-77EA9501EBCF}"/>
              </a:ext>
            </a:extLst>
          </p:cNvPr>
          <p:cNvSpPr>
            <a:spLocks xmlns:a="http://schemas.openxmlformats.org/drawingml/2006/main" noGrp="1"/>
          </p:cNvSpPr>
          <p:nvPr/>
        </p:nvSpPr>
        <p:spPr>
          <a:xfrm xmlns:a="http://schemas.openxmlformats.org/drawingml/2006/main">
            <a:off x="952500" y="4867275"/>
            <a:ext cx="393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Up to 6 internal passages</a:t>
            </a:r>
          </a:p>
        </p:txBody>
      </p:sp>
      <p:sp>
        <p:nvSpPr>
          <p:cNvPr id="10" name="">
            <a:extLst xmlns:a="http://schemas.openxmlformats.org/drawingml/2006/main">
              <a:ext uri="{FF2B5EF4-FFF2-40B4-BE49-F238E27FC236}">
                <a16:creationId xmlns:a16="http://schemas.microsoft.com/office/drawing/2014/main" id="{5447B207-7EDA-447A-857B-9EFDFF35F64A}"/>
              </a:ext>
            </a:extLst>
          </p:cNvPr>
          <p:cNvSpPr>
            <a:spLocks xmlns:a="http://schemas.openxmlformats.org/drawingml/2006/main" noGrp="1"/>
          </p:cNvSpPr>
          <p:nvPr/>
        </p:nvSpPr>
        <p:spPr>
          <a:xfrm xmlns:a="http://schemas.openxmlformats.org/drawingml/2006/main">
            <a:off x="5461000" y="3924300"/>
            <a:ext cx="4318000" cy="20478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Generate answer">
            <a:extLst xmlns:a="http://schemas.openxmlformats.org/drawingml/2006/main">
              <a:ext uri="{FF2B5EF4-FFF2-40B4-BE49-F238E27FC236}">
                <a16:creationId xmlns:a16="http://schemas.microsoft.com/office/drawing/2014/main" id="{1EFAD3DE-BDEB-429F-B77A-D933D322E4B0}"/>
              </a:ext>
            </a:extLst>
          </p:cNvPr>
          <p:cNvSpPr>
            <a:spLocks xmlns:a="http://schemas.openxmlformats.org/drawingml/2006/main" noGrp="1"/>
          </p:cNvSpPr>
          <p:nvPr/>
        </p:nvSpPr>
        <p:spPr>
          <a:xfrm xmlns:a="http://schemas.openxmlformats.org/drawingml/2006/main">
            <a:off x="5651500" y="414337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Generate answer</a:t>
            </a:r>
          </a:p>
        </p:txBody>
      </p:sp>
      <p:sp>
        <p:nvSpPr>
          <p:cNvPr id="12" name="Use passages and cite note IDs">
            <a:extLst xmlns:a="http://schemas.openxmlformats.org/drawingml/2006/main">
              <a:ext uri="{FF2B5EF4-FFF2-40B4-BE49-F238E27FC236}">
                <a16:creationId xmlns:a16="http://schemas.microsoft.com/office/drawing/2014/main" id="{71192811-4F92-485F-8A83-D7593BEB4116}"/>
              </a:ext>
            </a:extLst>
          </p:cNvPr>
          <p:cNvSpPr>
            <a:spLocks xmlns:a="http://schemas.openxmlformats.org/drawingml/2006/main" noGrp="1"/>
          </p:cNvSpPr>
          <p:nvPr/>
        </p:nvSpPr>
        <p:spPr>
          <a:xfrm xmlns:a="http://schemas.openxmlformats.org/drawingml/2006/main">
            <a:off x="5651500" y="4867275"/>
            <a:ext cx="393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Use passages and cite note IDs</a:t>
            </a:r>
          </a:p>
        </p:txBody>
      </p: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5080000" y="494823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4" name="">
            <a:extLst xmlns:a="http://schemas.openxmlformats.org/drawingml/2006/main">
              <a:ext uri="{FF2B5EF4-FFF2-40B4-BE49-F238E27FC236}">
                <a16:creationId xmlns:a16="http://schemas.microsoft.com/office/drawing/2014/main" id="{BFB9EB9E-3D86-4CBC-84FD-1D022EDCC5DA}"/>
              </a:ext>
            </a:extLst>
          </p:cNvPr>
          <p:cNvSpPr>
            <a:spLocks xmlns:a="http://schemas.openxmlformats.org/drawingml/2006/main" noGrp="1"/>
          </p:cNvSpPr>
          <p:nvPr/>
        </p:nvSpPr>
        <p:spPr>
          <a:xfrm xmlns:a="http://schemas.openxmlformats.org/drawingml/2006/main">
            <a:off x="10160000" y="3924300"/>
            <a:ext cx="4318000" cy="204787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5" name="Assess support">
            <a:extLst xmlns:a="http://schemas.openxmlformats.org/drawingml/2006/main">
              <a:ext uri="{FF2B5EF4-FFF2-40B4-BE49-F238E27FC236}">
                <a16:creationId xmlns:a16="http://schemas.microsoft.com/office/drawing/2014/main" id="{3243430E-40A1-4A2B-8CCB-CCC89E3B3306}"/>
              </a:ext>
            </a:extLst>
          </p:cNvPr>
          <p:cNvSpPr>
            <a:spLocks xmlns:a="http://schemas.openxmlformats.org/drawingml/2006/main" noGrp="1"/>
          </p:cNvSpPr>
          <p:nvPr/>
        </p:nvSpPr>
        <p:spPr>
          <a:xfrm xmlns:a="http://schemas.openxmlformats.org/drawingml/2006/main">
            <a:off x="10350500" y="414337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Assess support</a:t>
            </a:r>
          </a:p>
        </p:txBody>
      </p:sp>
      <p:sp>
        <p:nvSpPr>
          <p:cNvPr id="16" name="Supported and unsupported claims">
            <a:extLst xmlns:a="http://schemas.openxmlformats.org/drawingml/2006/main">
              <a:ext uri="{FF2B5EF4-FFF2-40B4-BE49-F238E27FC236}">
                <a16:creationId xmlns:a16="http://schemas.microsoft.com/office/drawing/2014/main" id="{96A7359A-B649-4324-B3C8-6831723A00E4}"/>
              </a:ext>
            </a:extLst>
          </p:cNvPr>
          <p:cNvSpPr>
            <a:spLocks xmlns:a="http://schemas.openxmlformats.org/drawingml/2006/main" noGrp="1"/>
          </p:cNvSpPr>
          <p:nvPr/>
        </p:nvSpPr>
        <p:spPr>
          <a:xfrm xmlns:a="http://schemas.openxmlformats.org/drawingml/2006/main">
            <a:off x="10350500" y="4867275"/>
            <a:ext cx="393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Supported and unsupported claims</a:t>
            </a:r>
          </a:p>
        </p:txBody>
      </p:sp>
      <p:cxnSp>
        <p:nvCxnSpPr>
          <p:cNvPr id="36" name=""/>
          <p:cNvCxnSpPr>
            <a:stCxn xmlns:a="http://schemas.openxmlformats.org/drawingml/2006/main" id="10" idx="3"/>
            <a:endCxn xmlns:a="http://schemas.openxmlformats.org/drawingml/2006/main" id="14" idx="1"/>
          </p:cNvCxnSpPr>
          <p:nvPr/>
        </p:nvCxnSpPr>
        <p:spPr>
          <a:xfrm xmlns:a="http://schemas.openxmlformats.org/drawingml/2006/main">
            <a:off x="9779000" y="494823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8" name="Output: answer + citations + retrieved evidence + suppo">
            <a:extLst xmlns:a="http://schemas.openxmlformats.org/drawingml/2006/main">
              <a:ext uri="{FF2B5EF4-FFF2-40B4-BE49-F238E27FC236}">
                <a16:creationId xmlns:a16="http://schemas.microsoft.com/office/drawing/2014/main" id="{B1EE691B-C2D6-4AF6-9497-31B6D41E1E96}"/>
              </a:ext>
            </a:extLst>
          </p:cNvPr>
          <p:cNvSpPr>
            <a:spLocks xmlns:a="http://schemas.openxmlformats.org/drawingml/2006/main" noGrp="1"/>
          </p:cNvSpPr>
          <p:nvPr/>
        </p:nvSpPr>
        <p:spPr>
          <a:xfrm xmlns:a="http://schemas.openxmlformats.org/drawingml/2006/main">
            <a:off x="762000" y="6524625"/>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007D82"/>
                </a:solidFill>
                <a:latin typeface="Segoe UI"/>
                <a:ea typeface="Segoe UI"/>
                <a:cs typeface="Segoe UI"/>
              </a:defRPr>
            </a:pPr>
            <a:r>
              <a:rPr sz="2475" b="1">
                <a:solidFill>
                  <a:srgbClr val="007D82"/>
                </a:solidFill>
                <a:latin typeface="Segoe UI"/>
                <a:ea typeface="Segoe UI"/>
                <a:cs typeface="Segoe UI"/>
              </a:rPr>
              <a:t>Output: answer + citations + retrieved evidence + support assessment</a:t>
            </a:r>
          </a:p>
        </p:txBody>
      </p:sp>
      <p:sp>
        <p:nvSpPr>
          <p:cNvPr id="19" name="No relevant evidence: abstain. Library QA does not need">
            <a:extLst xmlns:a="http://schemas.openxmlformats.org/drawingml/2006/main">
              <a:ext uri="{FF2B5EF4-FFF2-40B4-BE49-F238E27FC236}">
                <a16:creationId xmlns:a16="http://schemas.microsoft.com/office/drawing/2014/main" id="{1FBF1978-8DD1-4EE3-9504-93B242667701}"/>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No relevant evidence: abstain. Library QA does not need a web scan, attention score or gap calculation.</a:t>
            </a:r>
          </a:p>
        </p:txBody>
      </p:sp>
    </p:spTree>
    <p:extLst>
      <p:ext uri="{BB962C8B-B14F-4D97-AF65-F5344CB8AC3E}">
        <p14:creationId xmlns:p14="http://schemas.microsoft.com/office/powerpoint/2010/main" val="2493474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AT WE CAN SUBSTANTIATE">
            <a:extLst xmlns:a="http://schemas.openxmlformats.org/drawingml/2006/main">
              <a:ext uri="{FF2B5EF4-FFF2-40B4-BE49-F238E27FC236}">
                <a16:creationId xmlns:a16="http://schemas.microsoft.com/office/drawing/2014/main" id="{03D5B81F-C47F-4C11-9A8F-C489C614F738}"/>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WHAT WE CAN SUBSTANTIATE</a:t>
            </a:r>
          </a:p>
        </p:txBody>
      </p:sp>
      <p:sp>
        <p:nvSpPr>
          <p:cNvPr id="2" name="Demonstration evidence and pilot KPIs">
            <a:extLst xmlns:a="http://schemas.openxmlformats.org/drawingml/2006/main">
              <a:ext uri="{FF2B5EF4-FFF2-40B4-BE49-F238E27FC236}">
                <a16:creationId xmlns:a16="http://schemas.microsoft.com/office/drawing/2014/main" id="{5DE621E5-5494-4756-A679-B064BC41B282}"/>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Demonstration evidence and pilot KPIs</a:t>
            </a:r>
          </a:p>
        </p:txBody>
      </p:sp>
      <p:sp>
        <p:nvSpPr>
          <p:cNvPr id="3" name="">
            <a:extLst xmlns:a="http://schemas.openxmlformats.org/drawingml/2006/main">
              <a:ext uri="{FF2B5EF4-FFF2-40B4-BE49-F238E27FC236}">
                <a16:creationId xmlns:a16="http://schemas.microsoft.com/office/drawing/2014/main" id="{C1AD98B6-9042-45E9-A0FC-C72CC6ABB8FD}"/>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41E4097D-22FA-4CE0-BC58-EA9D856C386B}"/>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6">
            <a:extLst xmlns:a="http://schemas.openxmlformats.org/drawingml/2006/main">
              <a:ext uri="{FF2B5EF4-FFF2-40B4-BE49-F238E27FC236}">
                <a16:creationId xmlns:a16="http://schemas.microsoft.com/office/drawing/2014/main" id="{C624D783-B655-4F9D-840E-AE4E597B3288}"/>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16</a:t>
            </a:r>
          </a:p>
        </p:txBody>
      </p:sp>
      <p:sp>
        <p:nvSpPr>
          <p:cNvPr id="6" name="Recorded example: 23 articles / 9 topics / ~64 seconds">
            <a:extLst xmlns:a="http://schemas.openxmlformats.org/drawingml/2006/main">
              <a:ext uri="{FF2B5EF4-FFF2-40B4-BE49-F238E27FC236}">
                <a16:creationId xmlns:a16="http://schemas.microsoft.com/office/drawing/2014/main" id="{FFAE758A-0349-4A0F-B0E7-764E69B61C39}"/>
              </a:ext>
            </a:extLst>
          </p:cNvPr>
          <p:cNvSpPr>
            <a:spLocks xmlns:a="http://schemas.openxmlformats.org/drawingml/2006/main" noGrp="1"/>
          </p:cNvSpPr>
          <p:nvPr/>
        </p:nvSpPr>
        <p:spPr>
          <a:xfrm xmlns:a="http://schemas.openxmlformats.org/drawingml/2006/main">
            <a:off x="762000" y="2295525"/>
            <a:ext cx="1371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007D82"/>
                </a:solidFill>
                <a:latin typeface="Segoe UI"/>
                <a:ea typeface="Segoe UI"/>
                <a:cs typeface="Segoe UI"/>
              </a:defRPr>
            </a:pPr>
            <a:r>
              <a:rPr sz="3300" b="1">
                <a:solidFill>
                  <a:srgbClr val="007D82"/>
                </a:solidFill>
                <a:latin typeface="Segoe UI"/>
                <a:ea typeface="Segoe UI"/>
                <a:cs typeface="Segoe UI"/>
              </a:rPr>
              <a:t>Recorded example: 23 articles / 9 topics / ~64 seconds</a:t>
            </a:r>
          </a:p>
        </p:txBody>
      </p:sp>
      <p:graphicFrame>
        <p:nvGraphicFramePr>
          <p:cNvPr id="15" name=""/>
          <p:cNvGraphicFramePr/>
          <p:nvPr/>
        </p:nvGraphicFramePr>
        <p:xfrm>
          <a:off xmlns:a="http://schemas.openxmlformats.org/drawingml/2006/main" x="762000" y="3457575"/>
          <a:ext xmlns:a="http://schemas.openxmlformats.org/drawingml/2006/main" cx="13716000" cy="3257550"/>
        </p:xfrm>
        <a:graphic xmlns:a="http://schemas.openxmlformats.org/drawingml/2006/main">
          <a:graphicData uri="http://schemas.openxmlformats.org/drawingml/2006/table">
            <a:tbl>
              <a:tblPr/>
              <a:tblGrid>
                <a:gridCol w="6858000"/>
                <a:gridCol w="6858000"/>
              </a:tblGrid>
              <a:tr h="651510">
                <a:tc>
                  <a:txBody>
                    <a:bodyPr lIns="171450" tIns="123825" rIns="171450" bIns="114300">
                      <a:noAutofit/>
                    </a:bodyPr>
                    <a:lstStyle/>
                    <a:p>
                      <a:r>
                        <a:rPr sz="1800" b="1">
                          <a:solidFill>
                            <a:srgbClr val="FFFFFF"/>
                          </a:solidFill>
                          <a:latin typeface="Segoe UI"/>
                          <a:ea typeface="Segoe UI"/>
                          <a:cs typeface="Segoe UI"/>
                        </a:rPr>
                        <a:t>Already observable</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Pilot measurement to add</a:t>
                      </a:r>
                    </a:p>
                  </a:txBody>
                  <a:tcPr marL="91440" marR="91440" marT="45720" marB="45720">
                    <a:solidFill>
                      <a:srgbClr val="0B2238"/>
                    </a:solidFill>
                  </a:tcPr>
                </a:tc>
              </a:tr>
              <a:tr h="651510">
                <a:tc>
                  <a:txBody>
                    <a:bodyPr lIns="171450" tIns="123825" rIns="171450" bIns="114300">
                      <a:noAutofit/>
                    </a:bodyPr>
                    <a:lstStyle/>
                    <a:p>
                      <a:r>
                        <a:rPr sz="1950" b="1">
                          <a:solidFill>
                            <a:srgbClr val="102C43"/>
                          </a:solidFill>
                          <a:latin typeface="Segoe UI"/>
                          <a:ea typeface="Segoe UI"/>
                          <a:cs typeface="Segoe UI"/>
                        </a:rPr>
                        <a:t>Saved question, agent trace and graph snapshot</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Replay reliability across representative questions</a:t>
                      </a:r>
                    </a:p>
                  </a:txBody>
                  <a:tcPr marL="91440" marR="91440" marT="45720" marB="45720">
                    <a:solidFill>
                      <a:srgbClr val="F5F8FB"/>
                    </a:solidFill>
                  </a:tcPr>
                </a:tc>
              </a:tr>
              <a:tr h="651510">
                <a:tc>
                  <a:txBody>
                    <a:bodyPr lIns="171450" tIns="123825" rIns="171450" bIns="114300">
                      <a:noAutofit/>
                    </a:bodyPr>
                    <a:lstStyle/>
                    <a:p>
                      <a:r>
                        <a:rPr sz="1950" b="1">
                          <a:solidFill>
                            <a:srgbClr val="102C43"/>
                          </a:solidFill>
                          <a:latin typeface="Segoe UI"/>
                          <a:ea typeface="Segoe UI"/>
                          <a:cs typeface="Segoe UI"/>
                        </a:rPr>
                        <a:t>Latency, calls and token counts</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p50/p95 latency and cost per successful run</a:t>
                      </a:r>
                    </a:p>
                  </a:txBody>
                  <a:tcPr marL="91440" marR="91440" marT="45720" marB="45720">
                    <a:solidFill>
                      <a:srgbClr val="FFFFFF"/>
                    </a:solidFill>
                  </a:tcPr>
                </a:tc>
              </a:tr>
              <a:tr h="651510">
                <a:tc>
                  <a:txBody>
                    <a:bodyPr lIns="171450" tIns="123825" rIns="171450" bIns="114300">
                      <a:noAutofit/>
                    </a:bodyPr>
                    <a:lstStyle/>
                    <a:p>
                      <a:r>
                        <a:rPr sz="1950" b="1">
                          <a:solidFill>
                            <a:srgbClr val="102C43"/>
                          </a:solidFill>
                          <a:latin typeface="Segoe UI"/>
                          <a:ea typeface="Segoe UI"/>
                          <a:cs typeface="Segoe UI"/>
                        </a:rPr>
                        <a:t>Retrieved passages and judge reasons</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Recall@k, citation precision and analyst agreement</a:t>
                      </a:r>
                    </a:p>
                  </a:txBody>
                  <a:tcPr marL="91440" marR="91440" marT="45720" marB="45720">
                    <a:solidFill>
                      <a:srgbClr val="F5F8FB"/>
                    </a:solidFill>
                  </a:tcPr>
                </a:tc>
              </a:tr>
              <a:tr h="651510">
                <a:tc>
                  <a:txBody>
                    <a:bodyPr lIns="171450" tIns="123825" rIns="171450" bIns="114300">
                      <a:noAutofit/>
                    </a:bodyPr>
                    <a:lstStyle/>
                    <a:p>
                      <a:r>
                        <a:rPr sz="1950" b="1">
                          <a:solidFill>
                            <a:srgbClr val="102C43"/>
                          </a:solidFill>
                          <a:latin typeface="Segoe UI"/>
                          <a:ea typeface="Segoe UI"/>
                          <a:cs typeface="Segoe UI"/>
                        </a:rPr>
                        <a:t>Ranked actions and model consistency check</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Recommendation acceptance and analyst time saved</a:t>
                      </a:r>
                    </a:p>
                  </a:txBody>
                  <a:tcPr marL="91440" marR="91440" marT="45720" marB="45720">
                    <a:solidFill>
                      <a:srgbClr val="FFFFFF"/>
                    </a:solidFill>
                  </a:tcPr>
                </a:tc>
              </a:tr>
            </a:tbl>
          </a:graphicData>
        </a:graphic>
      </p:graphicFrame>
      <p:sp>
        <p:nvSpPr>
          <p:cNvPr id="8" name="Historical run #9 used cached search results. Operation">
            <a:extLst xmlns:a="http://schemas.openxmlformats.org/drawingml/2006/main">
              <a:ext uri="{FF2B5EF4-FFF2-40B4-BE49-F238E27FC236}">
                <a16:creationId xmlns:a16="http://schemas.microsoft.com/office/drawing/2014/main" id="{FFB8B79D-5041-4CB6-B7C2-1493D58246CA}"/>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Historical run #9 used cached search results. Operational success does not establish production accuracy or business impact.</a:t>
            </a:r>
          </a:p>
        </p:txBody>
      </p:sp>
    </p:spTree>
    <p:extLst>
      <p:ext uri="{BB962C8B-B14F-4D97-AF65-F5344CB8AC3E}">
        <p14:creationId xmlns:p14="http://schemas.microsoft.com/office/powerpoint/2010/main" val="467949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IMITS AND FUTURE WORK">
            <a:extLst xmlns:a="http://schemas.openxmlformats.org/drawingml/2006/main">
              <a:ext uri="{FF2B5EF4-FFF2-40B4-BE49-F238E27FC236}">
                <a16:creationId xmlns:a16="http://schemas.microsoft.com/office/drawing/2014/main" id="{5F0043E7-C5B4-4B42-A9B4-CCBCC943A464}"/>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LIMITS AND FUTURE WORK</a:t>
            </a:r>
          </a:p>
        </p:txBody>
      </p:sp>
      <p:sp>
        <p:nvSpPr>
          <p:cNvPr id="2" name="The next investment is stronger evidence">
            <a:extLst xmlns:a="http://schemas.openxmlformats.org/drawingml/2006/main">
              <a:ext uri="{FF2B5EF4-FFF2-40B4-BE49-F238E27FC236}">
                <a16:creationId xmlns:a16="http://schemas.microsoft.com/office/drawing/2014/main" id="{91D0EA83-3602-4290-AA8D-2C7B113311C4}"/>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The next investment is stronger evidence</a:t>
            </a:r>
          </a:p>
        </p:txBody>
      </p:sp>
      <p:sp>
        <p:nvSpPr>
          <p:cNvPr id="3" name="">
            <a:extLst xmlns:a="http://schemas.openxmlformats.org/drawingml/2006/main">
              <a:ext uri="{FF2B5EF4-FFF2-40B4-BE49-F238E27FC236}">
                <a16:creationId xmlns:a16="http://schemas.microsoft.com/office/drawing/2014/main" id="{53D2C358-2201-4950-B3F8-09EB5F2A0CB7}"/>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739A03DB-CF73-4ACD-9261-92D1EB83C13C}"/>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7">
            <a:extLst xmlns:a="http://schemas.openxmlformats.org/drawingml/2006/main">
              <a:ext uri="{FF2B5EF4-FFF2-40B4-BE49-F238E27FC236}">
                <a16:creationId xmlns:a16="http://schemas.microsoft.com/office/drawing/2014/main" id="{E575A086-2A72-4FBA-B2A0-C812D3FCE0F1}"/>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17</a:t>
            </a:r>
          </a:p>
        </p:txBody>
      </p:sp>
      <p:graphicFrame>
        <p:nvGraphicFramePr>
          <p:cNvPr id="13" name=""/>
          <p:cNvGraphicFramePr/>
          <p:nvPr/>
        </p:nvGraphicFramePr>
        <p:xfrm>
          <a:off xmlns:a="http://schemas.openxmlformats.org/drawingml/2006/main" x="762000" y="2533650"/>
          <a:ext xmlns:a="http://schemas.openxmlformats.org/drawingml/2006/main" cx="13716000" cy="3952875"/>
        </p:xfrm>
        <a:graphic xmlns:a="http://schemas.openxmlformats.org/drawingml/2006/main">
          <a:graphicData uri="http://schemas.openxmlformats.org/drawingml/2006/table">
            <a:tbl>
              <a:tblPr/>
              <a:tblGrid>
                <a:gridCol w="4667250"/>
                <a:gridCol w="4667250"/>
                <a:gridCol w="4381500"/>
              </a:tblGrid>
              <a:tr h="790575">
                <a:tc>
                  <a:txBody>
                    <a:bodyPr lIns="171450" tIns="123825" rIns="171450" bIns="114300">
                      <a:noAutofit/>
                    </a:bodyPr>
                    <a:lstStyle/>
                    <a:p>
                      <a:r>
                        <a:rPr sz="1800" b="1">
                          <a:solidFill>
                            <a:srgbClr val="FFFFFF"/>
                          </a:solidFill>
                          <a:latin typeface="Segoe UI"/>
                          <a:ea typeface="Segoe UI"/>
                          <a:cs typeface="Segoe UI"/>
                        </a:rPr>
                        <a:t>Current boundary</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Next investment</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Success measure</a:t>
                      </a:r>
                    </a:p>
                  </a:txBody>
                  <a:tcPr marL="91440" marR="91440" marT="45720" marB="45720">
                    <a:solidFill>
                      <a:srgbClr val="0B2238"/>
                    </a:solidFill>
                  </a:tcPr>
                </a:tc>
              </a:tr>
              <a:tr h="790575">
                <a:tc>
                  <a:txBody>
                    <a:bodyPr lIns="171450" tIns="123825" rIns="171450" bIns="114300">
                      <a:noAutofit/>
                    </a:bodyPr>
                    <a:lstStyle/>
                    <a:p>
                      <a:r>
                        <a:rPr sz="1950" b="1">
                          <a:solidFill>
                            <a:srgbClr val="102C43"/>
                          </a:solidFill>
                          <a:latin typeface="Segoe UI"/>
                          <a:ea typeface="Segoe UI"/>
                          <a:cs typeface="Segoe UI"/>
                        </a:rPr>
                        <a:t>Heuristic scores and model verdicts</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Analyst-labelled cases and calibration</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Agreement on useful research actions</a:t>
                      </a:r>
                    </a:p>
                  </a:txBody>
                  <a:tcPr marL="91440" marR="91440" marT="45720" marB="45720">
                    <a:solidFill>
                      <a:srgbClr val="F5F8FB"/>
                    </a:solidFill>
                  </a:tcPr>
                </a:tc>
              </a:tr>
              <a:tr h="790575">
                <a:tc>
                  <a:txBody>
                    <a:bodyPr lIns="171450" tIns="123825" rIns="171450" bIns="114300">
                      <a:noAutofit/>
                    </a:bodyPr>
                    <a:lstStyle/>
                    <a:p>
                      <a:r>
                        <a:rPr sz="1950" b="1">
                          <a:solidFill>
                            <a:srgbClr val="102C43"/>
                          </a:solidFill>
                          <a:latin typeface="Segoe UI"/>
                          <a:ea typeface="Segoe UI"/>
                          <a:cs typeface="Segoe UI"/>
                        </a:rPr>
                        <a:t>Short excerpts, one passage per note</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Richer evidence and retrieval evaluation</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Fewer missed and false coverage matches</a:t>
                      </a:r>
                    </a:p>
                  </a:txBody>
                  <a:tcPr marL="91440" marR="91440" marT="45720" marB="45720">
                    <a:solidFill>
                      <a:srgbClr val="FFFFFF"/>
                    </a:solidFill>
                  </a:tcPr>
                </a:tc>
              </a:tr>
              <a:tr h="790575">
                <a:tc>
                  <a:txBody>
                    <a:bodyPr lIns="171450" tIns="123825" rIns="171450" bIns="114300">
                      <a:noAutofit/>
                    </a:bodyPr>
                    <a:lstStyle/>
                    <a:p>
                      <a:r>
                        <a:rPr sz="1950" b="1">
                          <a:solidFill>
                            <a:srgbClr val="102C43"/>
                          </a:solidFill>
                          <a:latin typeface="Segoe UI"/>
                          <a:ea typeface="Segoe UI"/>
                          <a:cs typeface="Segoe UI"/>
                        </a:rPr>
                        <a:t>News sample without a time baseline</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Comparable historical signal collection</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Measured change over time</a:t>
                      </a:r>
                    </a:p>
                  </a:txBody>
                  <a:tcPr marL="91440" marR="91440" marT="45720" marB="45720">
                    <a:solidFill>
                      <a:srgbClr val="F5F8FB"/>
                    </a:solidFill>
                  </a:tcPr>
                </a:tc>
              </a:tr>
              <a:tr h="790575">
                <a:tc>
                  <a:txBody>
                    <a:bodyPr lIns="171450" tIns="123825" rIns="171450" bIns="114300">
                      <a:noAutofit/>
                    </a:bodyPr>
                    <a:lstStyle/>
                    <a:p>
                      <a:r>
                        <a:rPr sz="1950" b="1">
                          <a:solidFill>
                            <a:srgbClr val="102C43"/>
                          </a:solidFill>
                          <a:latin typeface="Segoe UI"/>
                          <a:ea typeface="Segoe UI"/>
                          <a:cs typeface="Segoe UI"/>
                        </a:rPr>
                        <a:t>Local prototype and shared services</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Access control, durable jobs, telemetry</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Reliable use under concurrent load</a:t>
                      </a:r>
                    </a:p>
                  </a:txBody>
                  <a:tcPr marL="91440" marR="91440" marT="45720" marB="45720">
                    <a:solidFill>
                      <a:srgbClr val="FFFFFF"/>
                    </a:solidFill>
                  </a:tcPr>
                </a:tc>
              </a:tr>
            </a:tbl>
          </a:graphicData>
        </a:graphic>
      </p:graphicFrame>
      <p:sp>
        <p:nvSpPr>
          <p:cNvPr id="7" name="A controlled analyst pilot should establish quality, us">
            <a:extLst xmlns:a="http://schemas.openxmlformats.org/drawingml/2006/main">
              <a:ext uri="{FF2B5EF4-FFF2-40B4-BE49-F238E27FC236}">
                <a16:creationId xmlns:a16="http://schemas.microsoft.com/office/drawing/2014/main" id="{4FD7E0A2-3E63-4D39-A967-86E490F6CDA9}"/>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A controlled analyst pilot should establish quality, usefulness and operating cost before wider deployment.</a:t>
            </a:r>
          </a:p>
        </p:txBody>
      </p:sp>
    </p:spTree>
    <p:extLst>
      <p:ext uri="{BB962C8B-B14F-4D97-AF65-F5344CB8AC3E}">
        <p14:creationId xmlns:p14="http://schemas.microsoft.com/office/powerpoint/2010/main" val="1429092285"/>
      </p:ext>
    </p:extLst>
  </p:cSld>
</p:sld>
</file>

<file path=ppt/slides/slide18.xml><?xml version="1.0" encoding="utf-8"?>
<p:sld xmlns:p="http://schemas.openxmlformats.org/presentationml/2006/main">
  <p:cSld>
    <p:bg>
      <p:bgPr>
        <a:solidFill xmlns:a="http://schemas.openxmlformats.org/drawingml/2006/main">
          <a:srgbClr val="0B2238"/>
        </a:solidFill>
      </p:bgPr>
    </p:bg>
    <p:spTree>
      <p:nvGrpSpPr>
        <p:cNvPr id="1" name=""/>
        <p:cNvGrpSpPr/>
        <p:nvPr/>
      </p:nvGrpSpPr>
      <p:grpSpPr>
        <a:xfrm xmlns:a="http://schemas.openxmlformats.org/drawingml/2006/main"/>
      </p:grpSpPr>
      <p:sp>
        <p:nvSpPr>
          <p:cNvPr id="11" name="CLOSING EXAMPLE">
            <a:extLst xmlns:a="http://schemas.openxmlformats.org/drawingml/2006/main">
              <a:ext uri="{FF2B5EF4-FFF2-40B4-BE49-F238E27FC236}">
                <a16:creationId xmlns:a16="http://schemas.microsoft.com/office/drawing/2014/main" id="{09F024F9-E431-4DD3-8744-EE1FCB87A4DE}"/>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71D5C0"/>
                </a:solidFill>
                <a:latin typeface="Segoe UI"/>
                <a:ea typeface="Segoe UI"/>
                <a:cs typeface="Segoe UI"/>
              </a:defRPr>
            </a:pPr>
            <a:r>
              <a:rPr sz="1275" b="1">
                <a:solidFill>
                  <a:srgbClr val="71D5C0"/>
                </a:solidFill>
                <a:latin typeface="Segoe UI"/>
                <a:ea typeface="Segoe UI"/>
                <a:cs typeface="Segoe UI"/>
              </a:rPr>
              <a:t>CLOSING EXAMPLE</a:t>
            </a:r>
          </a:p>
        </p:txBody>
      </p:sp>
      <p:sp>
        <p:nvSpPr>
          <p:cNvPr id="2" name="A research decision with a visible calculation">
            <a:extLst xmlns:a="http://schemas.openxmlformats.org/drawingml/2006/main">
              <a:ext uri="{FF2B5EF4-FFF2-40B4-BE49-F238E27FC236}">
                <a16:creationId xmlns:a16="http://schemas.microsoft.com/office/drawing/2014/main" id="{DF57DC77-59F4-44AC-86F9-0A53324F3F81}"/>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FFFFFF"/>
                </a:solidFill>
                <a:latin typeface="Segoe UI"/>
                <a:ea typeface="Segoe UI"/>
                <a:cs typeface="Segoe UI"/>
              </a:defRPr>
            </a:pPr>
            <a:r>
              <a:rPr sz="3675" b="1">
                <a:solidFill>
                  <a:srgbClr val="FFFFFF"/>
                </a:solidFill>
                <a:latin typeface="Segoe UI"/>
                <a:ea typeface="Segoe UI"/>
                <a:cs typeface="Segoe UI"/>
              </a:rPr>
              <a:t>A research decision with a visible calculation</a:t>
            </a:r>
          </a:p>
        </p:txBody>
      </p:sp>
      <p:sp>
        <p:nvSpPr>
          <p:cNvPr id="3" name="">
            <a:extLst xmlns:a="http://schemas.openxmlformats.org/drawingml/2006/main">
              <a:ext uri="{FF2B5EF4-FFF2-40B4-BE49-F238E27FC236}">
                <a16:creationId xmlns:a16="http://schemas.microsoft.com/office/drawing/2014/main" id="{F0238FAB-5862-4709-A0B6-1A0010830234}"/>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365066"/>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ADB6A92F-55ED-48C2-B7DC-88549F3C1013}"/>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DD0DE"/>
                </a:solidFill>
                <a:latin typeface="Segoe UI"/>
                <a:ea typeface="Segoe UI"/>
                <a:cs typeface="Segoe UI"/>
              </a:defRPr>
            </a:pPr>
            <a:r>
              <a:rPr sz="1200" b="0">
                <a:solidFill>
                  <a:srgbClr val="BDD0DE"/>
                </a:solidFill>
                <a:latin typeface="Segoe UI"/>
                <a:ea typeface="Segoe UI"/>
                <a:cs typeface="Segoe UI"/>
              </a:rPr>
              <a:t>Demand Sensing Intelligence</a:t>
            </a:r>
          </a:p>
        </p:txBody>
      </p:sp>
      <p:sp>
        <p:nvSpPr>
          <p:cNvPr id="5" name="18">
            <a:extLst xmlns:a="http://schemas.openxmlformats.org/drawingml/2006/main">
              <a:ext uri="{FF2B5EF4-FFF2-40B4-BE49-F238E27FC236}">
                <a16:creationId xmlns:a16="http://schemas.microsoft.com/office/drawing/2014/main" id="{D2A87BF2-BBF6-4659-A427-6A5AB278F876}"/>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71D5C0"/>
                </a:solidFill>
                <a:latin typeface="Segoe UI"/>
                <a:ea typeface="Segoe UI"/>
                <a:cs typeface="Segoe UI"/>
              </a:defRPr>
            </a:pPr>
            <a:r>
              <a:rPr sz="1650" b="1">
                <a:solidFill>
                  <a:srgbClr val="71D5C0"/>
                </a:solidFill>
                <a:latin typeface="Segoe UI"/>
                <a:ea typeface="Segoe UI"/>
                <a:cs typeface="Segoe UI"/>
              </a:rPr>
              <a:t>18</a:t>
            </a:r>
          </a:p>
        </p:txBody>
      </p:sp>
      <p:sp>
        <p:nvSpPr>
          <p:cNvPr id="6" name="Clinical AI Governance">
            <a:extLst xmlns:a="http://schemas.openxmlformats.org/drawingml/2006/main">
              <a:ext uri="{FF2B5EF4-FFF2-40B4-BE49-F238E27FC236}">
                <a16:creationId xmlns:a16="http://schemas.microsoft.com/office/drawing/2014/main" id="{EB8B7270-F807-4491-BF1C-DA8ADC21BA6E}"/>
              </a:ext>
            </a:extLst>
          </p:cNvPr>
          <p:cNvSpPr>
            <a:spLocks xmlns:a="http://schemas.openxmlformats.org/drawingml/2006/main" noGrp="1"/>
          </p:cNvSpPr>
          <p:nvPr/>
        </p:nvSpPr>
        <p:spPr>
          <a:xfrm xmlns:a="http://schemas.openxmlformats.org/drawingml/2006/main">
            <a:off x="762000" y="2419350"/>
            <a:ext cx="1371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FFFFFF"/>
                </a:solidFill>
                <a:latin typeface="Segoe UI"/>
                <a:ea typeface="Segoe UI"/>
                <a:cs typeface="Segoe UI"/>
              </a:defRPr>
            </a:pPr>
            <a:r>
              <a:rPr sz="3900" b="1">
                <a:solidFill>
                  <a:srgbClr val="FFFFFF"/>
                </a:solidFill>
                <a:latin typeface="Segoe UI"/>
                <a:ea typeface="Segoe UI"/>
                <a:cs typeface="Segoe UI"/>
              </a:rPr>
              <a:t>Clinical AI Governance</a:t>
            </a:r>
          </a:p>
        </p:txBody>
      </p:sp>
      <p:sp>
        <p:nvSpPr>
          <p:cNvPr id="7" name="Attention  0.6767&#10;Coverage  0.145&#10;Gap             0.578">
            <a:extLst xmlns:a="http://schemas.openxmlformats.org/drawingml/2006/main">
              <a:ext uri="{FF2B5EF4-FFF2-40B4-BE49-F238E27FC236}">
                <a16:creationId xmlns:a16="http://schemas.microsoft.com/office/drawing/2014/main" id="{24427ECD-5881-4C47-A562-BF8D7FEF8FE4}"/>
              </a:ext>
            </a:extLst>
          </p:cNvPr>
          <p:cNvSpPr>
            <a:spLocks xmlns:a="http://schemas.openxmlformats.org/drawingml/2006/main" noGrp="1"/>
          </p:cNvSpPr>
          <p:nvPr/>
        </p:nvSpPr>
        <p:spPr>
          <a:xfrm xmlns:a="http://schemas.openxmlformats.org/drawingml/2006/main">
            <a:off x="762000" y="3533775"/>
            <a:ext cx="6762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0">
                <a:solidFill>
                  <a:srgbClr val="BDD0DE"/>
                </a:solidFill>
                <a:latin typeface="Segoe UI"/>
                <a:ea typeface="Segoe UI"/>
                <a:cs typeface="Segoe UI"/>
              </a:defRPr>
            </a:pPr>
            <a:r>
              <a:rPr sz="3300" b="0">
                <a:solidFill>
                  <a:srgbClr val="BDD0DE"/>
                </a:solidFill>
                <a:latin typeface="Segoe UI"/>
                <a:ea typeface="Segoe UI"/>
                <a:cs typeface="Segoe UI"/>
              </a:rPr>
              <a:t>Attention  0.6767</a:t>
            </a:r>
          </a:p>
          <a:p xmlns:a="http://schemas.openxmlformats.org/drawingml/2006/main">
            <a:pPr>
              <a:defRPr sz="3300" b="0">
                <a:solidFill>
                  <a:srgbClr val="BDD0DE"/>
                </a:solidFill>
                <a:latin typeface="Segoe UI"/>
                <a:ea typeface="Segoe UI"/>
                <a:cs typeface="Segoe UI"/>
              </a:defRPr>
            </a:pPr>
            <a:r>
              <a:rPr sz="3300" b="0">
                <a:solidFill>
                  <a:srgbClr val="BDD0DE"/>
                </a:solidFill>
                <a:latin typeface="Segoe UI"/>
                <a:ea typeface="Segoe UI"/>
                <a:cs typeface="Segoe UI"/>
              </a:rPr>
              <a:t>Coverage  0.145</a:t>
            </a:r>
          </a:p>
          <a:p xmlns:a="http://schemas.openxmlformats.org/drawingml/2006/main">
            <a:pPr>
              <a:defRPr sz="3300" b="0">
                <a:solidFill>
                  <a:srgbClr val="BDD0DE"/>
                </a:solidFill>
                <a:latin typeface="Segoe UI"/>
                <a:ea typeface="Segoe UI"/>
                <a:cs typeface="Segoe UI"/>
              </a:defRPr>
            </a:pPr>
            <a:r>
              <a:rPr sz="3300" b="0">
                <a:solidFill>
                  <a:srgbClr val="BDD0DE"/>
                </a:solidFill>
                <a:latin typeface="Segoe UI"/>
                <a:ea typeface="Segoe UI"/>
                <a:cs typeface="Segoe UI"/>
              </a:rPr>
              <a:t>Gap             0.5786</a:t>
            </a:r>
          </a:p>
        </p:txBody>
      </p:sp>
      <p:sp>
        <p:nvSpPr>
          <p:cNvPr id="8" name="REFRESH">
            <a:extLst xmlns:a="http://schemas.openxmlformats.org/drawingml/2006/main">
              <a:ext uri="{FF2B5EF4-FFF2-40B4-BE49-F238E27FC236}">
                <a16:creationId xmlns:a16="http://schemas.microsoft.com/office/drawing/2014/main" id="{23210C1A-0A01-4528-AB5C-0DD65C9891E0}"/>
              </a:ext>
            </a:extLst>
          </p:cNvPr>
          <p:cNvSpPr>
            <a:spLocks xmlns:a="http://schemas.openxmlformats.org/drawingml/2006/main" noGrp="1"/>
          </p:cNvSpPr>
          <p:nvPr/>
        </p:nvSpPr>
        <p:spPr>
          <a:xfrm xmlns:a="http://schemas.openxmlformats.org/drawingml/2006/main">
            <a:off x="8858250" y="3705225"/>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650" b="1">
                <a:solidFill>
                  <a:srgbClr val="71D5C0"/>
                </a:solidFill>
                <a:latin typeface="Segoe UI"/>
                <a:ea typeface="Segoe UI"/>
                <a:cs typeface="Segoe UI"/>
              </a:defRPr>
            </a:pPr>
            <a:r>
              <a:rPr sz="4650" b="1">
                <a:solidFill>
                  <a:srgbClr val="71D5C0"/>
                </a:solidFill>
                <a:latin typeface="Segoe UI"/>
                <a:ea typeface="Segoe UI"/>
                <a:cs typeface="Segoe UI"/>
              </a:rPr>
              <a:t>REFRESH</a:t>
            </a:r>
          </a:p>
        </p:txBody>
      </p:sp>
      <p:sp>
        <p:nvSpPr>
          <p:cNvPr id="9" name="Two accepted notes,&#10;both 500 days old">
            <a:extLst xmlns:a="http://schemas.openxmlformats.org/drawingml/2006/main">
              <a:ext uri="{FF2B5EF4-FFF2-40B4-BE49-F238E27FC236}">
                <a16:creationId xmlns:a16="http://schemas.microsoft.com/office/drawing/2014/main" id="{D24ECE24-069F-4BC7-AEE3-1411EDBD5103}"/>
              </a:ext>
            </a:extLst>
          </p:cNvPr>
          <p:cNvSpPr>
            <a:spLocks xmlns:a="http://schemas.openxmlformats.org/drawingml/2006/main" noGrp="1"/>
          </p:cNvSpPr>
          <p:nvPr/>
        </p:nvSpPr>
        <p:spPr>
          <a:xfrm xmlns:a="http://schemas.openxmlformats.org/drawingml/2006/main">
            <a:off x="8858250" y="4762500"/>
            <a:ext cx="5619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FFFFFF"/>
                </a:solidFill>
                <a:latin typeface="Segoe UI"/>
                <a:ea typeface="Segoe UI"/>
                <a:cs typeface="Segoe UI"/>
              </a:defRPr>
            </a:pPr>
            <a:r>
              <a:rPr sz="2550" b="0">
                <a:solidFill>
                  <a:srgbClr val="FFFFFF"/>
                </a:solidFill>
                <a:latin typeface="Segoe UI"/>
                <a:ea typeface="Segoe UI"/>
                <a:cs typeface="Segoe UI"/>
              </a:rPr>
              <a:t>Two accepted notes,</a:t>
            </a:r>
          </a:p>
          <a:p xmlns:a="http://schemas.openxmlformats.org/drawingml/2006/main">
            <a:pPr>
              <a:defRPr sz="2550" b="0">
                <a:solidFill>
                  <a:srgbClr val="FFFFFF"/>
                </a:solidFill>
                <a:latin typeface="Segoe UI"/>
                <a:ea typeface="Segoe UI"/>
                <a:cs typeface="Segoe UI"/>
              </a:defRPr>
            </a:pPr>
            <a:r>
              <a:rPr sz="2550" b="0">
                <a:solidFill>
                  <a:srgbClr val="FFFFFF"/>
                </a:solidFill>
                <a:latin typeface="Segoe UI"/>
                <a:ea typeface="Segoe UI"/>
                <a:cs typeface="Segoe UI"/>
              </a:rPr>
              <a:t>both 500 days old</a:t>
            </a:r>
          </a:p>
        </p:txBody>
      </p:sp>
      <p:sp>
        <p:nvSpPr>
          <p:cNvPr id="10" name="The analyst sees the evidence and owns the final decisi">
            <a:extLst xmlns:a="http://schemas.openxmlformats.org/drawingml/2006/main">
              <a:ext uri="{FF2B5EF4-FFF2-40B4-BE49-F238E27FC236}">
                <a16:creationId xmlns:a16="http://schemas.microsoft.com/office/drawing/2014/main" id="{4FBD1011-1C68-4D2A-8DDF-9983545B90BD}"/>
              </a:ext>
            </a:extLst>
          </p:cNvPr>
          <p:cNvSpPr>
            <a:spLocks xmlns:a="http://schemas.openxmlformats.org/drawingml/2006/main" noGrp="1"/>
          </p:cNvSpPr>
          <p:nvPr/>
        </p:nvSpPr>
        <p:spPr>
          <a:xfrm xmlns:a="http://schemas.openxmlformats.org/drawingml/2006/main">
            <a:off x="762000" y="6686550"/>
            <a:ext cx="1371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FFFFF"/>
                </a:solidFill>
                <a:latin typeface="Segoe UI"/>
                <a:ea typeface="Segoe UI"/>
                <a:cs typeface="Segoe UI"/>
              </a:defRPr>
            </a:pPr>
            <a:r>
              <a:rPr sz="2625" b="1">
                <a:solidFill>
                  <a:srgbClr val="FFFFFF"/>
                </a:solidFill>
                <a:latin typeface="Segoe UI"/>
                <a:ea typeface="Segoe UI"/>
                <a:cs typeface="Segoe UI"/>
              </a:rPr>
              <a:t>The analyst sees the evidence and owns the final decision.</a:t>
            </a:r>
          </a:p>
        </p:txBody>
      </p:sp>
    </p:spTree>
    <p:extLst>
      <p:ext uri="{BB962C8B-B14F-4D97-AF65-F5344CB8AC3E}">
        <p14:creationId xmlns:p14="http://schemas.microsoft.com/office/powerpoint/2010/main" val="972891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FERENCE / TOPIC MAPPING">
            <a:extLst xmlns:a="http://schemas.openxmlformats.org/drawingml/2006/main">
              <a:ext uri="{FF2B5EF4-FFF2-40B4-BE49-F238E27FC236}">
                <a16:creationId xmlns:a16="http://schemas.microsoft.com/office/drawing/2014/main" id="{6EDF0017-EA3E-4FC9-99A7-A8375A097CAA}"/>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REFERENCE / TOPIC MAPPING</a:t>
            </a:r>
          </a:p>
        </p:txBody>
      </p:sp>
      <p:sp>
        <p:nvSpPr>
          <p:cNvPr id="2" name="The dictionaries preserve provenance during cleanup">
            <a:extLst xmlns:a="http://schemas.openxmlformats.org/drawingml/2006/main">
              <a:ext uri="{FF2B5EF4-FFF2-40B4-BE49-F238E27FC236}">
                <a16:creationId xmlns:a16="http://schemas.microsoft.com/office/drawing/2014/main" id="{C548AC69-FBEE-48B6-B326-D1156C209EA2}"/>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The dictionaries preserve provenance during cleanup</a:t>
            </a:r>
          </a:p>
        </p:txBody>
      </p:sp>
      <p:sp>
        <p:nvSpPr>
          <p:cNvPr id="3" name="">
            <a:extLst xmlns:a="http://schemas.openxmlformats.org/drawingml/2006/main">
              <a:ext uri="{FF2B5EF4-FFF2-40B4-BE49-F238E27FC236}">
                <a16:creationId xmlns:a16="http://schemas.microsoft.com/office/drawing/2014/main" id="{7A73A2B4-6A36-43AF-877E-DDC3588C2CE8}"/>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EA819DAE-D4D6-436C-9501-D3D9AC0A8AC3}"/>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19">
            <a:extLst xmlns:a="http://schemas.openxmlformats.org/drawingml/2006/main">
              <a:ext uri="{FF2B5EF4-FFF2-40B4-BE49-F238E27FC236}">
                <a16:creationId xmlns:a16="http://schemas.microsoft.com/office/drawing/2014/main" id="{6FB819CF-505C-4EC1-A144-C7F3132FE805}"/>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19</a:t>
            </a:r>
          </a:p>
        </p:txBody>
      </p:sp>
      <p:graphicFrame>
        <p:nvGraphicFramePr>
          <p:cNvPr id="14" name=""/>
          <p:cNvGraphicFramePr/>
          <p:nvPr/>
        </p:nvGraphicFramePr>
        <p:xfrm>
          <a:off xmlns:a="http://schemas.openxmlformats.org/drawingml/2006/main" x="762000" y="2505075"/>
          <a:ext xmlns:a="http://schemas.openxmlformats.org/drawingml/2006/main" cx="13716000" cy="2857500"/>
        </p:xfrm>
        <a:graphic xmlns:a="http://schemas.openxmlformats.org/drawingml/2006/main">
          <a:graphicData uri="http://schemas.openxmlformats.org/drawingml/2006/table">
            <a:tbl>
              <a:tblPr/>
              <a:tblGrid>
                <a:gridCol w="3429000"/>
                <a:gridCol w="2714625"/>
                <a:gridCol w="3476625"/>
                <a:gridCol w="4095750"/>
              </a:tblGrid>
              <a:tr h="714375">
                <a:tc>
                  <a:txBody>
                    <a:bodyPr lIns="171450" tIns="123825" rIns="171450" bIns="114300">
                      <a:noAutofit/>
                    </a:bodyPr>
                    <a:lstStyle/>
                    <a:p>
                      <a:r>
                        <a:rPr sz="1800" b="1">
                          <a:solidFill>
                            <a:srgbClr val="FFFFFF"/>
                          </a:solidFill>
                          <a:latin typeface="Segoe UI"/>
                          <a:ea typeface="Segoe UI"/>
                          <a:cs typeface="Segoe UI"/>
                        </a:rPr>
                        <a:t>Cleaned key</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surface_counter</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surface_articles</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surface_original</a:t>
                      </a:r>
                    </a:p>
                  </a:txBody>
                  <a:tcPr marL="91440" marR="91440" marT="45720" marB="45720">
                    <a:solidFill>
                      <a:srgbClr val="0B2238"/>
                    </a:solidFill>
                  </a:tcPr>
                </a:tc>
              </a:tr>
              <a:tr h="714375">
                <a:tc>
                  <a:txBody>
                    <a:bodyPr lIns="171450" tIns="123825" rIns="171450" bIns="114300">
                      <a:noAutofit/>
                    </a:bodyPr>
                    <a:lstStyle/>
                    <a:p>
                      <a:r>
                        <a:rPr sz="1950" b="1">
                          <a:solidFill>
                            <a:srgbClr val="102C43"/>
                          </a:solidFill>
                          <a:latin typeface="Segoe UI"/>
                          <a:ea typeface="Segoe UI"/>
                          <a:cs typeface="Segoe UI"/>
                        </a:rPr>
                        <a:t>ai governance</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3</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[0, 1, 2]</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AI Governance</a:t>
                      </a:r>
                    </a:p>
                  </a:txBody>
                  <a:tcPr marL="91440" marR="91440" marT="45720" marB="45720">
                    <a:solidFill>
                      <a:srgbClr val="F5F8FB"/>
                    </a:solidFill>
                  </a:tcPr>
                </a:tc>
              </a:tr>
              <a:tr h="714375">
                <a:tc>
                  <a:txBody>
                    <a:bodyPr lIns="171450" tIns="123825" rIns="171450" bIns="114300">
                      <a:noAutofit/>
                    </a:bodyPr>
                    <a:lstStyle/>
                    <a:p>
                      <a:r>
                        <a:rPr sz="1950" b="1">
                          <a:solidFill>
                            <a:srgbClr val="102C43"/>
                          </a:solidFill>
                          <a:latin typeface="Segoe UI"/>
                          <a:ea typeface="Segoe UI"/>
                          <a:cs typeface="Segoe UI"/>
                        </a:rPr>
                        <a:t>agentic ai</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1</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[0]</a:t>
                      </a:r>
                    </a:p>
                  </a:txBody>
                  <a:tcPr marL="91440" marR="91440" marT="45720" marB="45720">
                    <a:solidFill>
                      <a:srgbClr val="FFFFFF"/>
                    </a:solidFill>
                  </a:tcPr>
                </a:tc>
                <a:tc>
                  <a:txBody>
                    <a:bodyPr lIns="171450" tIns="123825" rIns="171450" bIns="114300">
                      <a:noAutofit/>
                    </a:bodyPr>
                    <a:lstStyle/>
                    <a:p>
                      <a:r>
                        <a:rPr sz="1950" b="0">
                          <a:solidFill>
                            <a:srgbClr val="102C43"/>
                          </a:solidFill>
                          <a:latin typeface="Segoe UI"/>
                          <a:ea typeface="Segoe UI"/>
                          <a:cs typeface="Segoe UI"/>
                        </a:rPr>
                        <a:t>Agentic AI</a:t>
                      </a:r>
                    </a:p>
                  </a:txBody>
                  <a:tcPr marL="91440" marR="91440" marT="45720" marB="45720">
                    <a:solidFill>
                      <a:srgbClr val="FFFFFF"/>
                    </a:solidFill>
                  </a:tcPr>
                </a:tc>
              </a:tr>
              <a:tr h="714375">
                <a:tc>
                  <a:txBody>
                    <a:bodyPr lIns="171450" tIns="123825" rIns="171450" bIns="114300">
                      <a:noAutofit/>
                    </a:bodyPr>
                    <a:lstStyle/>
                    <a:p>
                      <a:r>
                        <a:rPr sz="1950" b="1">
                          <a:solidFill>
                            <a:srgbClr val="102C43"/>
                          </a:solidFill>
                          <a:latin typeface="Segoe UI"/>
                          <a:ea typeface="Segoe UI"/>
                          <a:cs typeface="Segoe UI"/>
                        </a:rPr>
                        <a:t>clinical ai oversight</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1</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[2]</a:t>
                      </a:r>
                    </a:p>
                  </a:txBody>
                  <a:tcPr marL="91440" marR="91440" marT="45720" marB="45720">
                    <a:solidFill>
                      <a:srgbClr val="F5F8FB"/>
                    </a:solidFill>
                  </a:tcPr>
                </a:tc>
                <a:tc>
                  <a:txBody>
                    <a:bodyPr lIns="171450" tIns="123825" rIns="171450" bIns="114300">
                      <a:noAutofit/>
                    </a:bodyPr>
                    <a:lstStyle/>
                    <a:p>
                      <a:r>
                        <a:rPr sz="1950" b="0">
                          <a:solidFill>
                            <a:srgbClr val="102C43"/>
                          </a:solidFill>
                          <a:latin typeface="Segoe UI"/>
                          <a:ea typeface="Segoe UI"/>
                          <a:cs typeface="Segoe UI"/>
                        </a:rPr>
                        <a:t>Clinical AI Oversight</a:t>
                      </a:r>
                    </a:p>
                  </a:txBody>
                  <a:tcPr marL="91440" marR="91440" marT="45720" marB="45720">
                    <a:solidFill>
                      <a:srgbClr val="F5F8FB"/>
                    </a:solidFill>
                  </a:tcPr>
                </a:tc>
              </a:tr>
            </a:tbl>
          </a:graphicData>
        </a:graphic>
      </p:graphicFrame>
      <p:sp>
        <p:nvSpPr>
          <p:cNvPr id="7" name="Merged topic evidence: [0, 1, 2] + [2] gives 3 unique a">
            <a:extLst xmlns:a="http://schemas.openxmlformats.org/drawingml/2006/main">
              <a:ext uri="{FF2B5EF4-FFF2-40B4-BE49-F238E27FC236}">
                <a16:creationId xmlns:a16="http://schemas.microsoft.com/office/drawing/2014/main" id="{4F7A52C4-877B-4A5E-AC73-8EB5724B7045}"/>
              </a:ext>
            </a:extLst>
          </p:cNvPr>
          <p:cNvSpPr>
            <a:spLocks xmlns:a="http://schemas.openxmlformats.org/drawingml/2006/main" noGrp="1"/>
          </p:cNvSpPr>
          <p:nvPr/>
        </p:nvSpPr>
        <p:spPr>
          <a:xfrm xmlns:a="http://schemas.openxmlformats.org/drawingml/2006/main">
            <a:off x="762000" y="581025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007D82"/>
                </a:solidFill>
                <a:latin typeface="Segoe UI"/>
                <a:ea typeface="Segoe UI"/>
                <a:cs typeface="Segoe UI"/>
              </a:defRPr>
            </a:pPr>
            <a:r>
              <a:rPr sz="2625" b="1">
                <a:solidFill>
                  <a:srgbClr val="007D82"/>
                </a:solidFill>
                <a:latin typeface="Segoe UI"/>
                <a:ea typeface="Segoe UI"/>
                <a:cs typeface="Segoe UI"/>
              </a:rPr>
              <a:t>Merged topic evidence: [0, 1, 2] + [2] gives 3 unique article URLs</a:t>
            </a:r>
          </a:p>
        </p:txBody>
      </p:sp>
      <p:sp>
        <p:nvSpPr>
          <p:cNvPr id="8" name="The maps store phrase frequency, provenance and display">
            <a:extLst xmlns:a="http://schemas.openxmlformats.org/drawingml/2006/main">
              <a:ext uri="{FF2B5EF4-FFF2-40B4-BE49-F238E27FC236}">
                <a16:creationId xmlns:a16="http://schemas.microsoft.com/office/drawing/2014/main" id="{6DB1CC3A-E9B3-4F74-A545-1EDFEC18C91F}"/>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The maps store phrase frequency, provenance and display spelling. Deduplicating a phrase does not discard its source articles.</a:t>
            </a:r>
          </a:p>
        </p:txBody>
      </p:sp>
    </p:spTree>
    <p:extLst>
      <p:ext uri="{BB962C8B-B14F-4D97-AF65-F5344CB8AC3E}">
        <p14:creationId xmlns:p14="http://schemas.microsoft.com/office/powerpoint/2010/main" val="7314114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 / TOPIC ALGORITHM">
            <a:extLst xmlns:a="http://schemas.openxmlformats.org/drawingml/2006/main">
              <a:ext uri="{FF2B5EF4-FFF2-40B4-BE49-F238E27FC236}">
                <a16:creationId xmlns:a16="http://schemas.microsoft.com/office/drawing/2014/main" id="{3A96492D-6478-4D97-B706-0D687B8C598D}"/>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REFERENCE / TOPIC ALGORITHM</a:t>
            </a:r>
          </a:p>
        </p:txBody>
      </p:sp>
      <p:sp>
        <p:nvSpPr>
          <p:cNvPr id="2" name="Centroid comparison and the second model call">
            <a:extLst xmlns:a="http://schemas.openxmlformats.org/drawingml/2006/main">
              <a:ext uri="{FF2B5EF4-FFF2-40B4-BE49-F238E27FC236}">
                <a16:creationId xmlns:a16="http://schemas.microsoft.com/office/drawing/2014/main" id="{5640954B-5D3E-49FB-B76F-D26F2DBF6BA1}"/>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Centroid comparison and the second model call</a:t>
            </a:r>
          </a:p>
        </p:txBody>
      </p:sp>
      <p:sp>
        <p:nvSpPr>
          <p:cNvPr id="3" name="">
            <a:extLst xmlns:a="http://schemas.openxmlformats.org/drawingml/2006/main">
              <a:ext uri="{FF2B5EF4-FFF2-40B4-BE49-F238E27FC236}">
                <a16:creationId xmlns:a16="http://schemas.microsoft.com/office/drawing/2014/main" id="{1A960588-E99E-4178-9864-04490B12469B}"/>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B7CAF724-8D29-4132-887A-2A37F28CEA8F}"/>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20">
            <a:extLst xmlns:a="http://schemas.openxmlformats.org/drawingml/2006/main">
              <a:ext uri="{FF2B5EF4-FFF2-40B4-BE49-F238E27FC236}">
                <a16:creationId xmlns:a16="http://schemas.microsoft.com/office/drawing/2014/main" id="{C64A5C3A-C4F1-43EA-9C40-6EA770AE71DB}"/>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20</a:t>
            </a:r>
          </a:p>
        </p:txBody>
      </p:sp>
      <p:sp>
        <p:nvSpPr>
          <p:cNvPr id="6" name="v₀ = (1, 0) starts group 0&#10;v₁ = (0.96, 0.28): dot(v₁, v">
            <a:extLst xmlns:a="http://schemas.openxmlformats.org/drawingml/2006/main">
              <a:ext uri="{FF2B5EF4-FFF2-40B4-BE49-F238E27FC236}">
                <a16:creationId xmlns:a16="http://schemas.microsoft.com/office/drawing/2014/main" id="{5CCC8750-0F2E-4AD8-96DC-999D5E1C9F29}"/>
              </a:ext>
            </a:extLst>
          </p:cNvPr>
          <p:cNvSpPr>
            <a:spLocks xmlns:a="http://schemas.openxmlformats.org/drawingml/2006/main" noGrp="1"/>
          </p:cNvSpPr>
          <p:nvPr/>
        </p:nvSpPr>
        <p:spPr>
          <a:xfrm xmlns:a="http://schemas.openxmlformats.org/drawingml/2006/main">
            <a:off x="762000" y="2352675"/>
            <a:ext cx="13716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v₀ = (1, 0) starts group 0</a:t>
            </a:r>
          </a:p>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v₁ = (0.96, 0.28): dot(v₁, v₀) = 0.96, so join</a:t>
            </a:r>
          </a:p>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New centroid = normalize(mean(v₀, v₁)) ≈ (0.98995, 0.14142)</a:t>
            </a:r>
          </a:p>
        </p:txBody>
      </p:sp>
      <p:sp>
        <p:nvSpPr>
          <p:cNvPr id="7" name="">
            <a:extLst xmlns:a="http://schemas.openxmlformats.org/drawingml/2006/main">
              <a:ext uri="{FF2B5EF4-FFF2-40B4-BE49-F238E27FC236}">
                <a16:creationId xmlns:a16="http://schemas.microsoft.com/office/drawing/2014/main" id="{0DEB574E-7632-4718-B3C8-04BEC98A6C27}"/>
              </a:ext>
            </a:extLst>
          </p:cNvPr>
          <p:cNvSpPr>
            <a:spLocks xmlns:a="http://schemas.openxmlformats.org/drawingml/2006/main" noGrp="1"/>
          </p:cNvSpPr>
          <p:nvPr/>
        </p:nvSpPr>
        <p:spPr>
          <a:xfrm xmlns:a="http://schemas.openxmlformats.org/drawingml/2006/main">
            <a:off x="762000" y="420052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8" name="SECOND CALL INPUT: PHRASES + GROUP IDs">
            <a:extLst xmlns:a="http://schemas.openxmlformats.org/drawingml/2006/main">
              <a:ext uri="{FF2B5EF4-FFF2-40B4-BE49-F238E27FC236}">
                <a16:creationId xmlns:a16="http://schemas.microsoft.com/office/drawing/2014/main" id="{B51EC901-9F21-4246-9932-43A1CEC2D6CA}"/>
              </a:ext>
            </a:extLst>
          </p:cNvPr>
          <p:cNvSpPr>
            <a:spLocks xmlns:a="http://schemas.openxmlformats.org/drawingml/2006/main" noGrp="1"/>
          </p:cNvSpPr>
          <p:nvPr/>
        </p:nvSpPr>
        <p:spPr>
          <a:xfrm xmlns:a="http://schemas.openxmlformats.org/drawingml/2006/main">
            <a:off x="762000" y="4600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SECOND CALL INPUT: PHRASES + GROUP IDs</a:t>
            </a:r>
          </a:p>
        </p:txBody>
      </p:sp>
      <p:sp>
        <p:nvSpPr>
          <p:cNvPr id="9" name="SECOND CALL OUTPUT: TOPIC + MEMBERS">
            <a:extLst xmlns:a="http://schemas.openxmlformats.org/drawingml/2006/main">
              <a:ext uri="{FF2B5EF4-FFF2-40B4-BE49-F238E27FC236}">
                <a16:creationId xmlns:a16="http://schemas.microsoft.com/office/drawing/2014/main" id="{857F062F-F5E2-4505-BEA4-F12B54A00E98}"/>
              </a:ext>
            </a:extLst>
          </p:cNvPr>
          <p:cNvSpPr>
            <a:spLocks xmlns:a="http://schemas.openxmlformats.org/drawingml/2006/main" noGrp="1"/>
          </p:cNvSpPr>
          <p:nvPr/>
        </p:nvSpPr>
        <p:spPr>
          <a:xfrm xmlns:a="http://schemas.openxmlformats.org/drawingml/2006/main">
            <a:off x="8239125" y="4600575"/>
            <a:ext cx="623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SECOND CALL OUTPUT: TOPIC + MEMBERS</a:t>
            </a:r>
          </a:p>
        </p:txBody>
      </p:sp>
      <p:sp>
        <p:nvSpPr>
          <p:cNvPr id="10" name="[0] Clinical AI Governance&#10;[1] Healthcare Agentic AI&#10;[2">
            <a:extLst xmlns:a="http://schemas.openxmlformats.org/drawingml/2006/main">
              <a:ext uri="{FF2B5EF4-FFF2-40B4-BE49-F238E27FC236}">
                <a16:creationId xmlns:a16="http://schemas.microsoft.com/office/drawing/2014/main" id="{1F426088-1080-4FB8-A831-8D779A5FFBA9}"/>
              </a:ext>
            </a:extLst>
          </p:cNvPr>
          <p:cNvSpPr>
            <a:spLocks xmlns:a="http://schemas.openxmlformats.org/drawingml/2006/main" noGrp="1"/>
          </p:cNvSpPr>
          <p:nvPr/>
        </p:nvSpPr>
        <p:spPr>
          <a:xfrm xmlns:a="http://schemas.openxmlformats.org/drawingml/2006/main">
            <a:off x="762000" y="5210175"/>
            <a:ext cx="6572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[0] Clinical AI Governance</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[1] Healthcare Agentic AI</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[2] Clinical AI Oversight</a:t>
            </a:r>
          </a:p>
        </p:txBody>
      </p:sp>
      <p:sp>
        <p:nvSpPr>
          <p:cNvPr id="11" name="Clinical AI Governance: member_groups [0, 2]&#10;Healthcare">
            <a:extLst xmlns:a="http://schemas.openxmlformats.org/drawingml/2006/main">
              <a:ext uri="{FF2B5EF4-FFF2-40B4-BE49-F238E27FC236}">
                <a16:creationId xmlns:a16="http://schemas.microsoft.com/office/drawing/2014/main" id="{02677C24-16E8-4B19-9D9A-E5FDE2F99664}"/>
              </a:ext>
            </a:extLst>
          </p:cNvPr>
          <p:cNvSpPr>
            <a:spLocks xmlns:a="http://schemas.openxmlformats.org/drawingml/2006/main" noGrp="1"/>
          </p:cNvSpPr>
          <p:nvPr/>
        </p:nvSpPr>
        <p:spPr>
          <a:xfrm xmlns:a="http://schemas.openxmlformats.org/drawingml/2006/main">
            <a:off x="8239125" y="5210175"/>
            <a:ext cx="6238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Clinical AI Governance: member_groups [0, 2]</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Healthcare Agentic AI: member_groups [1]</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Each also returns category and description.</a:t>
            </a:r>
          </a:p>
        </p:txBody>
      </p:sp>
      <p:sp>
        <p:nvSpPr>
          <p:cNvPr id="12" name="member_groups recovers phrases, then article indexes, t">
            <a:extLst xmlns:a="http://schemas.openxmlformats.org/drawingml/2006/main">
              <a:ext uri="{FF2B5EF4-FFF2-40B4-BE49-F238E27FC236}">
                <a16:creationId xmlns:a16="http://schemas.microsoft.com/office/drawing/2014/main" id="{AA7400A2-B462-48F6-97FE-8EEAD1AA3CDF}"/>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member_groups recovers phrases, then article indexes, then URLs and entities. The naming call receives no raw vectors.</a:t>
            </a:r>
          </a:p>
        </p:txBody>
      </p:sp>
    </p:spTree>
    <p:extLst>
      <p:ext uri="{BB962C8B-B14F-4D97-AF65-F5344CB8AC3E}">
        <p14:creationId xmlns:p14="http://schemas.microsoft.com/office/powerpoint/2010/main" val="6239388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FERENCE / DATA CONTRACTS">
            <a:extLst xmlns:a="http://schemas.openxmlformats.org/drawingml/2006/main">
              <a:ext uri="{FF2B5EF4-FFF2-40B4-BE49-F238E27FC236}">
                <a16:creationId xmlns:a16="http://schemas.microsoft.com/office/drawing/2014/main" id="{21CCCF75-19AA-4C2C-964C-393764B40AA2}"/>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REFERENCE / DATA CONTRACTS</a:t>
            </a:r>
          </a:p>
        </p:txBody>
      </p:sp>
      <p:sp>
        <p:nvSpPr>
          <p:cNvPr id="2" name="Agent outputs accumulate in shared state">
            <a:extLst xmlns:a="http://schemas.openxmlformats.org/drawingml/2006/main">
              <a:ext uri="{FF2B5EF4-FFF2-40B4-BE49-F238E27FC236}">
                <a16:creationId xmlns:a16="http://schemas.microsoft.com/office/drawing/2014/main" id="{10511EDA-25F4-4B80-8BB5-952AE47C1976}"/>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Agent outputs accumulate in shared state</a:t>
            </a:r>
          </a:p>
        </p:txBody>
      </p:sp>
      <p:sp>
        <p:nvSpPr>
          <p:cNvPr id="3" name="">
            <a:extLst xmlns:a="http://schemas.openxmlformats.org/drawingml/2006/main">
              <a:ext uri="{FF2B5EF4-FFF2-40B4-BE49-F238E27FC236}">
                <a16:creationId xmlns:a16="http://schemas.microsoft.com/office/drawing/2014/main" id="{CBDA73D9-C5A1-4DBD-AF59-8F0735D68D33}"/>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033ED41E-EDC6-4F66-8A87-F8CEB04FEA6D}"/>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21">
            <a:extLst xmlns:a="http://schemas.openxmlformats.org/drawingml/2006/main">
              <a:ext uri="{FF2B5EF4-FFF2-40B4-BE49-F238E27FC236}">
                <a16:creationId xmlns:a16="http://schemas.microsoft.com/office/drawing/2014/main" id="{280F66CD-A479-4BEF-8E6A-A601F658D6BC}"/>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21</a:t>
            </a:r>
          </a:p>
        </p:txBody>
      </p:sp>
      <p:graphicFrame>
        <p:nvGraphicFramePr>
          <p:cNvPr id="13" name=""/>
          <p:cNvGraphicFramePr/>
          <p:nvPr/>
        </p:nvGraphicFramePr>
        <p:xfrm>
          <a:off xmlns:a="http://schemas.openxmlformats.org/drawingml/2006/main" x="762000" y="2524125"/>
          <a:ext xmlns:a="http://schemas.openxmlformats.org/drawingml/2006/main" cx="13716000" cy="4057650"/>
        </p:xfrm>
        <a:graphic xmlns:a="http://schemas.openxmlformats.org/drawingml/2006/main">
          <a:graphicData uri="http://schemas.openxmlformats.org/drawingml/2006/table">
            <a:tbl>
              <a:tblPr/>
              <a:tblGrid>
                <a:gridCol w="4000500"/>
                <a:gridCol w="9715500"/>
              </a:tblGrid>
              <a:tr h="676275">
                <a:tc>
                  <a:txBody>
                    <a:bodyPr lIns="171450" tIns="123825" rIns="171450" bIns="114300">
                      <a:noAutofit/>
                    </a:bodyPr>
                    <a:lstStyle/>
                    <a:p>
                      <a:r>
                        <a:rPr sz="1800" b="1">
                          <a:solidFill>
                            <a:srgbClr val="FFFFFF"/>
                          </a:solidFill>
                          <a:latin typeface="Segoe UI"/>
                          <a:ea typeface="Segoe UI"/>
                          <a:cs typeface="Segoe UI"/>
                        </a:rPr>
                        <a:t>Node</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Main fields it adds or updates</a:t>
                      </a:r>
                    </a:p>
                  </a:txBody>
                  <a:tcPr marL="91440" marR="91440" marT="45720" marB="45720">
                    <a:solidFill>
                      <a:srgbClr val="0B2238"/>
                    </a:solidFill>
                  </a:tcPr>
                </a:tc>
              </a:tr>
              <a:tr h="676275">
                <a:tc>
                  <a:txBody>
                    <a:bodyPr lIns="171450" tIns="123825" rIns="171450" bIns="114300">
                      <a:noAutofit/>
                    </a:bodyPr>
                    <a:lstStyle/>
                    <a:p>
                      <a:r>
                        <a:rPr sz="1875" b="1">
                          <a:solidFill>
                            <a:srgbClr val="102C43"/>
                          </a:solidFill>
                          <a:latin typeface="Segoe UI"/>
                          <a:ea typeface="Segoe UI"/>
                          <a:cs typeface="Segoe UI"/>
                        </a:rPr>
                        <a:t>Planner / Scout</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intent, research_area, queries / articles, signal_source, scout_stats</a:t>
                      </a:r>
                    </a:p>
                  </a:txBody>
                  <a:tcPr marL="91440" marR="91440" marT="45720" marB="45720">
                    <a:solidFill>
                      <a:srgbClr val="F5F8FB"/>
                    </a:solidFill>
                  </a:tcPr>
                </a:tc>
              </a:tr>
              <a:tr h="676275">
                <a:tc>
                  <a:txBody>
                    <a:bodyPr lIns="171450" tIns="123825" rIns="171450" bIns="114300">
                      <a:noAutofit/>
                    </a:bodyPr>
                    <a:lstStyle/>
                    <a:p>
                      <a:r>
                        <a:rPr sz="1875" b="1">
                          <a:solidFill>
                            <a:srgbClr val="102C43"/>
                          </a:solidFill>
                          <a:latin typeface="Segoe UI"/>
                          <a:ea typeface="Segoe UI"/>
                          <a:cs typeface="Segoe UI"/>
                        </a:rPr>
                        <a:t>Topic / Attention</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topics, topic_objects, normalisation / momentum, recency_days</a:t>
                      </a:r>
                    </a:p>
                  </a:txBody>
                  <a:tcPr marL="91440" marR="91440" marT="45720" marB="45720">
                    <a:solidFill>
                      <a:srgbClr val="FFFFFF"/>
                    </a:solidFill>
                  </a:tcPr>
                </a:tc>
              </a:tr>
              <a:tr h="676275">
                <a:tc>
                  <a:txBody>
                    <a:bodyPr lIns="171450" tIns="123825" rIns="171450" bIns="114300">
                      <a:noAutofit/>
                    </a:bodyPr>
                    <a:lstStyle/>
                    <a:p>
                      <a:r>
                        <a:rPr sz="1875" b="1">
                          <a:solidFill>
                            <a:srgbClr val="102C43"/>
                          </a:solidFill>
                          <a:latin typeface="Segoe UI"/>
                          <a:ea typeface="Segoe UI"/>
                          <a:cs typeface="Segoe UI"/>
                        </a:rPr>
                        <a:t>Coverage / Graph</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coverage[slug], matched_docs / graph.snapshot nodes and links</a:t>
                      </a:r>
                    </a:p>
                  </a:txBody>
                  <a:tcPr marL="91440" marR="91440" marT="45720" marB="45720">
                    <a:solidFill>
                      <a:srgbClr val="F5F8FB"/>
                    </a:solidFill>
                  </a:tcPr>
                </a:tc>
              </a:tr>
              <a:tr h="676275">
                <a:tc>
                  <a:txBody>
                    <a:bodyPr lIns="171450" tIns="123825" rIns="171450" bIns="114300">
                      <a:noAutofit/>
                    </a:bodyPr>
                    <a:lstStyle/>
                    <a:p>
                      <a:r>
                        <a:rPr sz="1875" b="1">
                          <a:solidFill>
                            <a:srgbClr val="102C43"/>
                          </a:solidFill>
                          <a:latin typeface="Segoe UI"/>
                          <a:ea typeface="Segoe UI"/>
                          <a:cs typeface="Segoe UI"/>
                        </a:rPr>
                        <a:t>Gap Analyst</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gaps: scores, priority, quadrant, rationale / portfolio summary</a:t>
                      </a:r>
                    </a:p>
                  </a:txBody>
                  <a:tcPr marL="91440" marR="91440" marT="45720" marB="45720">
                    <a:solidFill>
                      <a:srgbClr val="FFFFFF"/>
                    </a:solidFill>
                  </a:tcPr>
                </a:tc>
              </a:tr>
              <a:tr h="676275">
                <a:tc>
                  <a:txBody>
                    <a:bodyPr lIns="171450" tIns="123825" rIns="171450" bIns="114300">
                      <a:noAutofit/>
                    </a:bodyPr>
                    <a:lstStyle/>
                    <a:p>
                      <a:r>
                        <a:rPr sz="1875" b="1">
                          <a:solidFill>
                            <a:srgbClr val="102C43"/>
                          </a:solidFill>
                          <a:latin typeface="Segoe UI"/>
                          <a:ea typeface="Segoe UI"/>
                          <a:cs typeface="Segoe UI"/>
                        </a:rPr>
                        <a:t>Synthesizer / Critic</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answer, recommendations / verdict, groundedness, critique_issues</a:t>
                      </a:r>
                    </a:p>
                  </a:txBody>
                  <a:tcPr marL="91440" marR="91440" marT="45720" marB="45720">
                    <a:solidFill>
                      <a:srgbClr val="F5F8FB"/>
                    </a:solidFill>
                  </a:tcPr>
                </a:tc>
              </a:tr>
            </a:tbl>
          </a:graphicData>
        </a:graphic>
      </p:graphicFrame>
      <p:sp>
        <p:nvSpPr>
          <p:cNvPr id="7" name="Each node reads the shared state and returns a partial ">
            <a:extLst xmlns:a="http://schemas.openxmlformats.org/drawingml/2006/main">
              <a:ext uri="{FF2B5EF4-FFF2-40B4-BE49-F238E27FC236}">
                <a16:creationId xmlns:a16="http://schemas.microsoft.com/office/drawing/2014/main" id="{1D0757A2-0B81-4B3D-8FF3-68F1A62AAC4C}"/>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Each node reads the shared state and returns a partial update. Topic and coverage records join through the topic slug.</a:t>
            </a:r>
          </a:p>
        </p:txBody>
      </p:sp>
    </p:spTree>
    <p:extLst>
      <p:ext uri="{BB962C8B-B14F-4D97-AF65-F5344CB8AC3E}">
        <p14:creationId xmlns:p14="http://schemas.microsoft.com/office/powerpoint/2010/main" val="15592004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FERENCE / CALCULATION RULES">
            <a:extLst xmlns:a="http://schemas.openxmlformats.org/drawingml/2006/main">
              <a:ext uri="{FF2B5EF4-FFF2-40B4-BE49-F238E27FC236}">
                <a16:creationId xmlns:a16="http://schemas.microsoft.com/office/drawing/2014/main" id="{F32557AF-0A3A-4EFB-98A5-F147D472B1A3}"/>
              </a:ext>
            </a:extLst>
          </p:cNvPr>
          <p:cNvSpPr>
            <a:spLocks xmlns:a="http://schemas.openxmlformats.org/drawingml/2006/main" noGrp="1"/>
          </p:cNvSpPr>
          <p:nvPr/>
        </p:nvSpPr>
        <p:spPr>
          <a:xfrm xmlns:a="http://schemas.openxmlformats.org/drawingml/2006/main">
            <a:off x="7620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07D82"/>
                </a:solidFill>
                <a:latin typeface="Segoe UI"/>
                <a:ea typeface="Segoe UI"/>
                <a:cs typeface="Segoe UI"/>
              </a:defRPr>
            </a:pPr>
            <a:r>
              <a:rPr sz="1275" b="1">
                <a:solidFill>
                  <a:srgbClr val="007D82"/>
                </a:solidFill>
                <a:latin typeface="Segoe UI"/>
                <a:ea typeface="Segoe UI"/>
                <a:cs typeface="Segoe UI"/>
              </a:rPr>
              <a:t>REFERENCE / CALCULATION RULES</a:t>
            </a:r>
          </a:p>
        </p:txBody>
      </p:sp>
      <p:sp>
        <p:nvSpPr>
          <p:cNvPr id="2" name="Score interpretation and failure boundaries">
            <a:extLst xmlns:a="http://schemas.openxmlformats.org/drawingml/2006/main">
              <a:ext uri="{FF2B5EF4-FFF2-40B4-BE49-F238E27FC236}">
                <a16:creationId xmlns:a16="http://schemas.microsoft.com/office/drawing/2014/main" id="{4DA9BC3B-2955-418F-BA8C-14C4AFDE1DBA}"/>
              </a:ext>
            </a:extLst>
          </p:cNvPr>
          <p:cNvSpPr>
            <a:spLocks xmlns:a="http://schemas.openxmlformats.org/drawingml/2006/main" noGrp="1"/>
          </p:cNvSpPr>
          <p:nvPr/>
        </p:nvSpPr>
        <p:spPr>
          <a:xfrm xmlns:a="http://schemas.openxmlformats.org/drawingml/2006/main">
            <a:off x="762000" y="97155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102C43"/>
                </a:solidFill>
                <a:latin typeface="Segoe UI"/>
                <a:ea typeface="Segoe UI"/>
                <a:cs typeface="Segoe UI"/>
              </a:defRPr>
            </a:pPr>
            <a:r>
              <a:rPr sz="3675" b="1">
                <a:solidFill>
                  <a:srgbClr val="102C43"/>
                </a:solidFill>
                <a:latin typeface="Segoe UI"/>
                <a:ea typeface="Segoe UI"/>
                <a:cs typeface="Segoe UI"/>
              </a:rPr>
              <a:t>Score interpretation and failure boundaries</a:t>
            </a:r>
          </a:p>
        </p:txBody>
      </p:sp>
      <p:sp>
        <p:nvSpPr>
          <p:cNvPr id="3" name="">
            <a:extLst xmlns:a="http://schemas.openxmlformats.org/drawingml/2006/main">
              <a:ext uri="{FF2B5EF4-FFF2-40B4-BE49-F238E27FC236}">
                <a16:creationId xmlns:a16="http://schemas.microsoft.com/office/drawing/2014/main" id="{65D550CE-1439-465F-89C4-BA11F26CD071}"/>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0A74DEDA-7F19-40FA-9F65-D48F7D09515D}"/>
              </a:ext>
            </a:extLst>
          </p:cNvPr>
          <p:cNvSpPr>
            <a:spLocks xmlns:a="http://schemas.openxmlformats.org/drawingml/2006/main" noGrp="1"/>
          </p:cNvSpPr>
          <p:nvPr/>
        </p:nvSpPr>
        <p:spPr>
          <a:xfrm xmlns:a="http://schemas.openxmlformats.org/drawingml/2006/main">
            <a:off x="762000" y="804862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C80"/>
                </a:solidFill>
                <a:latin typeface="Segoe UI"/>
                <a:ea typeface="Segoe UI"/>
                <a:cs typeface="Segoe UI"/>
              </a:defRPr>
            </a:pPr>
            <a:r>
              <a:rPr sz="1200" b="0">
                <a:solidFill>
                  <a:srgbClr val="536C80"/>
                </a:solidFill>
                <a:latin typeface="Segoe UI"/>
                <a:ea typeface="Segoe UI"/>
                <a:cs typeface="Segoe UI"/>
              </a:rPr>
              <a:t>Demand Sensing Intelligence</a:t>
            </a:r>
          </a:p>
        </p:txBody>
      </p:sp>
      <p:sp>
        <p:nvSpPr>
          <p:cNvPr id="5" name="22">
            <a:extLst xmlns:a="http://schemas.openxmlformats.org/drawingml/2006/main">
              <a:ext uri="{FF2B5EF4-FFF2-40B4-BE49-F238E27FC236}">
                <a16:creationId xmlns:a16="http://schemas.microsoft.com/office/drawing/2014/main" id="{474DE8C7-DAC3-49E8-94F9-81721B7AFE6C}"/>
              </a:ext>
            </a:extLst>
          </p:cNvPr>
          <p:cNvSpPr>
            <a:spLocks xmlns:a="http://schemas.openxmlformats.org/drawingml/2006/main" noGrp="1"/>
          </p:cNvSpPr>
          <p:nvPr/>
        </p:nvSpPr>
        <p:spPr>
          <a:xfrm xmlns:a="http://schemas.openxmlformats.org/drawingml/2006/main">
            <a:off x="13906500" y="8001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22</a:t>
            </a:r>
          </a:p>
        </p:txBody>
      </p:sp>
      <p:graphicFrame>
        <p:nvGraphicFramePr>
          <p:cNvPr id="13" name=""/>
          <p:cNvGraphicFramePr/>
          <p:nvPr/>
        </p:nvGraphicFramePr>
        <p:xfrm>
          <a:off xmlns:a="http://schemas.openxmlformats.org/drawingml/2006/main" x="762000" y="2552700"/>
          <a:ext xmlns:a="http://schemas.openxmlformats.org/drawingml/2006/main" cx="13716000" cy="4029075"/>
        </p:xfrm>
        <a:graphic xmlns:a="http://schemas.openxmlformats.org/drawingml/2006/main">
          <a:graphicData uri="http://schemas.openxmlformats.org/drawingml/2006/table">
            <a:tbl>
              <a:tblPr/>
              <a:tblGrid>
                <a:gridCol w="5238750"/>
                <a:gridCol w="8477250"/>
              </a:tblGrid>
              <a:tr h="671513">
                <a:tc>
                  <a:txBody>
                    <a:bodyPr lIns="171450" tIns="123825" rIns="171450" bIns="114300">
                      <a:noAutofit/>
                    </a:bodyPr>
                    <a:lstStyle/>
                    <a:p>
                      <a:r>
                        <a:rPr sz="1800" b="1">
                          <a:solidFill>
                            <a:srgbClr val="FFFFFF"/>
                          </a:solidFill>
                          <a:latin typeface="Segoe UI"/>
                          <a:ea typeface="Segoe UI"/>
                          <a:cs typeface="Segoe UI"/>
                        </a:rPr>
                        <a:t>Condition</a:t>
                      </a:r>
                    </a:p>
                  </a:txBody>
                  <a:tcPr marL="91440" marR="91440" marT="45720" marB="45720">
                    <a:solidFill>
                      <a:srgbClr val="0B2238"/>
                    </a:solidFill>
                  </a:tcPr>
                </a:tc>
                <a:tc>
                  <a:txBody>
                    <a:bodyPr lIns="171450" tIns="123825" rIns="171450" bIns="114300">
                      <a:noAutofit/>
                    </a:bodyPr>
                    <a:lstStyle/>
                    <a:p>
                      <a:r>
                        <a:rPr sz="1800" b="1">
                          <a:solidFill>
                            <a:srgbClr val="FFFFFF"/>
                          </a:solidFill>
                          <a:latin typeface="Segoe UI"/>
                          <a:ea typeface="Segoe UI"/>
                          <a:cs typeface="Segoe UI"/>
                        </a:rPr>
                        <a:t>What it means in this implementation</a:t>
                      </a:r>
                    </a:p>
                  </a:txBody>
                  <a:tcPr marL="91440" marR="91440" marT="45720" marB="45720">
                    <a:solidFill>
                      <a:srgbClr val="0B2238"/>
                    </a:solidFill>
                  </a:tcPr>
                </a:tc>
              </a:tr>
              <a:tr h="671513">
                <a:tc>
                  <a:txBody>
                    <a:bodyPr lIns="171450" tIns="123825" rIns="171450" bIns="114300">
                      <a:noAutofit/>
                    </a:bodyPr>
                    <a:lstStyle/>
                    <a:p>
                      <a:r>
                        <a:rPr sz="1875" b="1">
                          <a:solidFill>
                            <a:srgbClr val="102C43"/>
                          </a:solidFill>
                          <a:latin typeface="Segoe UI"/>
                          <a:ea typeface="Segoe UI"/>
                          <a:cs typeface="Segoe UI"/>
                        </a:rPr>
                        <a:t>1 fresh “covers” document</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Coverage = 0.6 × (1/5) + 0.4 × 1 = 0.52</a:t>
                      </a:r>
                    </a:p>
                  </a:txBody>
                  <a:tcPr marL="91440" marR="91440" marT="45720" marB="45720">
                    <a:solidFill>
                      <a:srgbClr val="F5F8FB"/>
                    </a:solidFill>
                  </a:tcPr>
                </a:tc>
              </a:tr>
              <a:tr h="671513">
                <a:tc>
                  <a:txBody>
                    <a:bodyPr lIns="171450" tIns="123825" rIns="171450" bIns="114300">
                      <a:noAutofit/>
                    </a:bodyPr>
                    <a:lstStyle/>
                    <a:p>
                      <a:r>
                        <a:rPr sz="1875" b="1">
                          <a:solidFill>
                            <a:srgbClr val="102C43"/>
                          </a:solidFill>
                          <a:latin typeface="Segoe UI"/>
                          <a:ea typeface="Segoe UI"/>
                          <a:cs typeface="Segoe UI"/>
                        </a:rPr>
                        <a:t>5 fresh “covers” documents</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Coverage = 1.00, the depth target is met</a:t>
                      </a:r>
                    </a:p>
                  </a:txBody>
                  <a:tcPr marL="91440" marR="91440" marT="45720" marB="45720">
                    <a:solidFill>
                      <a:srgbClr val="FFFFFF"/>
                    </a:solidFill>
                  </a:tcPr>
                </a:tc>
              </a:tr>
              <a:tr h="671513">
                <a:tc>
                  <a:txBody>
                    <a:bodyPr lIns="171450" tIns="123825" rIns="171450" bIns="114300">
                      <a:noAutofit/>
                    </a:bodyPr>
                    <a:lstStyle/>
                    <a:p>
                      <a:r>
                        <a:rPr sz="1875" b="1">
                          <a:solidFill>
                            <a:srgbClr val="102C43"/>
                          </a:solidFill>
                          <a:latin typeface="Segoe UI"/>
                          <a:ea typeface="Segoe UI"/>
                          <a:cs typeface="Segoe UI"/>
                        </a:rPr>
                        <a:t>Judge unavailable or incomplete</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Labelled similarity proxy: partial only at similarity ≥ 0.74</a:t>
                      </a:r>
                    </a:p>
                  </a:txBody>
                  <a:tcPr marL="91440" marR="91440" marT="45720" marB="45720">
                    <a:solidFill>
                      <a:srgbClr val="F5F8FB"/>
                    </a:solidFill>
                  </a:tcPr>
                </a:tc>
              </a:tr>
              <a:tr h="671513">
                <a:tc>
                  <a:txBody>
                    <a:bodyPr lIns="171450" tIns="123825" rIns="171450" bIns="114300">
                      <a:noAutofit/>
                    </a:bodyPr>
                    <a:lstStyle/>
                    <a:p>
                      <a:r>
                        <a:rPr sz="1875" b="1">
                          <a:solidFill>
                            <a:srgbClr val="102C43"/>
                          </a:solidFill>
                          <a:latin typeface="Segoe UI"/>
                          <a:ea typeface="Segoe UI"/>
                          <a:cs typeface="Segoe UI"/>
                        </a:rPr>
                        <a:t>No accepted documents / missing dates</a:t>
                      </a:r>
                    </a:p>
                  </a:txBody>
                  <a:tcPr marL="91440" marR="91440" marT="45720" marB="45720">
                    <a:solidFill>
                      <a:srgbClr val="FFFFFF"/>
                    </a:solidFill>
                  </a:tcPr>
                </a:tc>
                <a:tc>
                  <a:txBody>
                    <a:bodyPr lIns="171450" tIns="123825" rIns="171450" bIns="114300">
                      <a:noAutofit/>
                    </a:bodyPr>
                    <a:lstStyle/>
                    <a:p>
                      <a:r>
                        <a:rPr sz="1875" b="0">
                          <a:solidFill>
                            <a:srgbClr val="102C43"/>
                          </a:solidFill>
                          <a:latin typeface="Segoe UI"/>
                          <a:ea typeface="Segoe UI"/>
                          <a:cs typeface="Segoe UI"/>
                        </a:rPr>
                        <a:t>999 is a sentinel. No accepted docs also gives coverage 0.</a:t>
                      </a:r>
                    </a:p>
                  </a:txBody>
                  <a:tcPr marL="91440" marR="91440" marT="45720" marB="45720">
                    <a:solidFill>
                      <a:srgbClr val="FFFFFF"/>
                    </a:solidFill>
                  </a:tcPr>
                </a:tc>
              </a:tr>
              <a:tr h="671513">
                <a:tc>
                  <a:txBody>
                    <a:bodyPr lIns="171450" tIns="123825" rIns="171450" bIns="114300">
                      <a:noAutofit/>
                    </a:bodyPr>
                    <a:lstStyle/>
                    <a:p>
                      <a:r>
                        <a:rPr sz="1875" b="1">
                          <a:solidFill>
                            <a:srgbClr val="102C43"/>
                          </a:solidFill>
                          <a:latin typeface="Segoe UI"/>
                          <a:ea typeface="Segoe UI"/>
                          <a:cs typeface="Segoe UI"/>
                        </a:rPr>
                        <a:t>Index unavailable</a:t>
                      </a:r>
                    </a:p>
                  </a:txBody>
                  <a:tcPr marL="91440" marR="91440" marT="45720" marB="45720">
                    <a:solidFill>
                      <a:srgbClr val="F5F8FB"/>
                    </a:solidFill>
                  </a:tcPr>
                </a:tc>
                <a:tc>
                  <a:txBody>
                    <a:bodyPr lIns="171450" tIns="123825" rIns="171450" bIns="114300">
                      <a:noAutofit/>
                    </a:bodyPr>
                    <a:lstStyle/>
                    <a:p>
                      <a:r>
                        <a:rPr sz="1875" b="0">
                          <a:solidFill>
                            <a:srgbClr val="102C43"/>
                          </a:solidFill>
                          <a:latin typeface="Segoe UI"/>
                          <a:ea typeface="Segoe UI"/>
                          <a:cs typeface="Segoe UI"/>
                        </a:rPr>
                        <a:t>Coverage unavailable. Skip gap scoring for that topic.</a:t>
                      </a:r>
                    </a:p>
                  </a:txBody>
                  <a:tcPr marL="91440" marR="91440" marT="45720" marB="45720">
                    <a:solidFill>
                      <a:srgbClr val="F5F8FB"/>
                    </a:solidFill>
                  </a:tcPr>
                </a:tc>
              </a:tr>
            </a:tbl>
          </a:graphicData>
        </a:graphic>
      </p:graphicFrame>
      <p:sp>
        <p:nvSpPr>
          <p:cNvPr id="7" name="Staleness is calendar age of the newest accepted note. ">
            <a:extLst xmlns:a="http://schemas.openxmlformats.org/drawingml/2006/main">
              <a:ext uri="{FF2B5EF4-FFF2-40B4-BE49-F238E27FC236}">
                <a16:creationId xmlns:a16="http://schemas.microsoft.com/office/drawing/2014/main" id="{CBA8B1E3-43B5-47BB-AC2C-3F257E5724AD}"/>
              </a:ext>
            </a:extLst>
          </p:cNvPr>
          <p:cNvSpPr>
            <a:spLocks xmlns:a="http://schemas.openxmlformats.org/drawingml/2006/main" noGrp="1"/>
          </p:cNvSpPr>
          <p:nvPr/>
        </p:nvSpPr>
        <p:spPr>
          <a:xfrm xmlns:a="http://schemas.openxmlformats.org/drawingml/2006/main">
            <a:off x="762000" y="73342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Staleness is calendar age of the newest accepted note. A model verdict, heuristic score and confidence estimate are different things.</a:t>
            </a:r>
          </a:p>
        </p:txBody>
      </p:sp>
    </p:spTree>
    <p:extLst>
      <p:ext uri="{BB962C8B-B14F-4D97-AF65-F5344CB8AC3E}">
        <p14:creationId xmlns:p14="http://schemas.microsoft.com/office/powerpoint/2010/main" val="349454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2026-09-17T10:58:12.5710000Z</dcterms:created>
  <dcterms:modified xsi:type="dcterms:W3CDTF">2026-09-17T10:58:12.5740000Z</dcterms:modified>
</coreProperties>
</file>